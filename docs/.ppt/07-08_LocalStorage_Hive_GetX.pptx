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7e3fd3f8-14ec-5f3f-23b5-8afbd451a5f5}">
          <p14:sldIdLst>
            <p14:sldId id="256"/>
            <p14:sldId id="257"/>
          </p14:sldIdLst>
        </p14:section>
        <p14:section name="SharedPreferences" id="{5b591023-9361-4478-b92b-f38c6d490046}">
          <p14:sldIdLst>
            <p14:sldId id="258"/>
            <p14:sldId id="259"/>
          </p14:sldIdLst>
        </p14:section>
        <p14:section name="Hive CE" id="{9999efee-b4a0-2438-8ae5-e2f8a4b1d10b}">
          <p14:sldIdLst>
            <p14:sldId id="260"/>
            <p14:sldId id="261"/>
            <p14:sldId id="262"/>
            <p14:sldId id="263"/>
          </p14:sldIdLst>
        </p14:section>
        <p14:section name="Penutup" id="{355eb397-7323-79fa-ddac-f324cf9bc826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Pada sesi 07 dan 08 kita belajar menyimpan data di perangkat: SharedPreferences untuk data sederhana dan Hive CE untuk data kompleks, dengan studi kasus keranjang offline di KicksStore.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Tanpa penyimpanan lokal, user harus login ulang setiap membuka aplikasi, keranjang hilang saat offline, dan tema kembali ke default. Solusinya adalah strategi offline-first.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SharedPreferences cocok untuk data sederhana key-value seperti status login dan tema. Hive CE cocok untuk objek dan list kompleks seperti item keranjang dan wishlist offline.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Simpan token dan preferensi tema dengan setString dan setBool. Saat aplikasi dibuka, baca token di main.dart; jika tidak null, langsung arahkan ke halaman home.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Tiga keunggulan Hive CE: murni Dart tanpa driver C++ atau bridge SQLite, sangat cepat karena berbasis memory cache, dan mendukung enkripsi AES-256.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Hive menyimpan data di dalam Box, seperti tabel atau map. Anotasi HiveType dan HiveField dipakai build_runner untuk meng-generate TypeAdapter secara otomatis.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Empat operasi dasar pada Hive Box: put untuk menambah, values untuk membaca, save pada HiveObject untuk mengubah, dan delete atau clear untuk menghapus.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Simpan dulu secara lokal agar responsif, kirim ke server saat checkout dan ada koneksi, lalu bersihkan item lokal setelah pembayaran berhasil.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Minta siswa menjawab dulu sebelum menunjukkan jawaban benar (ditandai hijau). Kuis 1: A. Kuis 2: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Tiga golden rules: SharedPreferences hanya untuk konfigurasi mini, Hive CE untuk koleksi data, dan selalu bersihkan cache lokal saat logout.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640080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434840"/>
            <a:ext cx="60350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Flutter Local Storage • Sesi 07 &amp; 08 · SharedPreferences &amp; Hive 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-1"/>
          <p:cNvSpPr/>
          <p:nvPr/>
        </p:nvSpPr>
        <p:spPr>
          <a:xfrm>
            <a:off x="731520" y="1371600"/>
            <a:ext cx="4297680" cy="38404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3" name="txt-2"/>
          <p:cNvSpPr txBox="1"/>
          <p:nvPr/>
        </p:nvSpPr>
        <p:spPr>
          <a:xfrm>
            <a:off x="731520" y="137160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FLUTTER LOCAL STORAGE • SESI 07 &amp; 08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2011680"/>
            <a:ext cx="6400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Strategi Penyimpanan Data Lokal: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SharedPreferences vs Hive CE NoSQL</a:t>
            </a:r>
            <a:endParaRPr lang="en-US" sz="3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443484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Membangun Aplikasi E-Commerce yang Cepat, Tahan Offline, dan Menyimpan Preferensi Pengguna</a:t>
            </a:r>
            <a:endParaRPr lang="en-US" sz="1800" dirty="0"/>
          </a:p>
        </p:txBody>
      </p:sp>
      <p:sp>
        <p:nvSpPr>
          <p:cNvPr id="6" name="card-3"/>
          <p:cNvSpPr/>
          <p:nvPr/>
        </p:nvSpPr>
        <p:spPr>
          <a:xfrm>
            <a:off x="7406640" y="1325880"/>
            <a:ext cx="4206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7" name="ic-bg-4"/>
          <p:cNvSpPr/>
          <p:nvPr/>
        </p:nvSpPr>
        <p:spPr>
          <a:xfrm>
            <a:off x="7635240" y="1664208"/>
            <a:ext cx="685800" cy="6858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8" name="ic-5" descr="FaShoppingBa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0406" y="1849374"/>
            <a:ext cx="315468" cy="315468"/>
          </a:xfrm>
          <a:prstGeom prst="rect">
            <a:avLst/>
          </a:prstGeom>
        </p:spPr>
      </p:pic>
      <p:sp>
        <p:nvSpPr>
          <p:cNvPr id="9" name="txt-6"/>
          <p:cNvSpPr txBox="1"/>
          <p:nvPr/>
        </p:nvSpPr>
        <p:spPr>
          <a:xfrm>
            <a:off x="8503920" y="1554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STUDI KASUS</a:t>
            </a:r>
            <a:endParaRPr lang="en-US" sz="1100" dirty="0"/>
          </a:p>
        </p:txBody>
      </p:sp>
      <p:sp>
        <p:nvSpPr>
          <p:cNvPr id="10" name="txt-7"/>
          <p:cNvSpPr txBox="1"/>
          <p:nvPr/>
        </p:nvSpPr>
        <p:spPr>
          <a:xfrm>
            <a:off x="8503920" y="18288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Keranjang Offline &amp; Preferensi Dark/Light Mode di KicksStore</a:t>
            </a:r>
            <a:endParaRPr lang="en-US" sz="1500" dirty="0"/>
          </a:p>
        </p:txBody>
      </p:sp>
      <p:sp>
        <p:nvSpPr>
          <p:cNvPr id="11" name="card-8"/>
          <p:cNvSpPr/>
          <p:nvPr/>
        </p:nvSpPr>
        <p:spPr>
          <a:xfrm>
            <a:off x="7406640" y="2926080"/>
            <a:ext cx="42062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ic-bg-9"/>
          <p:cNvSpPr/>
          <p:nvPr/>
        </p:nvSpPr>
        <p:spPr>
          <a:xfrm>
            <a:off x="7635240" y="3127248"/>
            <a:ext cx="548640" cy="54864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3" name="ic-10" descr="FaKe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3373" y="3275381"/>
            <a:ext cx="252374" cy="252374"/>
          </a:xfrm>
          <a:prstGeom prst="rect">
            <a:avLst/>
          </a:prstGeom>
        </p:spPr>
      </p:pic>
      <p:sp>
        <p:nvSpPr>
          <p:cNvPr id="14" name="txt-11"/>
          <p:cNvSpPr txBox="1"/>
          <p:nvPr/>
        </p:nvSpPr>
        <p:spPr>
          <a:xfrm>
            <a:off x="8412480" y="30175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SharedPreferences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Key-Value sederhana</a:t>
            </a:r>
            <a:endParaRPr lang="en-US" sz="1800" dirty="0"/>
          </a:p>
        </p:txBody>
      </p:sp>
      <p:sp>
        <p:nvSpPr>
          <p:cNvPr id="15" name="card-12"/>
          <p:cNvSpPr/>
          <p:nvPr/>
        </p:nvSpPr>
        <p:spPr>
          <a:xfrm>
            <a:off x="7406640" y="4023360"/>
            <a:ext cx="42062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ic-bg-13"/>
          <p:cNvSpPr/>
          <p:nvPr/>
        </p:nvSpPr>
        <p:spPr>
          <a:xfrm>
            <a:off x="7635240" y="4224528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7" name="ic-14" descr="FaDataba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373" y="4372661"/>
            <a:ext cx="252374" cy="252374"/>
          </a:xfrm>
          <a:prstGeom prst="rect">
            <a:avLst/>
          </a:prstGeom>
        </p:spPr>
      </p:pic>
      <p:sp>
        <p:nvSpPr>
          <p:cNvPr id="18" name="txt-15"/>
          <p:cNvSpPr txBox="1"/>
          <p:nvPr/>
        </p:nvSpPr>
        <p:spPr>
          <a:xfrm>
            <a:off x="8412480" y="41148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Hive CE NoSQL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Objek dan list kompleks</a:t>
            </a:r>
            <a:endParaRPr lang="en-US" sz="1800" dirty="0"/>
          </a:p>
        </p:txBody>
      </p:sp>
      <p:sp>
        <p:nvSpPr>
          <p:cNvPr id="19" name="card-16"/>
          <p:cNvSpPr/>
          <p:nvPr/>
        </p:nvSpPr>
        <p:spPr>
          <a:xfrm>
            <a:off x="7406640" y="5120640"/>
            <a:ext cx="42062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ic-bg-17"/>
          <p:cNvSpPr/>
          <p:nvPr/>
        </p:nvSpPr>
        <p:spPr>
          <a:xfrm>
            <a:off x="7635240" y="5321808"/>
            <a:ext cx="548640" cy="54864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21" name="ic-18" descr="FaCloudDownloadAl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3373" y="5469941"/>
            <a:ext cx="252374" cy="252374"/>
          </a:xfrm>
          <a:prstGeom prst="rect">
            <a:avLst/>
          </a:prstGeom>
        </p:spPr>
      </p:pic>
      <p:sp>
        <p:nvSpPr>
          <p:cNvPr id="22" name="txt-19"/>
          <p:cNvSpPr txBox="1"/>
          <p:nvPr/>
        </p:nvSpPr>
        <p:spPr>
          <a:xfrm>
            <a:off x="8412480" y="52120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Offline-First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Cepat dan tahan offline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Jangan Buat Pengguna Mengambil Data Berulang-ulang!</a:t>
            </a:r>
            <a:endParaRPr lang="en-US" sz="2800" dirty="0"/>
          </a:p>
        </p:txBody>
      </p:sp>
      <p:sp>
        <p:nvSpPr>
          <p:cNvPr id="4" name="card-20"/>
          <p:cNvSpPr/>
          <p:nvPr/>
        </p:nvSpPr>
        <p:spPr>
          <a:xfrm>
            <a:off x="548640" y="1371600"/>
            <a:ext cx="6583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ic-bg-21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6" name="ic-22" descr="FaSignIn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2" y="1864462"/>
            <a:ext cx="294437" cy="294437"/>
          </a:xfrm>
          <a:prstGeom prst="rect">
            <a:avLst/>
          </a:prstGeom>
        </p:spPr>
      </p:pic>
      <p:sp>
        <p:nvSpPr>
          <p:cNvPr id="7" name="txt-23"/>
          <p:cNvSpPr txBox="1"/>
          <p:nvPr/>
        </p:nvSpPr>
        <p:spPr>
          <a:xfrm>
            <a:off x="1737360" y="146304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Login Ulang Terus-menerus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Setiap kali aplikasi ditutup, user harus login ulang memasukkan email dan password.</a:t>
            </a:r>
            <a:endParaRPr lang="en-US" sz="1800" dirty="0"/>
          </a:p>
        </p:txBody>
      </p:sp>
      <p:sp>
        <p:nvSpPr>
          <p:cNvPr id="8" name="card-24"/>
          <p:cNvSpPr/>
          <p:nvPr/>
        </p:nvSpPr>
        <p:spPr>
          <a:xfrm>
            <a:off x="548640" y="2834640"/>
            <a:ext cx="6583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9" name="ic-bg-25"/>
          <p:cNvSpPr/>
          <p:nvPr/>
        </p:nvSpPr>
        <p:spPr>
          <a:xfrm>
            <a:off x="822960" y="3154680"/>
            <a:ext cx="640080" cy="64008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0" name="ic-26" descr="FaWif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782" y="3327502"/>
            <a:ext cx="294437" cy="294437"/>
          </a:xfrm>
          <a:prstGeom prst="rect">
            <a:avLst/>
          </a:prstGeom>
        </p:spPr>
      </p:pic>
      <p:sp>
        <p:nvSpPr>
          <p:cNvPr id="11" name="txt-27"/>
          <p:cNvSpPr txBox="1"/>
          <p:nvPr/>
        </p:nvSpPr>
        <p:spPr>
          <a:xfrm>
            <a:off x="1737360" y="292608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Keranjang Hilang Saat Offline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Jika koneksi internet mati di MRT atau lift, keranjang belanja user hilang dan layar menjadi kosong (Blank).</a:t>
            </a:r>
            <a:endParaRPr lang="en-US" sz="1800" dirty="0"/>
          </a:p>
        </p:txBody>
      </p:sp>
      <p:sp>
        <p:nvSpPr>
          <p:cNvPr id="12" name="card-28"/>
          <p:cNvSpPr/>
          <p:nvPr/>
        </p:nvSpPr>
        <p:spPr>
          <a:xfrm>
            <a:off x="548640" y="4297680"/>
            <a:ext cx="6583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3" name="ic-bg-29"/>
          <p:cNvSpPr/>
          <p:nvPr/>
        </p:nvSpPr>
        <p:spPr>
          <a:xfrm>
            <a:off x="822960" y="4617720"/>
            <a:ext cx="640080" cy="64008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4" name="ic-30" descr="FaMo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782" y="4790542"/>
            <a:ext cx="294437" cy="294437"/>
          </a:xfrm>
          <a:prstGeom prst="rect">
            <a:avLst/>
          </a:prstGeom>
        </p:spPr>
      </p:pic>
      <p:sp>
        <p:nvSpPr>
          <p:cNvPr id="15" name="txt-31"/>
          <p:cNvSpPr txBox="1"/>
          <p:nvPr/>
        </p:nvSpPr>
        <p:spPr>
          <a:xfrm>
            <a:off x="1737360" y="438912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Tema Kembali ke Default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Pengaturan tema (Dark Mode/Light Mode) kembali ke default setiap aplikasi dibuka.</a:t>
            </a:r>
            <a:endParaRPr lang="en-US" sz="1800" dirty="0"/>
          </a:p>
        </p:txBody>
      </p:sp>
      <p:sp>
        <p:nvSpPr>
          <p:cNvPr id="16" name="card-32"/>
          <p:cNvSpPr/>
          <p:nvPr/>
        </p:nvSpPr>
        <p:spPr>
          <a:xfrm>
            <a:off x="7498080" y="1371600"/>
            <a:ext cx="4114800" cy="4206240"/>
          </a:xfrm>
          <a:prstGeom prst="roundRect">
            <a:avLst>
              <a:gd name="adj" fmla="val 2667"/>
            </a:avLst>
          </a:prstGeom>
          <a:solidFill>
            <a:schemeClr val="accent4">
              <a:alpha val="8000"/>
            </a:schemeClr>
          </a:solidFill>
          <a:ln/>
        </p:spPr>
      </p:sp>
      <p:sp>
        <p:nvSpPr>
          <p:cNvPr id="17" name="ic-bg-33"/>
          <p:cNvSpPr/>
          <p:nvPr/>
        </p:nvSpPr>
        <p:spPr>
          <a:xfrm>
            <a:off x="7772400" y="1645920"/>
            <a:ext cx="640080" cy="64008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18" name="ic-34" descr="FaMobileAl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5222" y="1818742"/>
            <a:ext cx="294437" cy="294437"/>
          </a:xfrm>
          <a:prstGeom prst="rect">
            <a:avLst/>
          </a:prstGeom>
        </p:spPr>
      </p:pic>
      <p:sp>
        <p:nvSpPr>
          <p:cNvPr id="19" name="txt-35"/>
          <p:cNvSpPr txBox="1"/>
          <p:nvPr/>
        </p:nvSpPr>
        <p:spPr>
          <a:xfrm>
            <a:off x="8595360" y="16916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4"/>
                </a:solidFill>
              </a:rPr>
              <a:t>SOLUSI INDUSTRI</a:t>
            </a:r>
            <a:endParaRPr lang="en-US" sz="1200" dirty="0"/>
          </a:p>
        </p:txBody>
      </p:sp>
      <p:sp>
        <p:nvSpPr>
          <p:cNvPr id="20" name="txt-36"/>
          <p:cNvSpPr txBox="1"/>
          <p:nvPr/>
        </p:nvSpPr>
        <p:spPr>
          <a:xfrm>
            <a:off x="8595360" y="1965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Offline-First Strategy</a:t>
            </a:r>
            <a:endParaRPr lang="en-US" sz="1800" dirty="0"/>
          </a:p>
        </p:txBody>
      </p:sp>
      <p:sp>
        <p:nvSpPr>
          <p:cNvPr id="21" name="txt-37"/>
          <p:cNvSpPr txBox="1"/>
          <p:nvPr/>
        </p:nvSpPr>
        <p:spPr>
          <a:xfrm>
            <a:off x="7772400" y="28803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Simpan data penting di penyimpanan internal HP!</a:t>
            </a:r>
            <a:endParaRPr lang="en-US" sz="1600" dirty="0"/>
          </a:p>
        </p:txBody>
      </p:sp>
      <p:sp>
        <p:nvSpPr>
          <p:cNvPr id="22" name="txt-38"/>
          <p:cNvSpPr txBox="1"/>
          <p:nvPr/>
        </p:nvSpPr>
        <p:spPr>
          <a:xfrm>
            <a:off x="8229600" y="3840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Sesi login</a:t>
            </a:r>
            <a:endParaRPr lang="en-US" sz="1500" dirty="0"/>
          </a:p>
        </p:txBody>
      </p:sp>
      <p:sp>
        <p:nvSpPr>
          <p:cNvPr id="23" name="txt-39"/>
          <p:cNvSpPr txBox="1"/>
          <p:nvPr/>
        </p:nvSpPr>
        <p:spPr>
          <a:xfrm>
            <a:off x="8229600" y="43708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Keranjang belanja</a:t>
            </a:r>
            <a:endParaRPr lang="en-US" sz="1500" dirty="0"/>
          </a:p>
        </p:txBody>
      </p:sp>
      <p:sp>
        <p:nvSpPr>
          <p:cNvPr id="24" name="txt-40"/>
          <p:cNvSpPr txBox="1"/>
          <p:nvPr/>
        </p:nvSpPr>
        <p:spPr>
          <a:xfrm>
            <a:off x="8229600" y="49011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Preferensi tema</a:t>
            </a:r>
            <a:endParaRPr lang="en-US" sz="1500" dirty="0"/>
          </a:p>
        </p:txBody>
      </p:sp>
      <p:pic>
        <p:nvPicPr>
          <p:cNvPr id="25" name="ic-41" descr="FaCheckCirc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3858768"/>
            <a:ext cx="329184" cy="329184"/>
          </a:xfrm>
          <a:prstGeom prst="rect">
            <a:avLst/>
          </a:prstGeom>
        </p:spPr>
      </p:pic>
      <p:pic>
        <p:nvPicPr>
          <p:cNvPr id="26" name="ic-42" descr="FaCheckCirc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4389120"/>
            <a:ext cx="329184" cy="329184"/>
          </a:xfrm>
          <a:prstGeom prst="rect">
            <a:avLst/>
          </a:prstGeom>
        </p:spPr>
      </p:pic>
      <p:pic>
        <p:nvPicPr>
          <p:cNvPr id="27" name="ic-43" descr="FaCheckCircl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0" y="4919472"/>
            <a:ext cx="329184" cy="3291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Kapan Menggunakan SharedPreferences vs Kapan Memakai Hive CE?</a:t>
            </a:r>
            <a:endParaRPr lang="en-US" sz="2800" dirty="0"/>
          </a:p>
        </p:txBody>
      </p:sp>
      <p:graphicFrame>
        <p:nvGraphicFramePr>
          <p:cNvPr id="4" name="tabel-perbandingan-storag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206240"/>
                <a:gridCol w="42976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Parameter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SharedPreferences (Sesi 07)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Hive CE NoSQL (Sesi 08)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Kategori Data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Data Sederhana (Key-Value)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Data Kompleks (Objek / List)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Tipe Data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bool, int, double, String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Objek Kustom (CartItem, OrderModel)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Kecepatan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Sedang (Disk I/O)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Super Cepat (In-Memory Key-Value NoSQL)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Kasus di KicksStore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Simpan Status Login (isLoggedIn: true) &amp; Theme Mode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Simpan Item Keranjang Belanja &amp; Wishlist Offline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card-44"/>
          <p:cNvSpPr/>
          <p:nvPr/>
        </p:nvSpPr>
        <p:spPr>
          <a:xfrm>
            <a:off x="548640" y="5669280"/>
            <a:ext cx="11064240" cy="54864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/>
        </p:spPr>
      </p:sp>
      <p:sp>
        <p:nvSpPr>
          <p:cNvPr id="6" name="txt-45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Aturan praktis: data sederhana ke SharedPreferences, data kompleks ke Hive CE.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Menyimpan Preferensi Sederhana: Token &amp; Tema</a:t>
            </a:r>
            <a:endParaRPr lang="en-US" sz="2800" dirty="0"/>
          </a:p>
        </p:txBody>
      </p:sp>
      <p:sp>
        <p:nvSpPr>
          <p:cNvPr id="4" name="txt-46"/>
          <p:cNvSpPr txBox="1"/>
          <p:nvPr/>
        </p:nvSpPr>
        <p:spPr>
          <a:xfrm>
            <a:off x="548640" y="1325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Simpan Data</a:t>
            </a:r>
            <a:endParaRPr lang="en-US" sz="1800" dirty="0"/>
          </a:p>
        </p:txBody>
      </p:sp>
      <p:sp>
        <p:nvSpPr>
          <p:cNvPr id="5" name="card-47"/>
          <p:cNvSpPr/>
          <p:nvPr/>
        </p:nvSpPr>
        <p:spPr>
          <a:xfrm>
            <a:off x="548640" y="1737360"/>
            <a:ext cx="704088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code-48"/>
          <p:cNvSpPr txBox="1"/>
          <p:nvPr/>
        </p:nvSpPr>
        <p:spPr>
          <a:xfrm>
            <a:off x="548640" y="1737360"/>
            <a:ext cx="7040880" cy="164592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prefs = await SharedPreferences.getInstance();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Simpan Token Auth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prefs.setString('auth_token', 'jwt_secret_token_123');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Simpan Preferensi Tema Gelap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prefs.setBool('is_dark_mode', true);</a:t>
            </a:r>
            <a:endParaRPr lang="en-US" sz="1300" dirty="0"/>
          </a:p>
        </p:txBody>
      </p:sp>
      <p:sp>
        <p:nvSpPr>
          <p:cNvPr id="7" name="txt-49"/>
          <p:cNvSpPr txBox="1"/>
          <p:nvPr/>
        </p:nvSpPr>
        <p:spPr>
          <a:xfrm>
            <a:off x="548640" y="36576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Baca Data Saat Aplikasi Terbuka (main.dart)</a:t>
            </a:r>
            <a:endParaRPr lang="en-US" sz="1800" dirty="0"/>
          </a:p>
        </p:txBody>
      </p:sp>
      <p:sp>
        <p:nvSpPr>
          <p:cNvPr id="8" name="card-50"/>
          <p:cNvSpPr/>
          <p:nvPr/>
        </p:nvSpPr>
        <p:spPr>
          <a:xfrm>
            <a:off x="548640" y="4069080"/>
            <a:ext cx="704088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code-51"/>
          <p:cNvSpPr txBox="1"/>
          <p:nvPr/>
        </p:nvSpPr>
        <p:spPr>
          <a:xfrm>
            <a:off x="548640" y="4069080"/>
            <a:ext cx="7040880" cy="146304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token = prefs.getString('auth_token');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(token != null)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Get.offAllNamed('/home'); // Otomatis bypass login!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card-52"/>
          <p:cNvSpPr/>
          <p:nvPr/>
        </p:nvSpPr>
        <p:spPr>
          <a:xfrm>
            <a:off x="7955280" y="1737360"/>
            <a:ext cx="365760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1" name="ic-bg-53"/>
          <p:cNvSpPr/>
          <p:nvPr/>
        </p:nvSpPr>
        <p:spPr>
          <a:xfrm>
            <a:off x="8183880" y="2057400"/>
            <a:ext cx="548640" cy="54864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2" name="ic-54" descr="FaSa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2013" y="2205533"/>
            <a:ext cx="252374" cy="252374"/>
          </a:xfrm>
          <a:prstGeom prst="rect">
            <a:avLst/>
          </a:prstGeom>
        </p:spPr>
      </p:pic>
      <p:sp>
        <p:nvSpPr>
          <p:cNvPr id="13" name="txt-55"/>
          <p:cNvSpPr txBox="1"/>
          <p:nvPr/>
        </p:nvSpPr>
        <p:spPr>
          <a:xfrm>
            <a:off x="8915400" y="178308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Simpan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setString untuk token, setBool untuk tema.</a:t>
            </a:r>
            <a:endParaRPr lang="en-US" sz="1600" dirty="0"/>
          </a:p>
        </p:txBody>
      </p:sp>
      <p:sp>
        <p:nvSpPr>
          <p:cNvPr id="14" name="card-56"/>
          <p:cNvSpPr/>
          <p:nvPr/>
        </p:nvSpPr>
        <p:spPr>
          <a:xfrm>
            <a:off x="7955280" y="3063240"/>
            <a:ext cx="365760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5" name="ic-bg-57"/>
          <p:cNvSpPr/>
          <p:nvPr/>
        </p:nvSpPr>
        <p:spPr>
          <a:xfrm>
            <a:off x="8183880" y="3383280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6" name="ic-58" descr="Fa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2013" y="3531413"/>
            <a:ext cx="252374" cy="252374"/>
          </a:xfrm>
          <a:prstGeom prst="rect">
            <a:avLst/>
          </a:prstGeom>
        </p:spPr>
      </p:pic>
      <p:sp>
        <p:nvSpPr>
          <p:cNvPr id="17" name="txt-59"/>
          <p:cNvSpPr txBox="1"/>
          <p:nvPr/>
        </p:nvSpPr>
        <p:spPr>
          <a:xfrm>
            <a:off x="8915400" y="310896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Baca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getString mengembalikan null jika belum ada.</a:t>
            </a:r>
            <a:endParaRPr lang="en-US" sz="1600" dirty="0"/>
          </a:p>
        </p:txBody>
      </p:sp>
      <p:sp>
        <p:nvSpPr>
          <p:cNvPr id="18" name="card-60"/>
          <p:cNvSpPr/>
          <p:nvPr/>
        </p:nvSpPr>
        <p:spPr>
          <a:xfrm>
            <a:off x="7955280" y="4389120"/>
            <a:ext cx="365760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9" name="ic-bg-61"/>
          <p:cNvSpPr/>
          <p:nvPr/>
        </p:nvSpPr>
        <p:spPr>
          <a:xfrm>
            <a:off x="8183880" y="4709160"/>
            <a:ext cx="548640" cy="54864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20" name="ic-62" descr="FaBo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2013" y="4857293"/>
            <a:ext cx="252374" cy="252374"/>
          </a:xfrm>
          <a:prstGeom prst="rect">
            <a:avLst/>
          </a:prstGeom>
        </p:spPr>
      </p:pic>
      <p:sp>
        <p:nvSpPr>
          <p:cNvPr id="21" name="txt-63"/>
          <p:cNvSpPr txBox="1"/>
          <p:nvPr/>
        </p:nvSpPr>
        <p:spPr>
          <a:xfrm>
            <a:off x="8915400" y="443484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Hasil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Token ada, user langsung masuk ke Home.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Mengapa Hive Community Edition (Hive CE) Jadi Primadona?</a:t>
            </a:r>
            <a:endParaRPr lang="en-US" sz="2800" dirty="0"/>
          </a:p>
        </p:txBody>
      </p:sp>
      <p:sp>
        <p:nvSpPr>
          <p:cNvPr id="4" name="card-64"/>
          <p:cNvSpPr/>
          <p:nvPr/>
        </p:nvSpPr>
        <p:spPr>
          <a:xfrm>
            <a:off x="548640" y="1371600"/>
            <a:ext cx="3520440" cy="38404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ic-bg-65"/>
          <p:cNvSpPr/>
          <p:nvPr/>
        </p:nvSpPr>
        <p:spPr>
          <a:xfrm>
            <a:off x="868680" y="1691640"/>
            <a:ext cx="868680" cy="86868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6" name="ic-66" descr="FaC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224" y="1926184"/>
            <a:ext cx="399593" cy="399593"/>
          </a:xfrm>
          <a:prstGeom prst="rect">
            <a:avLst/>
          </a:prstGeom>
        </p:spPr>
      </p:pic>
      <p:sp>
        <p:nvSpPr>
          <p:cNvPr id="7" name="txt-67"/>
          <p:cNvSpPr txBox="1"/>
          <p:nvPr/>
        </p:nvSpPr>
        <p:spPr>
          <a:xfrm>
            <a:off x="868680" y="2834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C3AED"/>
                </a:solidFill>
              </a:rPr>
              <a:t>1 · MURNI BAHASA DART</a:t>
            </a:r>
            <a:endParaRPr lang="en-US" sz="1200" dirty="0"/>
          </a:p>
        </p:txBody>
      </p:sp>
      <p:sp>
        <p:nvSpPr>
          <p:cNvPr id="8" name="txt-68"/>
          <p:cNvSpPr txBox="1"/>
          <p:nvPr/>
        </p:nvSpPr>
        <p:spPr>
          <a:xfrm>
            <a:off x="868680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Tanpa Driver C++</a:t>
            </a:r>
            <a:endParaRPr lang="en-US" sz="2200" dirty="0"/>
          </a:p>
        </p:txBody>
      </p:sp>
      <p:sp>
        <p:nvSpPr>
          <p:cNvPr id="9" name="txt-69"/>
          <p:cNvSpPr txBox="1"/>
          <p:nvPr/>
        </p:nvSpPr>
        <p:spPr>
          <a:xfrm>
            <a:off x="868680" y="379476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Tidak membutuhkan driver C++ atau bridging SQLite lambat.</a:t>
            </a:r>
            <a:endParaRPr lang="en-US" sz="1500" dirty="0"/>
          </a:p>
        </p:txBody>
      </p:sp>
      <p:sp>
        <p:nvSpPr>
          <p:cNvPr id="10" name="card-70"/>
          <p:cNvSpPr/>
          <p:nvPr/>
        </p:nvSpPr>
        <p:spPr>
          <a:xfrm>
            <a:off x="4320540" y="1371600"/>
            <a:ext cx="3520440" cy="38404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1" name="ic-bg-71"/>
          <p:cNvSpPr/>
          <p:nvPr/>
        </p:nvSpPr>
        <p:spPr>
          <a:xfrm>
            <a:off x="4640580" y="1691640"/>
            <a:ext cx="868680" cy="86868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2" name="ic-72" descr="FaBo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5124" y="1926184"/>
            <a:ext cx="399593" cy="399593"/>
          </a:xfrm>
          <a:prstGeom prst="rect">
            <a:avLst/>
          </a:prstGeom>
        </p:spPr>
      </p:pic>
      <p:sp>
        <p:nvSpPr>
          <p:cNvPr id="13" name="txt-73"/>
          <p:cNvSpPr txBox="1"/>
          <p:nvPr/>
        </p:nvSpPr>
        <p:spPr>
          <a:xfrm>
            <a:off x="4640580" y="2834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7706"/>
                </a:solidFill>
              </a:rPr>
              <a:t>2 · KECEPATAN KILAT</a:t>
            </a:r>
            <a:endParaRPr lang="en-US" sz="1200" dirty="0"/>
          </a:p>
        </p:txBody>
      </p:sp>
      <p:sp>
        <p:nvSpPr>
          <p:cNvPr id="14" name="txt-74"/>
          <p:cNvSpPr txBox="1"/>
          <p:nvPr/>
        </p:nvSpPr>
        <p:spPr>
          <a:xfrm>
            <a:off x="4640580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Hitungan Milidetik</a:t>
            </a:r>
            <a:endParaRPr lang="en-US" sz="2200" dirty="0"/>
          </a:p>
        </p:txBody>
      </p:sp>
      <p:sp>
        <p:nvSpPr>
          <p:cNvPr id="15" name="txt-75"/>
          <p:cNvSpPr txBox="1"/>
          <p:nvPr/>
        </p:nvSpPr>
        <p:spPr>
          <a:xfrm>
            <a:off x="4640580" y="379476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Operasi Read/Write berjalan dalam hitungan milidetik karena berbasis memory cache.</a:t>
            </a:r>
            <a:endParaRPr lang="en-US" sz="1500" dirty="0"/>
          </a:p>
        </p:txBody>
      </p:sp>
      <p:sp>
        <p:nvSpPr>
          <p:cNvPr id="16" name="card-76"/>
          <p:cNvSpPr/>
          <p:nvPr/>
        </p:nvSpPr>
        <p:spPr>
          <a:xfrm>
            <a:off x="8092440" y="1371600"/>
            <a:ext cx="3520440" cy="38404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7" name="ic-bg-77"/>
          <p:cNvSpPr/>
          <p:nvPr/>
        </p:nvSpPr>
        <p:spPr>
          <a:xfrm>
            <a:off x="8412480" y="1691640"/>
            <a:ext cx="868680" cy="86868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18" name="ic-78" descr="FaLo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7024" y="1926184"/>
            <a:ext cx="399593" cy="399593"/>
          </a:xfrm>
          <a:prstGeom prst="rect">
            <a:avLst/>
          </a:prstGeom>
        </p:spPr>
      </p:pic>
      <p:sp>
        <p:nvSpPr>
          <p:cNvPr id="19" name="txt-79"/>
          <p:cNvSpPr txBox="1"/>
          <p:nvPr/>
        </p:nvSpPr>
        <p:spPr>
          <a:xfrm>
            <a:off x="8412480" y="2834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59669"/>
                </a:solidFill>
              </a:rPr>
              <a:t>3 · ENKRIPSI KUAT</a:t>
            </a:r>
            <a:endParaRPr lang="en-US" sz="1200" dirty="0"/>
          </a:p>
        </p:txBody>
      </p:sp>
      <p:sp>
        <p:nvSpPr>
          <p:cNvPr id="20" name="txt-80"/>
          <p:cNvSpPr txBox="1"/>
          <p:nvPr/>
        </p:nvSpPr>
        <p:spPr>
          <a:xfrm>
            <a:off x="8412480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AES-256</a:t>
            </a:r>
            <a:endParaRPr lang="en-US" sz="2200" dirty="0"/>
          </a:p>
        </p:txBody>
      </p:sp>
      <p:sp>
        <p:nvSpPr>
          <p:cNvPr id="21" name="txt-81"/>
          <p:cNvSpPr txBox="1"/>
          <p:nvPr/>
        </p:nvSpPr>
        <p:spPr>
          <a:xfrm>
            <a:off x="8412480" y="379476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Mendukung enkripsi AES-256 untuk keamanan data finansial/keranjang.</a:t>
            </a:r>
            <a:endParaRPr lang="en-US" sz="1500" dirty="0"/>
          </a:p>
        </p:txBody>
      </p:sp>
      <p:sp>
        <p:nvSpPr>
          <p:cNvPr id="22" name="card-82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name="adj" fmla="val 16000"/>
            </a:avLst>
          </a:prstGeom>
          <a:solidFill>
            <a:schemeClr val="accent3">
              <a:alpha val="8000"/>
            </a:schemeClr>
          </a:solidFill>
          <a:ln/>
        </p:spPr>
      </p:sp>
      <p:sp>
        <p:nvSpPr>
          <p:cNvPr id="23" name="txt-83"/>
          <p:cNvSpPr txBox="1"/>
          <p:nvPr/>
        </p:nvSpPr>
        <p:spPr>
          <a:xfrm>
            <a:off x="548640" y="54864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Cocok untuk keranjang belanja, wishlist, dan katalog offline di KicksStore.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Menyimpan Objek Kompleks dengan TypeAdapter</a:t>
            </a:r>
            <a:endParaRPr lang="en-US" sz="2800" dirty="0"/>
          </a:p>
        </p:txBody>
      </p:sp>
      <p:sp>
        <p:nvSpPr>
          <p:cNvPr id="4" name="card-84"/>
          <p:cNvSpPr/>
          <p:nvPr/>
        </p:nvSpPr>
        <p:spPr>
          <a:xfrm>
            <a:off x="548640" y="1371600"/>
            <a:ext cx="3840480" cy="2377440"/>
          </a:xfrm>
          <a:prstGeom prst="roundRect">
            <a:avLst>
              <a:gd name="adj" fmla="val 4615"/>
            </a:avLst>
          </a:prstGeom>
          <a:solidFill>
            <a:schemeClr val="accent3">
              <a:alpha val="8000"/>
            </a:schemeClr>
          </a:solidFill>
          <a:ln/>
        </p:spPr>
      </p:sp>
      <p:sp>
        <p:nvSpPr>
          <p:cNvPr id="5" name="ic-bg-85"/>
          <p:cNvSpPr/>
          <p:nvPr/>
        </p:nvSpPr>
        <p:spPr>
          <a:xfrm>
            <a:off x="822960" y="1645920"/>
            <a:ext cx="731520" cy="73152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6" name="ic-86" descr="FaBoxOp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1843430"/>
            <a:ext cx="336499" cy="336499"/>
          </a:xfrm>
          <a:prstGeom prst="rect">
            <a:avLst/>
          </a:prstGeom>
        </p:spPr>
      </p:pic>
      <p:sp>
        <p:nvSpPr>
          <p:cNvPr id="7" name="txt-87"/>
          <p:cNvSpPr txBox="1"/>
          <p:nvPr/>
        </p:nvSpPr>
        <p:spPr>
          <a:xfrm>
            <a:off x="1737360" y="17830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KONSEP</a:t>
            </a:r>
            <a:endParaRPr lang="en-US" sz="1100" dirty="0"/>
          </a:p>
        </p:txBody>
      </p:sp>
      <p:sp>
        <p:nvSpPr>
          <p:cNvPr id="8" name="txt-88"/>
          <p:cNvSpPr txBox="1"/>
          <p:nvPr/>
        </p:nvSpPr>
        <p:spPr>
          <a:xfrm>
            <a:off x="1737360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Box</a:t>
            </a:r>
            <a:endParaRPr lang="en-US" sz="2400" dirty="0"/>
          </a:p>
        </p:txBody>
      </p:sp>
      <p:sp>
        <p:nvSpPr>
          <p:cNvPr id="9" name="txt-89"/>
          <p:cNvSpPr txBox="1"/>
          <p:nvPr/>
        </p:nvSpPr>
        <p:spPr>
          <a:xfrm>
            <a:off x="822960" y="269748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Hive menyimpan data di dalam wadah yang disebut "Box" (seperti tabel atau map).</a:t>
            </a:r>
            <a:endParaRPr lang="en-US" sz="1500" dirty="0"/>
          </a:p>
        </p:txBody>
      </p:sp>
      <p:sp>
        <p:nvSpPr>
          <p:cNvPr id="10" name="card-90"/>
          <p:cNvSpPr/>
          <p:nvPr/>
        </p:nvSpPr>
        <p:spPr>
          <a:xfrm>
            <a:off x="548640" y="3931920"/>
            <a:ext cx="3840480" cy="2103120"/>
          </a:xfrm>
          <a:prstGeom prst="roundRect">
            <a:avLst>
              <a:gd name="adj" fmla="val 5217"/>
            </a:avLst>
          </a:prstGeom>
          <a:solidFill>
            <a:schemeClr val="accent2">
              <a:alpha val="10000"/>
            </a:schemeClr>
          </a:solidFill>
          <a:ln/>
        </p:spPr>
      </p:sp>
      <p:pic>
        <p:nvPicPr>
          <p:cNvPr id="11" name="ic-91" descr="FaCog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06240"/>
            <a:ext cx="411480" cy="411480"/>
          </a:xfrm>
          <a:prstGeom prst="rect">
            <a:avLst/>
          </a:prstGeom>
        </p:spPr>
      </p:pic>
      <p:sp>
        <p:nvSpPr>
          <p:cNvPr id="12" name="txt-92"/>
          <p:cNvSpPr txBox="1"/>
          <p:nvPr/>
        </p:nvSpPr>
        <p:spPr>
          <a:xfrm>
            <a:off x="1371600" y="4206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build_runner</a:t>
            </a:r>
            <a:endParaRPr lang="en-US" sz="1800" dirty="0"/>
          </a:p>
        </p:txBody>
      </p:sp>
      <p:sp>
        <p:nvSpPr>
          <p:cNvPr id="13" name="txt-93"/>
          <p:cNvSpPr txBox="1"/>
          <p:nvPr/>
        </p:nvSpPr>
        <p:spPr>
          <a:xfrm>
            <a:off x="822960" y="48463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Menggunakan build_runner untuk meng-generate adapter secara otomatis!</a:t>
            </a:r>
            <a:endParaRPr lang="en-US" sz="1500" dirty="0"/>
          </a:p>
        </p:txBody>
      </p:sp>
      <p:sp>
        <p:nvSpPr>
          <p:cNvPr id="14" name="txt-94"/>
          <p:cNvSpPr txBox="1"/>
          <p:nvPr/>
        </p:nvSpPr>
        <p:spPr>
          <a:xfrm>
            <a:off x="4663440" y="13258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Membuat Model Hive dengan Generator</a:t>
            </a:r>
            <a:endParaRPr lang="en-US" sz="1600" dirty="0"/>
          </a:p>
        </p:txBody>
      </p:sp>
      <p:sp>
        <p:nvSpPr>
          <p:cNvPr id="15" name="card-95"/>
          <p:cNvSpPr/>
          <p:nvPr/>
        </p:nvSpPr>
        <p:spPr>
          <a:xfrm>
            <a:off x="4663440" y="1737360"/>
            <a:ext cx="694944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code-96"/>
          <p:cNvSpPr txBox="1"/>
          <p:nvPr/>
        </p:nvSpPr>
        <p:spPr>
          <a:xfrm>
            <a:off x="4663440" y="1737360"/>
            <a:ext cx="6949440" cy="438912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@HiveType(typeId: 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CartItemModel extends HiveObject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@HiveField(0)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id;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@HiveField(1)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name;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@HiveField(2)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price;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@HiveField(3)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quantity;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CartItemModel({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required this.id,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required this.name,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required this.price,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required this.quantity,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Operasi CRUD Keranjang Belanja di KicksStore</a:t>
            </a:r>
            <a:endParaRPr lang="en-US" sz="2800" dirty="0"/>
          </a:p>
        </p:txBody>
      </p:sp>
      <p:sp>
        <p:nvSpPr>
          <p:cNvPr id="4" name="card-97"/>
          <p:cNvSpPr/>
          <p:nvPr/>
        </p:nvSpPr>
        <p:spPr>
          <a:xfrm>
            <a:off x="548640" y="1371600"/>
            <a:ext cx="544068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chip-98"/>
          <p:cNvSpPr/>
          <p:nvPr/>
        </p:nvSpPr>
        <p:spPr>
          <a:xfrm>
            <a:off x="822960" y="160020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6" name="txt-99"/>
          <p:cNvSpPr txBox="1"/>
          <p:nvPr/>
        </p:nvSpPr>
        <p:spPr>
          <a:xfrm>
            <a:off x="822960" y="1600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 · CREATE</a:t>
            </a:r>
            <a:endParaRPr lang="en-US" sz="1200" dirty="0"/>
          </a:p>
        </p:txBody>
      </p:sp>
      <p:sp>
        <p:nvSpPr>
          <p:cNvPr id="7" name="txt-100"/>
          <p:cNvSpPr txBox="1"/>
          <p:nvPr/>
        </p:nvSpPr>
        <p:spPr>
          <a:xfrm>
            <a:off x="2286000" y="1600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Tambah ke Keranjang</a:t>
            </a:r>
            <a:endParaRPr lang="en-US" sz="1600" dirty="0"/>
          </a:p>
        </p:txBody>
      </p:sp>
      <p:sp>
        <p:nvSpPr>
          <p:cNvPr id="8" name="card-101"/>
          <p:cNvSpPr/>
          <p:nvPr/>
        </p:nvSpPr>
        <p:spPr>
          <a:xfrm>
            <a:off x="822960" y="2194560"/>
            <a:ext cx="4892040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code-102"/>
          <p:cNvSpPr txBox="1"/>
          <p:nvPr/>
        </p:nvSpPr>
        <p:spPr>
          <a:xfrm>
            <a:off x="822960" y="2194560"/>
            <a:ext cx="4892040" cy="123444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cartBox.put(item.id, item);</a:t>
            </a:r>
            <a:endParaRPr lang="en-US" sz="1300" dirty="0"/>
          </a:p>
        </p:txBody>
      </p:sp>
      <p:sp>
        <p:nvSpPr>
          <p:cNvPr id="10" name="card-103"/>
          <p:cNvSpPr/>
          <p:nvPr/>
        </p:nvSpPr>
        <p:spPr>
          <a:xfrm>
            <a:off x="6172200" y="1371600"/>
            <a:ext cx="544068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1" name="chip-104"/>
          <p:cNvSpPr/>
          <p:nvPr/>
        </p:nvSpPr>
        <p:spPr>
          <a:xfrm>
            <a:off x="6446520" y="160020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12" name="txt-105"/>
          <p:cNvSpPr txBox="1"/>
          <p:nvPr/>
        </p:nvSpPr>
        <p:spPr>
          <a:xfrm>
            <a:off x="6446520" y="1600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 · READ</a:t>
            </a:r>
            <a:endParaRPr lang="en-US" sz="1200" dirty="0"/>
          </a:p>
        </p:txBody>
      </p:sp>
      <p:sp>
        <p:nvSpPr>
          <p:cNvPr id="13" name="txt-106"/>
          <p:cNvSpPr txBox="1"/>
          <p:nvPr/>
        </p:nvSpPr>
        <p:spPr>
          <a:xfrm>
            <a:off x="7909560" y="1600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Menampilkan Semua Barang</a:t>
            </a:r>
            <a:endParaRPr lang="en-US" sz="1600" dirty="0"/>
          </a:p>
        </p:txBody>
      </p:sp>
      <p:sp>
        <p:nvSpPr>
          <p:cNvPr id="14" name="card-107"/>
          <p:cNvSpPr/>
          <p:nvPr/>
        </p:nvSpPr>
        <p:spPr>
          <a:xfrm>
            <a:off x="6446520" y="2194560"/>
            <a:ext cx="4892040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code-108"/>
          <p:cNvSpPr txBox="1"/>
          <p:nvPr/>
        </p:nvSpPr>
        <p:spPr>
          <a:xfrm>
            <a:off x="6446520" y="2194560"/>
            <a:ext cx="4892040" cy="123444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List&lt;CartItemModel&gt; items =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cartBox.values.toList();</a:t>
            </a:r>
            <a:endParaRPr lang="en-US" sz="1300" dirty="0"/>
          </a:p>
        </p:txBody>
      </p:sp>
      <p:sp>
        <p:nvSpPr>
          <p:cNvPr id="16" name="card-109"/>
          <p:cNvSpPr/>
          <p:nvPr/>
        </p:nvSpPr>
        <p:spPr>
          <a:xfrm>
            <a:off x="548640" y="3840480"/>
            <a:ext cx="544068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7" name="chip-110"/>
          <p:cNvSpPr/>
          <p:nvPr/>
        </p:nvSpPr>
        <p:spPr>
          <a:xfrm>
            <a:off x="822960" y="406908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18" name="txt-111"/>
          <p:cNvSpPr txBox="1"/>
          <p:nvPr/>
        </p:nvSpPr>
        <p:spPr>
          <a:xfrm>
            <a:off x="822960" y="4069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 · UPDATE</a:t>
            </a:r>
            <a:endParaRPr lang="en-US" sz="1200" dirty="0"/>
          </a:p>
        </p:txBody>
      </p:sp>
      <p:sp>
        <p:nvSpPr>
          <p:cNvPr id="19" name="txt-112"/>
          <p:cNvSpPr txBox="1"/>
          <p:nvPr/>
        </p:nvSpPr>
        <p:spPr>
          <a:xfrm>
            <a:off x="2286000" y="4069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Ubah Jumlah Sepatu</a:t>
            </a:r>
            <a:endParaRPr lang="en-US" sz="1600" dirty="0"/>
          </a:p>
        </p:txBody>
      </p:sp>
      <p:sp>
        <p:nvSpPr>
          <p:cNvPr id="20" name="card-113"/>
          <p:cNvSpPr/>
          <p:nvPr/>
        </p:nvSpPr>
        <p:spPr>
          <a:xfrm>
            <a:off x="822960" y="4663440"/>
            <a:ext cx="4892040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code-114"/>
          <p:cNvSpPr txBox="1"/>
          <p:nvPr/>
        </p:nvSpPr>
        <p:spPr>
          <a:xfrm>
            <a:off x="822960" y="4663440"/>
            <a:ext cx="4892040" cy="123444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item.quantity += 1;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item.save();</a:t>
            </a:r>
            <a:endParaRPr lang="en-US" sz="1300" dirty="0"/>
          </a:p>
        </p:txBody>
      </p:sp>
      <p:sp>
        <p:nvSpPr>
          <p:cNvPr id="22" name="card-115"/>
          <p:cNvSpPr/>
          <p:nvPr/>
        </p:nvSpPr>
        <p:spPr>
          <a:xfrm>
            <a:off x="6172200" y="3840480"/>
            <a:ext cx="544068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23" name="chip-116"/>
          <p:cNvSpPr/>
          <p:nvPr/>
        </p:nvSpPr>
        <p:spPr>
          <a:xfrm>
            <a:off x="6446520" y="406908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24" name="txt-117"/>
          <p:cNvSpPr txBox="1"/>
          <p:nvPr/>
        </p:nvSpPr>
        <p:spPr>
          <a:xfrm>
            <a:off x="6446520" y="4069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 · DELETE</a:t>
            </a:r>
            <a:endParaRPr lang="en-US" sz="1200" dirty="0"/>
          </a:p>
        </p:txBody>
      </p:sp>
      <p:sp>
        <p:nvSpPr>
          <p:cNvPr id="25" name="txt-118"/>
          <p:cNvSpPr txBox="1"/>
          <p:nvPr/>
        </p:nvSpPr>
        <p:spPr>
          <a:xfrm>
            <a:off x="7909560" y="4069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Hapus Barang / Kosongkan Keranjang</a:t>
            </a:r>
            <a:endParaRPr lang="en-US" sz="1600" dirty="0"/>
          </a:p>
        </p:txBody>
      </p:sp>
      <p:sp>
        <p:nvSpPr>
          <p:cNvPr id="26" name="card-119"/>
          <p:cNvSpPr/>
          <p:nvPr/>
        </p:nvSpPr>
        <p:spPr>
          <a:xfrm>
            <a:off x="6446520" y="4663440"/>
            <a:ext cx="4892040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code-120"/>
          <p:cNvSpPr txBox="1"/>
          <p:nvPr/>
        </p:nvSpPr>
        <p:spPr>
          <a:xfrm>
            <a:off x="6446520" y="4663440"/>
            <a:ext cx="4892040" cy="123444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cartBox.delete(itemId);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atau: cartBox.clear();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Bagaimana Data Lokal Berintegrasi dengan Server?</a:t>
            </a:r>
            <a:endParaRPr lang="en-US" sz="2800" dirty="0"/>
          </a:p>
        </p:txBody>
      </p:sp>
      <p:sp>
        <p:nvSpPr>
          <p:cNvPr id="4" name="card-121"/>
          <p:cNvSpPr/>
          <p:nvPr/>
        </p:nvSpPr>
        <p:spPr>
          <a:xfrm>
            <a:off x="548640" y="1371600"/>
            <a:ext cx="320040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ic-bg-122"/>
          <p:cNvSpPr/>
          <p:nvPr/>
        </p:nvSpPr>
        <p:spPr>
          <a:xfrm>
            <a:off x="822960" y="1645920"/>
            <a:ext cx="731520" cy="73152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6" name="ic-123" descr="FaPlus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1843430"/>
            <a:ext cx="336499" cy="336499"/>
          </a:xfrm>
          <a:prstGeom prst="rect">
            <a:avLst/>
          </a:prstGeom>
        </p:spPr>
      </p:pic>
      <p:sp>
        <p:nvSpPr>
          <p:cNvPr id="7" name="txt-124"/>
          <p:cNvSpPr txBox="1"/>
          <p:nvPr/>
        </p:nvSpPr>
        <p:spPr>
          <a:xfrm>
            <a:off x="822960" y="26060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3AED"/>
                </a:solidFill>
              </a:rPr>
              <a:t>LANGKAH 1</a:t>
            </a:r>
            <a:endParaRPr lang="en-US" sz="1100" dirty="0"/>
          </a:p>
        </p:txBody>
      </p:sp>
      <p:sp>
        <p:nvSpPr>
          <p:cNvPr id="8" name="txt-125"/>
          <p:cNvSpPr txBox="1"/>
          <p:nvPr/>
        </p:nvSpPr>
        <p:spPr>
          <a:xfrm>
            <a:off x="822960" y="2926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Tambah ke Keranjang</a:t>
            </a:r>
            <a:endParaRPr lang="en-US" sz="2000" dirty="0"/>
          </a:p>
        </p:txBody>
      </p:sp>
      <p:sp>
        <p:nvSpPr>
          <p:cNvPr id="9" name="txt-126"/>
          <p:cNvSpPr txBox="1"/>
          <p:nvPr/>
        </p:nvSpPr>
        <p:spPr>
          <a:xfrm>
            <a:off x="822960" y="33832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User menambah barang ke keranjang. Disimpan instan di Hive Box lokal (responsif 0 detik!).</a:t>
            </a:r>
            <a:endParaRPr lang="en-US" sz="1400" dirty="0"/>
          </a:p>
        </p:txBody>
      </p:sp>
      <p:sp>
        <p:nvSpPr>
          <p:cNvPr id="10" name="arrow-127"/>
          <p:cNvSpPr/>
          <p:nvPr/>
        </p:nvSpPr>
        <p:spPr>
          <a:xfrm>
            <a:off x="3794760" y="2971800"/>
            <a:ext cx="64008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1" name="card-128"/>
          <p:cNvSpPr/>
          <p:nvPr/>
        </p:nvSpPr>
        <p:spPr>
          <a:xfrm>
            <a:off x="4480560" y="1371600"/>
            <a:ext cx="320040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2" name="ic-bg-129"/>
          <p:cNvSpPr/>
          <p:nvPr/>
        </p:nvSpPr>
        <p:spPr>
          <a:xfrm>
            <a:off x="4754880" y="1645920"/>
            <a:ext cx="731520" cy="73152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3" name="ic-130" descr="FaCloudUpload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390" y="1843430"/>
            <a:ext cx="336499" cy="336499"/>
          </a:xfrm>
          <a:prstGeom prst="rect">
            <a:avLst/>
          </a:prstGeom>
        </p:spPr>
      </p:pic>
      <p:sp>
        <p:nvSpPr>
          <p:cNvPr id="14" name="txt-131"/>
          <p:cNvSpPr txBox="1"/>
          <p:nvPr/>
        </p:nvSpPr>
        <p:spPr>
          <a:xfrm>
            <a:off x="4754880" y="26060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F46E5"/>
                </a:solidFill>
              </a:rPr>
              <a:t>LANGKAH 2</a:t>
            </a:r>
            <a:endParaRPr lang="en-US" sz="1100" dirty="0"/>
          </a:p>
        </p:txBody>
      </p:sp>
      <p:sp>
        <p:nvSpPr>
          <p:cNvPr id="15" name="txt-132"/>
          <p:cNvSpPr txBox="1"/>
          <p:nvPr/>
        </p:nvSpPr>
        <p:spPr>
          <a:xfrm>
            <a:off x="4754880" y="2926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Checkout</a:t>
            </a:r>
            <a:endParaRPr lang="en-US" sz="2000" dirty="0"/>
          </a:p>
        </p:txBody>
      </p:sp>
      <p:sp>
        <p:nvSpPr>
          <p:cNvPr id="16" name="txt-133"/>
          <p:cNvSpPr txBox="1"/>
          <p:nvPr/>
        </p:nvSpPr>
        <p:spPr>
          <a:xfrm>
            <a:off x="4754880" y="33832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Saat user menekan tombol "Checkout" dan ada koneksi internet, data dikirim ke Server API / Firebase.</a:t>
            </a:r>
            <a:endParaRPr lang="en-US" sz="1400" dirty="0"/>
          </a:p>
        </p:txBody>
      </p:sp>
      <p:sp>
        <p:nvSpPr>
          <p:cNvPr id="17" name="arrow-134"/>
          <p:cNvSpPr/>
          <p:nvPr/>
        </p:nvSpPr>
        <p:spPr>
          <a:xfrm>
            <a:off x="7726680" y="2971800"/>
            <a:ext cx="64008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8" name="card-135"/>
          <p:cNvSpPr/>
          <p:nvPr/>
        </p:nvSpPr>
        <p:spPr>
          <a:xfrm>
            <a:off x="8412480" y="1371600"/>
            <a:ext cx="320040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9" name="ic-bg-136"/>
          <p:cNvSpPr/>
          <p:nvPr/>
        </p:nvSpPr>
        <p:spPr>
          <a:xfrm>
            <a:off x="8686800" y="1645920"/>
            <a:ext cx="731520" cy="73152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20" name="ic-137" descr="FaCheckCirc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4310" y="1843430"/>
            <a:ext cx="336499" cy="336499"/>
          </a:xfrm>
          <a:prstGeom prst="rect">
            <a:avLst/>
          </a:prstGeom>
        </p:spPr>
      </p:pic>
      <p:sp>
        <p:nvSpPr>
          <p:cNvPr id="21" name="txt-138"/>
          <p:cNvSpPr txBox="1"/>
          <p:nvPr/>
        </p:nvSpPr>
        <p:spPr>
          <a:xfrm>
            <a:off x="8686800" y="26060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59669"/>
                </a:solidFill>
              </a:rPr>
              <a:t>LANGKAH 3</a:t>
            </a:r>
            <a:endParaRPr lang="en-US" sz="1100" dirty="0"/>
          </a:p>
        </p:txBody>
      </p:sp>
      <p:sp>
        <p:nvSpPr>
          <p:cNvPr id="22" name="txt-139"/>
          <p:cNvSpPr txBox="1"/>
          <p:nvPr/>
        </p:nvSpPr>
        <p:spPr>
          <a:xfrm>
            <a:off x="8686800" y="2926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Pembayaran Berhasil</a:t>
            </a:r>
            <a:endParaRPr lang="en-US" sz="2000" dirty="0"/>
          </a:p>
        </p:txBody>
      </p:sp>
      <p:sp>
        <p:nvSpPr>
          <p:cNvPr id="23" name="txt-140"/>
          <p:cNvSpPr txBox="1"/>
          <p:nvPr/>
        </p:nvSpPr>
        <p:spPr>
          <a:xfrm>
            <a:off x="8686800" y="33832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Hapus item di Hive lokal dan update status pesanan.</a:t>
            </a:r>
            <a:endParaRPr lang="en-US" sz="1400" dirty="0"/>
          </a:p>
        </p:txBody>
      </p:sp>
      <p:sp>
        <p:nvSpPr>
          <p:cNvPr id="24" name="card-141"/>
          <p:cNvSpPr/>
          <p:nvPr/>
        </p:nvSpPr>
        <p:spPr>
          <a:xfrm>
            <a:off x="548640" y="4846320"/>
            <a:ext cx="11064240" cy="1325880"/>
          </a:xfrm>
          <a:prstGeom prst="roundRect">
            <a:avLst>
              <a:gd name="adj" fmla="val 8276"/>
            </a:avLst>
          </a:prstGeom>
          <a:solidFill>
            <a:schemeClr val="accent3">
              <a:alpha val="8000"/>
            </a:schemeClr>
          </a:solidFill>
          <a:ln/>
        </p:spPr>
      </p:sp>
      <p:sp>
        <p:nvSpPr>
          <p:cNvPr id="25" name="ic-bg-142"/>
          <p:cNvSpPr/>
          <p:nvPr/>
        </p:nvSpPr>
        <p:spPr>
          <a:xfrm>
            <a:off x="822960" y="521208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6" name="ic-143" descr="FaDatabas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437" y="5372557"/>
            <a:ext cx="273406" cy="273406"/>
          </a:xfrm>
          <a:prstGeom prst="rect">
            <a:avLst/>
          </a:prstGeom>
        </p:spPr>
      </p:pic>
      <p:sp>
        <p:nvSpPr>
          <p:cNvPr id="27" name="txt-144"/>
          <p:cNvSpPr txBox="1"/>
          <p:nvPr/>
        </p:nvSpPr>
        <p:spPr>
          <a:xfrm>
            <a:off x="1645920" y="4937760"/>
            <a:ext cx="9692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Hive Box Lokal  ➔  Server API / Firebase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Data tersimpan lebih dulu di perangkat agar aplikasi tetap responsif, lalu dikirim ke server saat dibutuhkan.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Kuis Pemahaman Local Storage</a:t>
            </a:r>
            <a:endParaRPr lang="en-US" sz="2800" dirty="0"/>
          </a:p>
        </p:txBody>
      </p:sp>
      <p:sp>
        <p:nvSpPr>
          <p:cNvPr id="4" name="card-145"/>
          <p:cNvSpPr/>
          <p:nvPr/>
        </p:nvSpPr>
        <p:spPr>
          <a:xfrm>
            <a:off x="548640" y="1371600"/>
            <a:ext cx="5440680" cy="4709160"/>
          </a:xfrm>
          <a:prstGeom prst="roundRect">
            <a:avLst>
              <a:gd name="adj" fmla="val 2330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chip-146"/>
          <p:cNvSpPr/>
          <p:nvPr/>
        </p:nvSpPr>
        <p:spPr>
          <a:xfrm>
            <a:off x="822960" y="1645920"/>
            <a:ext cx="10972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txt-147"/>
          <p:cNvSpPr txBox="1"/>
          <p:nvPr/>
        </p:nvSpPr>
        <p:spPr>
          <a:xfrm>
            <a:off x="822960" y="16459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KUIS 1</a:t>
            </a:r>
            <a:endParaRPr lang="en-US" sz="1200" dirty="0"/>
          </a:p>
        </p:txBody>
      </p:sp>
      <p:sp>
        <p:nvSpPr>
          <p:cNvPr id="7" name="txt-148"/>
          <p:cNvSpPr txBox="1"/>
          <p:nvPr/>
        </p:nvSpPr>
        <p:spPr>
          <a:xfrm>
            <a:off x="822960" y="219456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Manakah pilihan terbaik untuk menyimpan status apakah pengguna sudah login atau belum?</a:t>
            </a:r>
            <a:endParaRPr lang="en-US" sz="1700" dirty="0"/>
          </a:p>
        </p:txBody>
      </p:sp>
      <p:sp>
        <p:nvSpPr>
          <p:cNvPr id="8" name="opt-149"/>
          <p:cNvSpPr/>
          <p:nvPr/>
        </p:nvSpPr>
        <p:spPr>
          <a:xfrm>
            <a:off x="777240" y="3337560"/>
            <a:ext cx="4983480" cy="777240"/>
          </a:xfrm>
          <a:prstGeom prst="roundRect">
            <a:avLst>
              <a:gd name="adj" fmla="val 11765"/>
            </a:avLst>
          </a:prstGeom>
          <a:solidFill>
            <a:schemeClr val="accent4">
              <a:alpha val="12000"/>
            </a:schemeClr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9" name="badge-150"/>
          <p:cNvSpPr/>
          <p:nvPr/>
        </p:nvSpPr>
        <p:spPr>
          <a:xfrm>
            <a:off x="960120" y="3534156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txt-151"/>
          <p:cNvSpPr txBox="1"/>
          <p:nvPr/>
        </p:nvSpPr>
        <p:spPr>
          <a:xfrm>
            <a:off x="960120" y="35341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txt-152"/>
          <p:cNvSpPr txBox="1"/>
          <p:nvPr/>
        </p:nvSpPr>
        <p:spPr>
          <a:xfrm>
            <a:off x="1554480" y="333756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SharedPreferences</a:t>
            </a:r>
            <a:endParaRPr lang="en-US" sz="1400" dirty="0"/>
          </a:p>
        </p:txBody>
      </p:sp>
      <p:sp>
        <p:nvSpPr>
          <p:cNvPr id="12" name="opt-153"/>
          <p:cNvSpPr/>
          <p:nvPr/>
        </p:nvSpPr>
        <p:spPr>
          <a:xfrm>
            <a:off x="777240" y="4233672"/>
            <a:ext cx="4983480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badge-154"/>
          <p:cNvSpPr/>
          <p:nvPr/>
        </p:nvSpPr>
        <p:spPr>
          <a:xfrm>
            <a:off x="960120" y="4430268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4" name="txt-155"/>
          <p:cNvSpPr txBox="1"/>
          <p:nvPr/>
        </p:nvSpPr>
        <p:spPr>
          <a:xfrm>
            <a:off x="960120" y="44302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5" name="txt-156"/>
          <p:cNvSpPr txBox="1"/>
          <p:nvPr/>
        </p:nvSpPr>
        <p:spPr>
          <a:xfrm>
            <a:off x="1554480" y="4233672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Mengetik di Text file</a:t>
            </a:r>
            <a:endParaRPr lang="en-US" sz="1400" dirty="0"/>
          </a:p>
        </p:txBody>
      </p:sp>
      <p:sp>
        <p:nvSpPr>
          <p:cNvPr id="16" name="opt-157"/>
          <p:cNvSpPr/>
          <p:nvPr/>
        </p:nvSpPr>
        <p:spPr>
          <a:xfrm>
            <a:off x="777240" y="5129784"/>
            <a:ext cx="4983480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badge-158"/>
          <p:cNvSpPr/>
          <p:nvPr/>
        </p:nvSpPr>
        <p:spPr>
          <a:xfrm>
            <a:off x="960120" y="5326380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txt-159"/>
          <p:cNvSpPr txBox="1"/>
          <p:nvPr/>
        </p:nvSpPr>
        <p:spPr>
          <a:xfrm>
            <a:off x="960120" y="53263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9" name="txt-160"/>
          <p:cNvSpPr txBox="1"/>
          <p:nvPr/>
        </p:nvSpPr>
        <p:spPr>
          <a:xfrm>
            <a:off x="1554480" y="5129784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SQLite ribuan baris</a:t>
            </a:r>
            <a:endParaRPr lang="en-US" sz="1400" dirty="0"/>
          </a:p>
        </p:txBody>
      </p:sp>
      <p:sp>
        <p:nvSpPr>
          <p:cNvPr id="20" name="card-161"/>
          <p:cNvSpPr/>
          <p:nvPr/>
        </p:nvSpPr>
        <p:spPr>
          <a:xfrm>
            <a:off x="6172200" y="1371600"/>
            <a:ext cx="5440680" cy="4709160"/>
          </a:xfrm>
          <a:prstGeom prst="roundRect">
            <a:avLst>
              <a:gd name="adj" fmla="val 2330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21" name="chip-162"/>
          <p:cNvSpPr/>
          <p:nvPr/>
        </p:nvSpPr>
        <p:spPr>
          <a:xfrm>
            <a:off x="6446520" y="1645920"/>
            <a:ext cx="10972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2" name="txt-163"/>
          <p:cNvSpPr txBox="1"/>
          <p:nvPr/>
        </p:nvSpPr>
        <p:spPr>
          <a:xfrm>
            <a:off x="6446520" y="16459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KUIS 2</a:t>
            </a:r>
            <a:endParaRPr lang="en-US" sz="1200" dirty="0"/>
          </a:p>
        </p:txBody>
      </p:sp>
      <p:sp>
        <p:nvSpPr>
          <p:cNvPr id="23" name="txt-164"/>
          <p:cNvSpPr txBox="1"/>
          <p:nvPr/>
        </p:nvSpPr>
        <p:spPr>
          <a:xfrm>
            <a:off x="6446520" y="219456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Apa keuntungan utama database Hive CE dibanding SQLite biasa?</a:t>
            </a:r>
            <a:endParaRPr lang="en-US" sz="1700" dirty="0"/>
          </a:p>
        </p:txBody>
      </p:sp>
      <p:sp>
        <p:nvSpPr>
          <p:cNvPr id="24" name="opt-165"/>
          <p:cNvSpPr/>
          <p:nvPr/>
        </p:nvSpPr>
        <p:spPr>
          <a:xfrm>
            <a:off x="6400800" y="3337560"/>
            <a:ext cx="4983480" cy="777240"/>
          </a:xfrm>
          <a:prstGeom prst="roundRect">
            <a:avLst>
              <a:gd name="adj" fmla="val 11765"/>
            </a:avLst>
          </a:prstGeom>
          <a:solidFill>
            <a:schemeClr val="accent4">
              <a:alpha val="12000"/>
            </a:schemeClr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25" name="badge-166"/>
          <p:cNvSpPr/>
          <p:nvPr/>
        </p:nvSpPr>
        <p:spPr>
          <a:xfrm>
            <a:off x="6583680" y="3534156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6" name="txt-167"/>
          <p:cNvSpPr txBox="1"/>
          <p:nvPr/>
        </p:nvSpPr>
        <p:spPr>
          <a:xfrm>
            <a:off x="6583680" y="35341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27" name="txt-168"/>
          <p:cNvSpPr txBox="1"/>
          <p:nvPr/>
        </p:nvSpPr>
        <p:spPr>
          <a:xfrm>
            <a:off x="7178040" y="333756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Ditulis murni dalam Dart dan jauh lebih cepat tanpa overhead bridge</a:t>
            </a:r>
            <a:endParaRPr lang="en-US" sz="1400" dirty="0"/>
          </a:p>
        </p:txBody>
      </p:sp>
      <p:sp>
        <p:nvSpPr>
          <p:cNvPr id="28" name="opt-169"/>
          <p:cNvSpPr/>
          <p:nvPr/>
        </p:nvSpPr>
        <p:spPr>
          <a:xfrm>
            <a:off x="6400800" y="4233672"/>
            <a:ext cx="4983480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badge-170"/>
          <p:cNvSpPr/>
          <p:nvPr/>
        </p:nvSpPr>
        <p:spPr>
          <a:xfrm>
            <a:off x="6583680" y="4430268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0" name="txt-171"/>
          <p:cNvSpPr txBox="1"/>
          <p:nvPr/>
        </p:nvSpPr>
        <p:spPr>
          <a:xfrm>
            <a:off x="6583680" y="44302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31" name="txt-172"/>
          <p:cNvSpPr txBox="1"/>
          <p:nvPr/>
        </p:nvSpPr>
        <p:spPr>
          <a:xfrm>
            <a:off x="7178040" y="4233672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Membuat ukuran APK jadi 1 GB</a:t>
            </a:r>
            <a:endParaRPr lang="en-US" sz="1400" dirty="0"/>
          </a:p>
        </p:txBody>
      </p:sp>
      <p:sp>
        <p:nvSpPr>
          <p:cNvPr id="32" name="opt-173"/>
          <p:cNvSpPr/>
          <p:nvPr/>
        </p:nvSpPr>
        <p:spPr>
          <a:xfrm>
            <a:off x="6400800" y="5129784"/>
            <a:ext cx="4983480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badge-174"/>
          <p:cNvSpPr/>
          <p:nvPr/>
        </p:nvSpPr>
        <p:spPr>
          <a:xfrm>
            <a:off x="6583680" y="5326380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4" name="txt-175"/>
          <p:cNvSpPr txBox="1"/>
          <p:nvPr/>
        </p:nvSpPr>
        <p:spPr>
          <a:xfrm>
            <a:off x="6583680" y="53263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35" name="txt-176"/>
          <p:cNvSpPr txBox="1"/>
          <p:nvPr/>
        </p:nvSpPr>
        <p:spPr>
          <a:xfrm>
            <a:off x="7178040" y="5129784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Menghapus data saat baterai habis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Rangkuman &amp; Strategi Offline-First</a:t>
            </a:r>
            <a:endParaRPr lang="en-US" sz="2800" dirty="0"/>
          </a:p>
        </p:txBody>
      </p:sp>
      <p:sp>
        <p:nvSpPr>
          <p:cNvPr id="4" name="card-177"/>
          <p:cNvSpPr/>
          <p:nvPr/>
        </p:nvSpPr>
        <p:spPr>
          <a:xfrm>
            <a:off x="548640" y="1371600"/>
            <a:ext cx="110642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num-178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6" name="txt-179"/>
          <p:cNvSpPr txBox="1"/>
          <p:nvPr/>
        </p:nvSpPr>
        <p:spPr>
          <a:xfrm>
            <a:off x="82296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xt-180"/>
          <p:cNvSpPr txBox="1"/>
          <p:nvPr/>
        </p:nvSpPr>
        <p:spPr>
          <a:xfrm>
            <a:off x="1783080" y="13716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SharedPreferences</a:t>
            </a:r>
            <a:endParaRPr lang="en-US" sz="2000" dirty="0"/>
          </a:p>
        </p:txBody>
      </p:sp>
      <p:sp>
        <p:nvSpPr>
          <p:cNvPr id="8" name="txt-181"/>
          <p:cNvSpPr txBox="1"/>
          <p:nvPr/>
        </p:nvSpPr>
        <p:spPr>
          <a:xfrm>
            <a:off x="5029200" y="137160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Gunakan SharedPreferences HANYA untuk konfigurasi mini (token, status on/off, tema).</a:t>
            </a:r>
            <a:endParaRPr lang="en-US" sz="1600" dirty="0"/>
          </a:p>
        </p:txBody>
      </p:sp>
      <p:sp>
        <p:nvSpPr>
          <p:cNvPr id="9" name="card-182"/>
          <p:cNvSpPr/>
          <p:nvPr/>
        </p:nvSpPr>
        <p:spPr>
          <a:xfrm>
            <a:off x="548640" y="2743200"/>
            <a:ext cx="110642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0" name="num-183"/>
          <p:cNvSpPr/>
          <p:nvPr/>
        </p:nvSpPr>
        <p:spPr>
          <a:xfrm>
            <a:off x="822960" y="301752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xt-184"/>
          <p:cNvSpPr txBox="1"/>
          <p:nvPr/>
        </p:nvSpPr>
        <p:spPr>
          <a:xfrm>
            <a:off x="82296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xt-185"/>
          <p:cNvSpPr txBox="1"/>
          <p:nvPr/>
        </p:nvSpPr>
        <p:spPr>
          <a:xfrm>
            <a:off x="1783080" y="27432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Hive CE</a:t>
            </a:r>
            <a:endParaRPr lang="en-US" sz="2000" dirty="0"/>
          </a:p>
        </p:txBody>
      </p:sp>
      <p:sp>
        <p:nvSpPr>
          <p:cNvPr id="13" name="txt-186"/>
          <p:cNvSpPr txBox="1"/>
          <p:nvPr/>
        </p:nvSpPr>
        <p:spPr>
          <a:xfrm>
            <a:off x="5029200" y="274320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Gunakan Hive CE untuk koleksi data transaksi, katalog offline, atau keranjang.</a:t>
            </a:r>
            <a:endParaRPr lang="en-US" sz="1600" dirty="0"/>
          </a:p>
        </p:txBody>
      </p:sp>
      <p:sp>
        <p:nvSpPr>
          <p:cNvPr id="14" name="card-187"/>
          <p:cNvSpPr/>
          <p:nvPr/>
        </p:nvSpPr>
        <p:spPr>
          <a:xfrm>
            <a:off x="548640" y="4114800"/>
            <a:ext cx="110642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5" name="num-188"/>
          <p:cNvSpPr/>
          <p:nvPr/>
        </p:nvSpPr>
        <p:spPr>
          <a:xfrm>
            <a:off x="822960" y="4389120"/>
            <a:ext cx="640080" cy="6400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xt-189"/>
          <p:cNvSpPr txBox="1"/>
          <p:nvPr/>
        </p:nvSpPr>
        <p:spPr>
          <a:xfrm>
            <a:off x="822960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txt-190"/>
          <p:cNvSpPr txBox="1"/>
          <p:nvPr/>
        </p:nvSpPr>
        <p:spPr>
          <a:xfrm>
            <a:off x="1783080" y="41148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Bersihkan Saat Logout</a:t>
            </a:r>
            <a:endParaRPr lang="en-US" sz="2000" dirty="0"/>
          </a:p>
        </p:txBody>
      </p:sp>
      <p:sp>
        <p:nvSpPr>
          <p:cNvPr id="18" name="txt-191"/>
          <p:cNvSpPr txBox="1"/>
          <p:nvPr/>
        </p:nvSpPr>
        <p:spPr>
          <a:xfrm>
            <a:off x="5029200" y="411480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Selalu bersihkan cache local storage saat pengguna melakukan Logout demi keamanan data.</a:t>
            </a:r>
            <a:endParaRPr lang="en-US" sz="1600" dirty="0"/>
          </a:p>
        </p:txBody>
      </p:sp>
      <p:sp>
        <p:nvSpPr>
          <p:cNvPr id="19" name="closing-192"/>
          <p:cNvSpPr/>
          <p:nvPr/>
        </p:nvSpPr>
        <p:spPr>
          <a:xfrm>
            <a:off x="548640" y="5577840"/>
            <a:ext cx="11064240" cy="640080"/>
          </a:xfrm>
          <a:prstGeom prst="roundRect">
            <a:avLst>
              <a:gd name="adj" fmla="val 17143"/>
            </a:avLst>
          </a:prstGeom>
          <a:solidFill>
            <a:schemeClr val="accent1"/>
          </a:solidFill>
          <a:ln/>
        </p:spPr>
      </p:sp>
      <p:sp>
        <p:nvSpPr>
          <p:cNvPr id="20" name="txt-193"/>
          <p:cNvSpPr txBox="1"/>
          <p:nvPr/>
        </p:nvSpPr>
        <p:spPr>
          <a:xfrm>
            <a:off x="731520" y="55778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Offline-first: simpan lokal dulu, sinkronkan ke server kemudian.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orage Light">
  <a:themeElements>
    <a:clrScheme name="Storage Light">
      <a:dk1>
        <a:srgbClr val="0F172A"/>
      </a:dk1>
      <a:lt1>
        <a:srgbClr val="FFFFFF"/>
      </a:lt1>
      <a:dk2>
        <a:srgbClr val="334155"/>
      </a:dk2>
      <a:lt2>
        <a:srgbClr val="F8FAFC"/>
      </a:lt2>
      <a:accent1>
        <a:srgbClr val="4F46E5"/>
      </a:accent1>
      <a:accent2>
        <a:srgbClr val="D97706"/>
      </a:accent2>
      <a:accent3>
        <a:srgbClr val="7C3AED"/>
      </a:accent3>
      <a:accent4>
        <a:srgbClr val="059669"/>
      </a:accent4>
      <a:accent5>
        <a:srgbClr val="E0E7FF"/>
      </a:accent5>
      <a:accent6>
        <a:srgbClr val="64748B"/>
      </a:accent6>
      <a:hlink>
        <a:srgbClr val="4F46E5"/>
      </a:hlink>
      <a:folHlink>
        <a:srgbClr val="7C3AED"/>
      </a:folHlink>
    </a:clrScheme>
    <a:fontScheme name="Storage Ligh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Storage di Flutter: SharedPreferences vs Hive CE</dc:title>
  <dc:subject>PptxGenJS Presentation</dc:subject>
  <dc:creator>Flutter Local Storage</dc:creator>
  <cp:lastModifiedBy>Flutter Local Storage</cp:lastModifiedBy>
  <cp:revision>1</cp:revision>
  <dcterms:created xsi:type="dcterms:W3CDTF">2026-10-20T07:27:59Z</dcterms:created>
  <dcterms:modified xsi:type="dcterms:W3CDTF">2026-10-20T07:27:59Z</dcterms:modified>
</cp:coreProperties>
</file>