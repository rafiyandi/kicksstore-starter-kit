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bb676144-5dea-19f7-46a5-c2e39d88ec60}">
          <p14:sldIdLst>
            <p14:sldId id="256"/>
            <p14:sldId id="257"/>
          </p14:sldIdLst>
        </p14:section>
        <p14:section name="Dio &amp; Arsitektur" id="{e456d8aa-80d7-9dd4-49d8-89d38ca52beb}">
          <p14:sldIdLst>
            <p14:sldId id="258"/>
            <p14:sldId id="259"/>
            <p14:sldId id="260"/>
            <p14:sldId id="261"/>
          </p14:sldIdLst>
        </p14:section>
        <p14:section name="Implementasi UI" id="{37b5804b-9551-2544-f10d-afe7c9fab06c}">
          <p14:sldIdLst>
            <p14:sldId id="262"/>
            <p14:sldId id="263"/>
          </p14:sldIdLst>
        </p14:section>
        <p14:section name="Penutup" id="{404eed48-9b5d-0cfb-2dfa-8b20e40d41cc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Pada sesi 05 dan 06 kita menghubungkan aplikasi KicksStore ke server: mengambil katalog sepatu lewat Rest API dengan Dio, mengubah JSON menjadi model Dart, dan menampilkan shimmer saat loading.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restoran: aplikasi adalah pelanggan yang memesan (request), Rest API adalah pelayan yang mengantar pesanan dan membawa makanan kembali (response JSON), dan server beserta database adalah dapur.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Bandingkan package http bawaan dengan dio: decode JSON otomatis, interceptor, base URL global, penanganan timeout, dan upload/download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mengalir dari Cloud Rest API sebagai JSON string, lewat DioService, diubah menjadi objek lewat fromJson, disimpan di RxList pada HomeController, lalu ditampilkan HomeView lewat Obx.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JSON dari server diubah menjadi objek Dart lewat fromJson. Dengan model, kita tidak lagi mengetik key mentah di dalam View, sehingga salah ketik terdeteksi saat kompilasi.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Interceptor mencegat setiap request dan response. Gunakan untuk menempelkan token Authorization, mencetak log, dan menangkap error global seperti 401 Unauthorized.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Setiap layar yang mengambil data harus menangani empat kondisi: loading, empty, error, dan success.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Spinner biasa membuat user merasa menunggu lama. Skeleton shimmer memberi bayangan layout yang akan muncul sehingga aplikasi terasa lebih cepat.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siswa menjawab dulu sebelum menunjukkan jawaban benar (ditandai hijau). Kuis 1: B. Kuis 2: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Tiga prinsip utama: pakai model Dart ber-type kuat, tangani koneksi putus dengan try-catch atau interceptor, dan beri feedback visual yang halus dengan shimmer.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630936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Flutter Networking • Sesi 05 &amp; 06 · Rest API &amp; Dio dengan GetX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1"/>
          <p:cNvSpPr/>
          <p:nvPr/>
        </p:nvSpPr>
        <p:spPr>
          <a:xfrm>
            <a:off x="731520" y="1371600"/>
            <a:ext cx="4023360" cy="384048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3" name="txt-2"/>
          <p:cNvSpPr txBox="1"/>
          <p:nvPr/>
        </p:nvSpPr>
        <p:spPr>
          <a:xfrm>
            <a:off x="731520" y="1371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FLUTTER NETWORKING • SESI 05 &amp; 06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011680"/>
            <a:ext cx="6309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Menghubungkan Aplikasi Mobile ke Internet dengan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Rest API &amp; Dio</a:t>
            </a:r>
            <a:endParaRPr lang="en-US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3434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Client Networking, JSON Parsing Otomatis, Interceptor Auth, dan Shimmer Loading Skeleton</a:t>
            </a:r>
            <a:endParaRPr lang="en-US" sz="1800" dirty="0"/>
          </a:p>
        </p:txBody>
      </p:sp>
      <p:sp>
        <p:nvSpPr>
          <p:cNvPr id="6" name="card-3"/>
          <p:cNvSpPr/>
          <p:nvPr/>
        </p:nvSpPr>
        <p:spPr>
          <a:xfrm>
            <a:off x="7406640" y="1325880"/>
            <a:ext cx="4206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7" name="ic-bg-4"/>
          <p:cNvSpPr/>
          <p:nvPr/>
        </p:nvSpPr>
        <p:spPr>
          <a:xfrm>
            <a:off x="7635240" y="16002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c-5" descr="FaShoppingBa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062" y="1773022"/>
            <a:ext cx="294437" cy="294437"/>
          </a:xfrm>
          <a:prstGeom prst="rect">
            <a:avLst/>
          </a:prstGeom>
        </p:spPr>
      </p:pic>
      <p:sp>
        <p:nvSpPr>
          <p:cNvPr id="9" name="txt-6"/>
          <p:cNvSpPr txBox="1"/>
          <p:nvPr/>
        </p:nvSpPr>
        <p:spPr>
          <a:xfrm>
            <a:off x="8458200" y="155448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STUDI KASUS</a:t>
            </a:r>
            <a:endParaRPr lang="en-US" sz="1100" dirty="0"/>
          </a:p>
        </p:txBody>
      </p:sp>
      <p:sp>
        <p:nvSpPr>
          <p:cNvPr id="10" name="txt-7"/>
          <p:cNvSpPr txBox="1"/>
          <p:nvPr/>
        </p:nvSpPr>
        <p:spPr>
          <a:xfrm>
            <a:off x="8458200" y="1828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Mengambil Katalog Sepatu Online di KicksStore</a:t>
            </a:r>
            <a:endParaRPr lang="en-US" sz="1500" dirty="0"/>
          </a:p>
        </p:txBody>
      </p:sp>
      <p:sp>
        <p:nvSpPr>
          <p:cNvPr id="11" name="card-8"/>
          <p:cNvSpPr/>
          <p:nvPr/>
        </p:nvSpPr>
        <p:spPr>
          <a:xfrm>
            <a:off x="7406640" y="274320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ic-bg-9"/>
          <p:cNvSpPr/>
          <p:nvPr/>
        </p:nvSpPr>
        <p:spPr>
          <a:xfrm>
            <a:off x="7635240" y="2871216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c-10" descr="Fa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622" y="2999598"/>
            <a:ext cx="218724" cy="218724"/>
          </a:xfrm>
          <a:prstGeom prst="rect">
            <a:avLst/>
          </a:prstGeom>
        </p:spPr>
      </p:pic>
      <p:sp>
        <p:nvSpPr>
          <p:cNvPr id="14" name="txt-11"/>
          <p:cNvSpPr txBox="1"/>
          <p:nvPr/>
        </p:nvSpPr>
        <p:spPr>
          <a:xfrm>
            <a:off x="8366760" y="27432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 Networking</a:t>
            </a:r>
            <a:endParaRPr lang="en-US" sz="1600" dirty="0"/>
          </a:p>
        </p:txBody>
      </p:sp>
      <p:sp>
        <p:nvSpPr>
          <p:cNvPr id="15" name="card-12"/>
          <p:cNvSpPr/>
          <p:nvPr/>
        </p:nvSpPr>
        <p:spPr>
          <a:xfrm>
            <a:off x="7406640" y="361188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ic-bg-13"/>
          <p:cNvSpPr/>
          <p:nvPr/>
        </p:nvSpPr>
        <p:spPr>
          <a:xfrm>
            <a:off x="7635240" y="3739896"/>
            <a:ext cx="475488" cy="47548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7" name="ic-14" descr="FaC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3622" y="3868278"/>
            <a:ext cx="218724" cy="218724"/>
          </a:xfrm>
          <a:prstGeom prst="rect">
            <a:avLst/>
          </a:prstGeom>
        </p:spPr>
      </p:pic>
      <p:sp>
        <p:nvSpPr>
          <p:cNvPr id="18" name="txt-15"/>
          <p:cNvSpPr txBox="1"/>
          <p:nvPr/>
        </p:nvSpPr>
        <p:spPr>
          <a:xfrm>
            <a:off x="8366760" y="36118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JSON Parsing Otomatis</a:t>
            </a:r>
            <a:endParaRPr lang="en-US" sz="1600" dirty="0"/>
          </a:p>
        </p:txBody>
      </p:sp>
      <p:sp>
        <p:nvSpPr>
          <p:cNvPr id="19" name="card-16"/>
          <p:cNvSpPr/>
          <p:nvPr/>
        </p:nvSpPr>
        <p:spPr>
          <a:xfrm>
            <a:off x="7406640" y="448056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ic-bg-17"/>
          <p:cNvSpPr/>
          <p:nvPr/>
        </p:nvSpPr>
        <p:spPr>
          <a:xfrm>
            <a:off x="7635240" y="4608576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c-18" descr="FaUserShiel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622" y="4736958"/>
            <a:ext cx="218724" cy="218724"/>
          </a:xfrm>
          <a:prstGeom prst="rect">
            <a:avLst/>
          </a:prstGeom>
        </p:spPr>
      </p:pic>
      <p:sp>
        <p:nvSpPr>
          <p:cNvPr id="22" name="txt-19"/>
          <p:cNvSpPr txBox="1"/>
          <p:nvPr/>
        </p:nvSpPr>
        <p:spPr>
          <a:xfrm>
            <a:off x="8366760" y="44805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Interceptor Auth</a:t>
            </a:r>
            <a:endParaRPr lang="en-US" sz="1600" dirty="0"/>
          </a:p>
        </p:txBody>
      </p:sp>
      <p:sp>
        <p:nvSpPr>
          <p:cNvPr id="23" name="card-20"/>
          <p:cNvSpPr/>
          <p:nvPr/>
        </p:nvSpPr>
        <p:spPr>
          <a:xfrm>
            <a:off x="7406640" y="5349240"/>
            <a:ext cx="4206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ic-bg-21"/>
          <p:cNvSpPr/>
          <p:nvPr/>
        </p:nvSpPr>
        <p:spPr>
          <a:xfrm>
            <a:off x="7635240" y="5477256"/>
            <a:ext cx="475488" cy="475488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25" name="ic-22" descr="FaSpinn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3622" y="5605638"/>
            <a:ext cx="218724" cy="218724"/>
          </a:xfrm>
          <a:prstGeom prst="rect">
            <a:avLst/>
          </a:prstGeom>
        </p:spPr>
      </p:pic>
      <p:sp>
        <p:nvSpPr>
          <p:cNvPr id="26" name="txt-23"/>
          <p:cNvSpPr txBox="1"/>
          <p:nvPr/>
        </p:nvSpPr>
        <p:spPr>
          <a:xfrm>
            <a:off x="8366760" y="53492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Shimmer Loading Skeleton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Bagaimana Aplikasi Mobile Berbicara dengan Server?</a:t>
            </a:r>
            <a:endParaRPr lang="en-US" sz="2800" dirty="0"/>
          </a:p>
        </p:txBody>
      </p:sp>
      <p:sp>
        <p:nvSpPr>
          <p:cNvPr id="4" name="card-24"/>
          <p:cNvSpPr/>
          <p:nvPr/>
        </p:nvSpPr>
        <p:spPr>
          <a:xfrm>
            <a:off x="54864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25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c-26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843430"/>
            <a:ext cx="336499" cy="336499"/>
          </a:xfrm>
          <a:prstGeom prst="rect">
            <a:avLst/>
          </a:prstGeom>
        </p:spPr>
      </p:pic>
      <p:sp>
        <p:nvSpPr>
          <p:cNvPr id="7" name="txt-27"/>
          <p:cNvSpPr txBox="1"/>
          <p:nvPr/>
        </p:nvSpPr>
        <p:spPr>
          <a:xfrm>
            <a:off x="82296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563EB"/>
                </a:solidFill>
              </a:rPr>
              <a:t>APLIKASI MOBILE</a:t>
            </a:r>
            <a:endParaRPr lang="en-US" sz="1100" dirty="0"/>
          </a:p>
        </p:txBody>
      </p:sp>
      <p:sp>
        <p:nvSpPr>
          <p:cNvPr id="8" name="txt-28"/>
          <p:cNvSpPr txBox="1"/>
          <p:nvPr/>
        </p:nvSpPr>
        <p:spPr>
          <a:xfrm>
            <a:off x="8229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Pelanggan</a:t>
            </a:r>
            <a:endParaRPr lang="en-US" sz="2000" dirty="0"/>
          </a:p>
        </p:txBody>
      </p:sp>
      <p:sp>
        <p:nvSpPr>
          <p:cNvPr id="9" name="txt-29"/>
          <p:cNvSpPr txBox="1"/>
          <p:nvPr/>
        </p:nvSpPr>
        <p:spPr>
          <a:xfrm>
            <a:off x="82296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Duduk memesan makanan (Request).</a:t>
            </a:r>
            <a:endParaRPr lang="en-US" sz="1400" dirty="0"/>
          </a:p>
        </p:txBody>
      </p:sp>
      <p:sp>
        <p:nvSpPr>
          <p:cNvPr id="10" name="arrow-30"/>
          <p:cNvSpPr/>
          <p:nvPr/>
        </p:nvSpPr>
        <p:spPr>
          <a:xfrm>
            <a:off x="3794760" y="297180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1" name="card-31"/>
          <p:cNvSpPr/>
          <p:nvPr/>
        </p:nvSpPr>
        <p:spPr>
          <a:xfrm>
            <a:off x="448056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ic-bg-32"/>
          <p:cNvSpPr/>
          <p:nvPr/>
        </p:nvSpPr>
        <p:spPr>
          <a:xfrm>
            <a:off x="4754880" y="164592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c-33" descr="FaExchang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390" y="1843430"/>
            <a:ext cx="336499" cy="336499"/>
          </a:xfrm>
          <a:prstGeom prst="rect">
            <a:avLst/>
          </a:prstGeom>
        </p:spPr>
      </p:pic>
      <p:sp>
        <p:nvSpPr>
          <p:cNvPr id="14" name="txt-34"/>
          <p:cNvSpPr txBox="1"/>
          <p:nvPr/>
        </p:nvSpPr>
        <p:spPr>
          <a:xfrm>
            <a:off x="475488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7706"/>
                </a:solidFill>
              </a:rPr>
              <a:t>REST API</a:t>
            </a:r>
            <a:endParaRPr lang="en-US" sz="1100" dirty="0"/>
          </a:p>
        </p:txBody>
      </p:sp>
      <p:sp>
        <p:nvSpPr>
          <p:cNvPr id="15" name="txt-35"/>
          <p:cNvSpPr txBox="1"/>
          <p:nvPr/>
        </p:nvSpPr>
        <p:spPr>
          <a:xfrm>
            <a:off x="475488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Pelayan / Kurir</a:t>
            </a:r>
            <a:endParaRPr lang="en-US" sz="2000" dirty="0"/>
          </a:p>
        </p:txBody>
      </p:sp>
      <p:sp>
        <p:nvSpPr>
          <p:cNvPr id="16" name="txt-36"/>
          <p:cNvSpPr txBox="1"/>
          <p:nvPr/>
        </p:nvSpPr>
        <p:spPr>
          <a:xfrm>
            <a:off x="475488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Mengantarkan pesanan ke dapur dan membawakan makanan ke meja (Response JSON).</a:t>
            </a:r>
            <a:endParaRPr lang="en-US" sz="1400" dirty="0"/>
          </a:p>
        </p:txBody>
      </p:sp>
      <p:sp>
        <p:nvSpPr>
          <p:cNvPr id="17" name="arrow-37"/>
          <p:cNvSpPr/>
          <p:nvPr/>
        </p:nvSpPr>
        <p:spPr>
          <a:xfrm>
            <a:off x="7726680" y="297180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headEnd type="triangle"/>
            <a:tailEnd type="triangle"/>
          </a:ln>
        </p:spPr>
      </p:sp>
      <p:sp>
        <p:nvSpPr>
          <p:cNvPr id="18" name="card-38"/>
          <p:cNvSpPr/>
          <p:nvPr/>
        </p:nvSpPr>
        <p:spPr>
          <a:xfrm>
            <a:off x="8412480" y="1371600"/>
            <a:ext cx="320040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ic-bg-39"/>
          <p:cNvSpPr/>
          <p:nvPr/>
        </p:nvSpPr>
        <p:spPr>
          <a:xfrm>
            <a:off x="8686800" y="1645920"/>
            <a:ext cx="731520" cy="7315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c-40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310" y="1843430"/>
            <a:ext cx="336499" cy="336499"/>
          </a:xfrm>
          <a:prstGeom prst="rect">
            <a:avLst/>
          </a:prstGeom>
        </p:spPr>
      </p:pic>
      <p:sp>
        <p:nvSpPr>
          <p:cNvPr id="21" name="txt-41"/>
          <p:cNvSpPr txBox="1"/>
          <p:nvPr/>
        </p:nvSpPr>
        <p:spPr>
          <a:xfrm>
            <a:off x="8686800" y="2606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6A34A"/>
                </a:solidFill>
              </a:rPr>
              <a:t>BACKEND &amp; DATABASE</a:t>
            </a:r>
            <a:endParaRPr lang="en-US" sz="1100" dirty="0"/>
          </a:p>
        </p:txBody>
      </p:sp>
      <p:sp>
        <p:nvSpPr>
          <p:cNvPr id="22" name="txt-42"/>
          <p:cNvSpPr txBox="1"/>
          <p:nvPr/>
        </p:nvSpPr>
        <p:spPr>
          <a:xfrm>
            <a:off x="86868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Dapur</a:t>
            </a:r>
            <a:endParaRPr lang="en-US" sz="2000" dirty="0"/>
          </a:p>
        </p:txBody>
      </p:sp>
      <p:sp>
        <p:nvSpPr>
          <p:cNvPr id="23" name="txt-43"/>
          <p:cNvSpPr txBox="1"/>
          <p:nvPr/>
        </p:nvSpPr>
        <p:spPr>
          <a:xfrm>
            <a:off x="8686800" y="338328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Memasak dan mengambil bahan makanan dari gudang.</a:t>
            </a:r>
            <a:endParaRPr lang="en-US" sz="1400" dirty="0"/>
          </a:p>
        </p:txBody>
      </p:sp>
      <p:sp>
        <p:nvSpPr>
          <p:cNvPr id="24" name="card-44"/>
          <p:cNvSpPr/>
          <p:nvPr/>
        </p:nvSpPr>
        <p:spPr>
          <a:xfrm>
            <a:off x="548640" y="484632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25" name="ic-bg-45"/>
          <p:cNvSpPr/>
          <p:nvPr/>
        </p:nvSpPr>
        <p:spPr>
          <a:xfrm>
            <a:off x="822960" y="5212080"/>
            <a:ext cx="594360" cy="59436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6" name="ic-46" descr="Fa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437" y="5372557"/>
            <a:ext cx="273406" cy="273406"/>
          </a:xfrm>
          <a:prstGeom prst="rect">
            <a:avLst/>
          </a:prstGeom>
        </p:spPr>
      </p:pic>
      <p:sp>
        <p:nvSpPr>
          <p:cNvPr id="27" name="txt-47"/>
          <p:cNvSpPr txBox="1"/>
          <p:nvPr/>
        </p:nvSpPr>
        <p:spPr>
          <a:xfrm>
            <a:off x="1645920" y="4937760"/>
            <a:ext cx="9692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Format Data Standar: JSON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JavaScript Object Notation: format teks universal yang dipahami semua bahasa pemrograman.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Dio HTTP Client: Standar Emas Industri</a:t>
            </a:r>
            <a:endParaRPr lang="en-US" sz="2800" dirty="0"/>
          </a:p>
        </p:txBody>
      </p:sp>
      <p:graphicFrame>
        <p:nvGraphicFramePr>
          <p:cNvPr id="4" name="tabel-dio-vs-htt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4023360"/>
                <a:gridCol w="43891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Fitur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Package http Standar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Package dio Modern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JSON Auto-Decode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Harus panggil jsonDecode() manual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Otomatis mengubah JSON menjadi Map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Interceptors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Tidak ada bawaan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Logging otomatis &amp; injeksi token Auth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Global Base URL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Harus ketik URL lengkap berulang kali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BaseOptions(baseUrl: 'https://api...')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Timeout Handling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Konfigurasi rumit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Otomatis throw timeout error jika koneksi lelet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File Upload / Download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Repot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Sangat mudah via FormData</a:t>
                      </a:r>
                      <a:endParaRPr lang="en-US" sz="15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Jalur Aliran Data dari Server ke Layar HP</a:t>
            </a:r>
            <a:endParaRPr lang="en-US" sz="2800" dirty="0"/>
          </a:p>
        </p:txBody>
      </p:sp>
      <p:sp>
        <p:nvSpPr>
          <p:cNvPr id="4" name="card-48"/>
          <p:cNvSpPr/>
          <p:nvPr/>
        </p:nvSpPr>
        <p:spPr>
          <a:xfrm>
            <a:off x="548640" y="1325880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49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" name="ic-50" descr="FaClou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308" y="1553108"/>
            <a:ext cx="231343" cy="231343"/>
          </a:xfrm>
          <a:prstGeom prst="rect">
            <a:avLst/>
          </a:prstGeom>
        </p:spPr>
      </p:pic>
      <p:sp>
        <p:nvSpPr>
          <p:cNvPr id="7" name="txt-51"/>
          <p:cNvSpPr txBox="1"/>
          <p:nvPr/>
        </p:nvSpPr>
        <p:spPr>
          <a:xfrm>
            <a:off x="1417320" y="1325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 Rest API</a:t>
            </a:r>
            <a:endParaRPr lang="en-US" sz="1600" dirty="0"/>
          </a:p>
        </p:txBody>
      </p:sp>
      <p:sp>
        <p:nvSpPr>
          <p:cNvPr id="8" name="txt-52"/>
          <p:cNvSpPr txBox="1"/>
          <p:nvPr/>
        </p:nvSpPr>
        <p:spPr>
          <a:xfrm>
            <a:off x="6400800" y="132588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Sumber data di server</a:t>
            </a:r>
            <a:endParaRPr lang="en-US" sz="1500" dirty="0"/>
          </a:p>
        </p:txBody>
      </p:sp>
      <p:sp>
        <p:nvSpPr>
          <p:cNvPr id="9" name="arrow-53"/>
          <p:cNvSpPr/>
          <p:nvPr/>
        </p:nvSpPr>
        <p:spPr>
          <a:xfrm>
            <a:off x="3291840" y="2011680"/>
            <a:ext cx="0" cy="365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txt-54"/>
          <p:cNvSpPr txBox="1"/>
          <p:nvPr/>
        </p:nvSpPr>
        <p:spPr>
          <a:xfrm>
            <a:off x="3474720" y="2057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JSON String</a:t>
            </a:r>
            <a:endParaRPr lang="en-US" sz="1200" dirty="0"/>
          </a:p>
        </p:txBody>
      </p:sp>
      <p:sp>
        <p:nvSpPr>
          <p:cNvPr id="11" name="card-55"/>
          <p:cNvSpPr/>
          <p:nvPr/>
        </p:nvSpPr>
        <p:spPr>
          <a:xfrm>
            <a:off x="548640" y="2377440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2" name="ic-bg-56"/>
          <p:cNvSpPr/>
          <p:nvPr/>
        </p:nvSpPr>
        <p:spPr>
          <a:xfrm>
            <a:off x="731520" y="24688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c-57" descr="FaPlu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308" y="2604668"/>
            <a:ext cx="231343" cy="231343"/>
          </a:xfrm>
          <a:prstGeom prst="rect">
            <a:avLst/>
          </a:prstGeom>
        </p:spPr>
      </p:pic>
      <p:sp>
        <p:nvSpPr>
          <p:cNvPr id="14" name="txt-58"/>
          <p:cNvSpPr txBox="1"/>
          <p:nvPr/>
        </p:nvSpPr>
        <p:spPr>
          <a:xfrm>
            <a:off x="1417320" y="23774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DioService / ApiProvider</a:t>
            </a:r>
            <a:endParaRPr lang="en-US" sz="1600" dirty="0"/>
          </a:p>
        </p:txBody>
      </p:sp>
      <p:sp>
        <p:nvSpPr>
          <p:cNvPr id="15" name="txt-59"/>
          <p:cNvSpPr txBox="1"/>
          <p:nvPr/>
        </p:nvSpPr>
        <p:spPr>
          <a:xfrm>
            <a:off x="6400800" y="237744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Handle BaseURL, Header, Interceptor</a:t>
            </a:r>
            <a:endParaRPr lang="en-US" sz="1500" dirty="0"/>
          </a:p>
        </p:txBody>
      </p:sp>
      <p:sp>
        <p:nvSpPr>
          <p:cNvPr id="16" name="arrow-60"/>
          <p:cNvSpPr/>
          <p:nvPr/>
        </p:nvSpPr>
        <p:spPr>
          <a:xfrm>
            <a:off x="3291840" y="3063240"/>
            <a:ext cx="0" cy="365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7" name="txt-61"/>
          <p:cNvSpPr txBox="1"/>
          <p:nvPr/>
        </p:nvSpPr>
        <p:spPr>
          <a:xfrm>
            <a:off x="3474720" y="31089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Map Data</a:t>
            </a:r>
            <a:endParaRPr lang="en-US" sz="1200" dirty="0"/>
          </a:p>
        </p:txBody>
      </p:sp>
      <p:sp>
        <p:nvSpPr>
          <p:cNvPr id="18" name="card-62"/>
          <p:cNvSpPr/>
          <p:nvPr/>
        </p:nvSpPr>
        <p:spPr>
          <a:xfrm>
            <a:off x="548640" y="3429000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9" name="ic-bg-63"/>
          <p:cNvSpPr/>
          <p:nvPr/>
        </p:nvSpPr>
        <p:spPr>
          <a:xfrm>
            <a:off x="731520" y="3520440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0" name="ic-64" descr="FaCog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308" y="3656228"/>
            <a:ext cx="231343" cy="231343"/>
          </a:xfrm>
          <a:prstGeom prst="rect">
            <a:avLst/>
          </a:prstGeom>
        </p:spPr>
      </p:pic>
      <p:sp>
        <p:nvSpPr>
          <p:cNvPr id="21" name="txt-65"/>
          <p:cNvSpPr txBox="1"/>
          <p:nvPr/>
        </p:nvSpPr>
        <p:spPr>
          <a:xfrm>
            <a:off x="1417320" y="34290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ProductModel.fromJson()</a:t>
            </a:r>
            <a:endParaRPr lang="en-US" sz="1600" dirty="0"/>
          </a:p>
        </p:txBody>
      </p:sp>
      <p:sp>
        <p:nvSpPr>
          <p:cNvPr id="22" name="txt-66"/>
          <p:cNvSpPr txBox="1"/>
          <p:nvPr/>
        </p:nvSpPr>
        <p:spPr>
          <a:xfrm>
            <a:off x="6400800" y="34290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Mengubah JSON ke Objek Dart Type-Safe</a:t>
            </a:r>
            <a:endParaRPr lang="en-US" sz="1500" dirty="0"/>
          </a:p>
        </p:txBody>
      </p:sp>
      <p:sp>
        <p:nvSpPr>
          <p:cNvPr id="23" name="arrow-67"/>
          <p:cNvSpPr/>
          <p:nvPr/>
        </p:nvSpPr>
        <p:spPr>
          <a:xfrm>
            <a:off x="3291840" y="4114800"/>
            <a:ext cx="0" cy="365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4" name="txt-68"/>
          <p:cNvSpPr txBox="1"/>
          <p:nvPr/>
        </p:nvSpPr>
        <p:spPr>
          <a:xfrm>
            <a:off x="34747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List&lt;ProductModel&gt;</a:t>
            </a:r>
            <a:endParaRPr lang="en-US" sz="1200" dirty="0"/>
          </a:p>
        </p:txBody>
      </p:sp>
      <p:sp>
        <p:nvSpPr>
          <p:cNvPr id="25" name="card-69"/>
          <p:cNvSpPr/>
          <p:nvPr/>
        </p:nvSpPr>
        <p:spPr>
          <a:xfrm>
            <a:off x="548640" y="4480560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ic-bg-70"/>
          <p:cNvSpPr/>
          <p:nvPr/>
        </p:nvSpPr>
        <p:spPr>
          <a:xfrm>
            <a:off x="731520" y="45720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7" name="ic-71" descr="FaProjectDiagra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308" y="4707788"/>
            <a:ext cx="231343" cy="231343"/>
          </a:xfrm>
          <a:prstGeom prst="rect">
            <a:avLst/>
          </a:prstGeom>
        </p:spPr>
      </p:pic>
      <p:sp>
        <p:nvSpPr>
          <p:cNvPr id="28" name="txt-72"/>
          <p:cNvSpPr txBox="1"/>
          <p:nvPr/>
        </p:nvSpPr>
        <p:spPr>
          <a:xfrm>
            <a:off x="1417320" y="44805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HomeController (ViewModel)</a:t>
            </a:r>
            <a:endParaRPr lang="en-US" sz="1600" dirty="0"/>
          </a:p>
        </p:txBody>
      </p:sp>
      <p:sp>
        <p:nvSpPr>
          <p:cNvPr id="29" name="txt-73"/>
          <p:cNvSpPr txBox="1"/>
          <p:nvPr/>
        </p:nvSpPr>
        <p:spPr>
          <a:xfrm>
            <a:off x="6400800" y="448056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Menyimpan ke RxList&lt;ProductModel&gt;</a:t>
            </a:r>
            <a:endParaRPr lang="en-US" sz="1500" dirty="0"/>
          </a:p>
        </p:txBody>
      </p:sp>
      <p:sp>
        <p:nvSpPr>
          <p:cNvPr id="30" name="arrow-74"/>
          <p:cNvSpPr/>
          <p:nvPr/>
        </p:nvSpPr>
        <p:spPr>
          <a:xfrm>
            <a:off x="3291840" y="5166360"/>
            <a:ext cx="0" cy="365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txt-75"/>
          <p:cNvSpPr txBox="1"/>
          <p:nvPr/>
        </p:nvSpPr>
        <p:spPr>
          <a:xfrm>
            <a:off x="3474720" y="5212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Data Reaktif</a:t>
            </a:r>
            <a:endParaRPr lang="en-US" sz="1200" dirty="0"/>
          </a:p>
        </p:txBody>
      </p:sp>
      <p:sp>
        <p:nvSpPr>
          <p:cNvPr id="32" name="card-76"/>
          <p:cNvSpPr/>
          <p:nvPr/>
        </p:nvSpPr>
        <p:spPr>
          <a:xfrm>
            <a:off x="548640" y="5532120"/>
            <a:ext cx="54864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3" name="ic-bg-77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4" name="ic-78" descr="FaMobileAl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7308" y="5759348"/>
            <a:ext cx="231343" cy="231343"/>
          </a:xfrm>
          <a:prstGeom prst="rect">
            <a:avLst/>
          </a:prstGeom>
        </p:spPr>
      </p:pic>
      <p:sp>
        <p:nvSpPr>
          <p:cNvPr id="35" name="txt-79"/>
          <p:cNvSpPr txBox="1"/>
          <p:nvPr/>
        </p:nvSpPr>
        <p:spPr>
          <a:xfrm>
            <a:off x="1417320" y="55321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HomeView (Obx GridView)</a:t>
            </a:r>
            <a:endParaRPr lang="en-US" sz="1600" dirty="0"/>
          </a:p>
        </p:txBody>
      </p:sp>
      <p:sp>
        <p:nvSpPr>
          <p:cNvPr id="36" name="txt-80"/>
          <p:cNvSpPr txBox="1"/>
          <p:nvPr/>
        </p:nvSpPr>
        <p:spPr>
          <a:xfrm>
            <a:off x="6400800" y="55321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Menampilkan Katalog Produk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Serialisasi Data: Mencegah Error Salah Ketik Key</a:t>
            </a:r>
            <a:endParaRPr lang="en-US" sz="2800" dirty="0"/>
          </a:p>
        </p:txBody>
      </p:sp>
      <p:sp>
        <p:nvSpPr>
          <p:cNvPr id="4" name="txt-81"/>
          <p:cNvSpPr txBox="1"/>
          <p:nvPr/>
        </p:nvSpPr>
        <p:spPr>
          <a:xfrm>
            <a:off x="548640" y="1325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JSON dari Server</a:t>
            </a:r>
            <a:endParaRPr lang="en-US" sz="1800" dirty="0"/>
          </a:p>
        </p:txBody>
      </p:sp>
      <p:sp>
        <p:nvSpPr>
          <p:cNvPr id="5" name="card-82"/>
          <p:cNvSpPr/>
          <p:nvPr/>
        </p:nvSpPr>
        <p:spPr>
          <a:xfrm>
            <a:off x="548640" y="1828800"/>
            <a:ext cx="42062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code-83"/>
          <p:cNvSpPr txBox="1"/>
          <p:nvPr/>
        </p:nvSpPr>
        <p:spPr>
          <a:xfrm>
            <a:off x="548640" y="1828800"/>
            <a:ext cx="4206240" cy="3200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"shoe-101",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"Air Jordan High Retro",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2899000,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"in_stock": true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arrow-84"/>
          <p:cNvSpPr/>
          <p:nvPr/>
        </p:nvSpPr>
        <p:spPr>
          <a:xfrm>
            <a:off x="4937760" y="3246120"/>
            <a:ext cx="274320" cy="457200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8" name="txt-85"/>
          <p:cNvSpPr txBox="1"/>
          <p:nvPr/>
        </p:nvSpPr>
        <p:spPr>
          <a:xfrm>
            <a:off x="5394960" y="1325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Dart Model</a:t>
            </a:r>
            <a:endParaRPr lang="en-US" sz="1800" dirty="0"/>
          </a:p>
        </p:txBody>
      </p:sp>
      <p:sp>
        <p:nvSpPr>
          <p:cNvPr id="9" name="card-86"/>
          <p:cNvSpPr/>
          <p:nvPr/>
        </p:nvSpPr>
        <p:spPr>
          <a:xfrm>
            <a:off x="5394960" y="1828800"/>
            <a:ext cx="621792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code-87"/>
          <p:cNvSpPr txBox="1"/>
          <p:nvPr/>
        </p:nvSpPr>
        <p:spPr>
          <a:xfrm>
            <a:off x="5394960" y="1828800"/>
            <a:ext cx="6217920" cy="3200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ProductModel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id;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String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int price;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bool inStock;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ProductModel.fromJson(Map&lt;String, dynamic&gt; json)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: id = json['id'],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 = json['name'],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price = json['price'],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inStock = json['in_stock'];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card-88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14118"/>
            </a:avLst>
          </a:prstGeom>
          <a:solidFill>
            <a:schemeClr val="accent1">
              <a:alpha val="8000"/>
            </a:schemeClr>
          </a:solidFill>
          <a:ln/>
        </p:spPr>
      </p:sp>
      <p:pic>
        <p:nvPicPr>
          <p:cNvPr id="12" name="ic-89" descr="FaShield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550408"/>
            <a:ext cx="292608" cy="292608"/>
          </a:xfrm>
          <a:prstGeom prst="rect">
            <a:avLst/>
          </a:prstGeom>
        </p:spPr>
      </p:pic>
      <p:sp>
        <p:nvSpPr>
          <p:cNvPr id="13" name="txt-90"/>
          <p:cNvSpPr txBox="1"/>
          <p:nvPr/>
        </p:nvSpPr>
        <p:spPr>
          <a:xfrm>
            <a:off x="1325880" y="53035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Key JSON hanya diketik di satu tempat (fromJson). Selebihnya, seluruh aplikasi memakai properti ber-type kuat.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Interceptor: "Satpam Pemeriksa" di Gerbang Request &amp; Response</a:t>
            </a:r>
            <a:endParaRPr lang="en-US" sz="2800" dirty="0"/>
          </a:p>
        </p:txBody>
      </p:sp>
      <p:sp>
        <p:nvSpPr>
          <p:cNvPr id="4" name="card-91"/>
          <p:cNvSpPr/>
          <p:nvPr/>
        </p:nvSpPr>
        <p:spPr>
          <a:xfrm>
            <a:off x="548640" y="1325880"/>
            <a:ext cx="3200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ic-bg-92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6" name="ic-93" descr="FaMob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252374" cy="252374"/>
          </a:xfrm>
          <a:prstGeom prst="rect">
            <a:avLst/>
          </a:prstGeom>
        </p:spPr>
      </p:pic>
      <p:sp>
        <p:nvSpPr>
          <p:cNvPr id="7" name="txt-94"/>
          <p:cNvSpPr txBox="1"/>
          <p:nvPr/>
        </p:nvSpPr>
        <p:spPr>
          <a:xfrm>
            <a:off x="1508760" y="1325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Request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dari aplikasi</a:t>
            </a:r>
            <a:endParaRPr lang="en-US" sz="1800" dirty="0"/>
          </a:p>
        </p:txBody>
      </p:sp>
      <p:sp>
        <p:nvSpPr>
          <p:cNvPr id="8" name="arrow-95"/>
          <p:cNvSpPr/>
          <p:nvPr/>
        </p:nvSpPr>
        <p:spPr>
          <a:xfrm>
            <a:off x="3794760" y="192024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9" name="arrow-96"/>
          <p:cNvSpPr/>
          <p:nvPr/>
        </p:nvSpPr>
        <p:spPr>
          <a:xfrm>
            <a:off x="3794760" y="219456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headEnd type="triangle"/>
          </a:ln>
        </p:spPr>
      </p:sp>
      <p:sp>
        <p:nvSpPr>
          <p:cNvPr id="10" name="card-97"/>
          <p:cNvSpPr/>
          <p:nvPr/>
        </p:nvSpPr>
        <p:spPr>
          <a:xfrm>
            <a:off x="4480560" y="1325880"/>
            <a:ext cx="3200400" cy="1188720"/>
          </a:xfrm>
          <a:prstGeom prst="roundRect">
            <a:avLst>
              <a:gd name="adj" fmla="val 9231"/>
            </a:avLst>
          </a:prstGeom>
          <a:solidFill>
            <a:schemeClr val="accent4">
              <a:alpha val="12000"/>
            </a:schemeClr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ic-bg-98"/>
          <p:cNvSpPr/>
          <p:nvPr/>
        </p:nvSpPr>
        <p:spPr>
          <a:xfrm>
            <a:off x="4709160" y="164592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2" name="ic-99" descr="FaUserShie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293" y="1794053"/>
            <a:ext cx="252374" cy="252374"/>
          </a:xfrm>
          <a:prstGeom prst="rect">
            <a:avLst/>
          </a:prstGeom>
        </p:spPr>
      </p:pic>
      <p:sp>
        <p:nvSpPr>
          <p:cNvPr id="13" name="txt-100"/>
          <p:cNvSpPr txBox="1"/>
          <p:nvPr/>
        </p:nvSpPr>
        <p:spPr>
          <a:xfrm>
            <a:off x="5440680" y="1325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Interceptor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Satpam pemeriksa</a:t>
            </a:r>
            <a:endParaRPr lang="en-US" sz="1800" dirty="0"/>
          </a:p>
        </p:txBody>
      </p:sp>
      <p:sp>
        <p:nvSpPr>
          <p:cNvPr id="14" name="arrow-101"/>
          <p:cNvSpPr/>
          <p:nvPr/>
        </p:nvSpPr>
        <p:spPr>
          <a:xfrm>
            <a:off x="7726680" y="192024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arrow-102"/>
          <p:cNvSpPr/>
          <p:nvPr/>
        </p:nvSpPr>
        <p:spPr>
          <a:xfrm>
            <a:off x="7726680" y="2194560"/>
            <a:ext cx="64008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olid"/>
            <a:headEnd type="triangle"/>
          </a:ln>
        </p:spPr>
      </p:sp>
      <p:sp>
        <p:nvSpPr>
          <p:cNvPr id="16" name="card-103"/>
          <p:cNvSpPr/>
          <p:nvPr/>
        </p:nvSpPr>
        <p:spPr>
          <a:xfrm>
            <a:off x="8412480" y="1325880"/>
            <a:ext cx="320040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ic-bg-104"/>
          <p:cNvSpPr/>
          <p:nvPr/>
        </p:nvSpPr>
        <p:spPr>
          <a:xfrm>
            <a:off x="8641080" y="164592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8" name="ic-105" descr="FaServ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9213" y="1794053"/>
            <a:ext cx="252374" cy="252374"/>
          </a:xfrm>
          <a:prstGeom prst="rect">
            <a:avLst/>
          </a:prstGeom>
        </p:spPr>
      </p:pic>
      <p:sp>
        <p:nvSpPr>
          <p:cNvPr id="19" name="txt-106"/>
          <p:cNvSpPr txBox="1"/>
          <p:nvPr/>
        </p:nvSpPr>
        <p:spPr>
          <a:xfrm>
            <a:off x="9372600" y="13258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Server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Rest API</a:t>
            </a:r>
            <a:endParaRPr lang="en-US" sz="1800" dirty="0"/>
          </a:p>
        </p:txBody>
      </p:sp>
      <p:sp>
        <p:nvSpPr>
          <p:cNvPr id="20" name="card-107"/>
          <p:cNvSpPr/>
          <p:nvPr/>
        </p:nvSpPr>
        <p:spPr>
          <a:xfrm>
            <a:off x="54864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ic-bg-108"/>
          <p:cNvSpPr/>
          <p:nvPr/>
        </p:nvSpPr>
        <p:spPr>
          <a:xfrm>
            <a:off x="822960" y="310896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2" name="ic-109" descr="FaKey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2" y="3281782"/>
            <a:ext cx="294437" cy="294437"/>
          </a:xfrm>
          <a:prstGeom prst="rect">
            <a:avLst/>
          </a:prstGeom>
        </p:spPr>
      </p:pic>
      <p:sp>
        <p:nvSpPr>
          <p:cNvPr id="23" name="txt-110"/>
          <p:cNvSpPr txBox="1"/>
          <p:nvPr/>
        </p:nvSpPr>
        <p:spPr>
          <a:xfrm>
            <a:off x="16459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FUNGSI 1</a:t>
            </a:r>
            <a:endParaRPr lang="en-US" sz="1100" dirty="0"/>
          </a:p>
        </p:txBody>
      </p:sp>
      <p:sp>
        <p:nvSpPr>
          <p:cNvPr id="24" name="txt-111"/>
          <p:cNvSpPr txBox="1"/>
          <p:nvPr/>
        </p:nvSpPr>
        <p:spPr>
          <a:xfrm>
            <a:off x="8229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Otomasi Auth Token</a:t>
            </a:r>
            <a:endParaRPr lang="en-US" sz="1800" dirty="0"/>
          </a:p>
        </p:txBody>
      </p:sp>
      <p:sp>
        <p:nvSpPr>
          <p:cNvPr id="25" name="txt-112"/>
          <p:cNvSpPr txBox="1"/>
          <p:nvPr/>
        </p:nvSpPr>
        <p:spPr>
          <a:xfrm>
            <a:off x="82296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Menempelkan Authorization: Bearer &lt;TOKEN&gt; secara otomatis di setiap request tanpa repot mengetik ulang.</a:t>
            </a:r>
            <a:endParaRPr lang="en-US" sz="1400" dirty="0"/>
          </a:p>
        </p:txBody>
      </p:sp>
      <p:sp>
        <p:nvSpPr>
          <p:cNvPr id="26" name="card-113"/>
          <p:cNvSpPr/>
          <p:nvPr/>
        </p:nvSpPr>
        <p:spPr>
          <a:xfrm>
            <a:off x="432054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7" name="ic-bg-114"/>
          <p:cNvSpPr/>
          <p:nvPr/>
        </p:nvSpPr>
        <p:spPr>
          <a:xfrm>
            <a:off x="4594860" y="310896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8" name="ic-115" descr="FaBu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7682" y="3281782"/>
            <a:ext cx="294437" cy="294437"/>
          </a:xfrm>
          <a:prstGeom prst="rect">
            <a:avLst/>
          </a:prstGeom>
        </p:spPr>
      </p:pic>
      <p:sp>
        <p:nvSpPr>
          <p:cNvPr id="29" name="txt-116"/>
          <p:cNvSpPr txBox="1"/>
          <p:nvPr/>
        </p:nvSpPr>
        <p:spPr>
          <a:xfrm>
            <a:off x="54178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FUNGSI 2</a:t>
            </a:r>
            <a:endParaRPr lang="en-US" sz="1100" dirty="0"/>
          </a:p>
        </p:txBody>
      </p:sp>
      <p:sp>
        <p:nvSpPr>
          <p:cNvPr id="30" name="txt-117"/>
          <p:cNvSpPr txBox="1"/>
          <p:nvPr/>
        </p:nvSpPr>
        <p:spPr>
          <a:xfrm>
            <a:off x="45948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Logging Debugger</a:t>
            </a:r>
            <a:endParaRPr lang="en-US" sz="1800" dirty="0"/>
          </a:p>
        </p:txBody>
      </p:sp>
      <p:sp>
        <p:nvSpPr>
          <p:cNvPr id="31" name="txt-118"/>
          <p:cNvSpPr txBox="1"/>
          <p:nvPr/>
        </p:nvSpPr>
        <p:spPr>
          <a:xfrm>
            <a:off x="459486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Mencetak URL request dan response code ke console terminal.</a:t>
            </a:r>
            <a:endParaRPr lang="en-US" sz="1400" dirty="0"/>
          </a:p>
        </p:txBody>
      </p:sp>
      <p:sp>
        <p:nvSpPr>
          <p:cNvPr id="32" name="card-119"/>
          <p:cNvSpPr/>
          <p:nvPr/>
        </p:nvSpPr>
        <p:spPr>
          <a:xfrm>
            <a:off x="8092440" y="2834640"/>
            <a:ext cx="352044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3" name="ic-bg-120"/>
          <p:cNvSpPr/>
          <p:nvPr/>
        </p:nvSpPr>
        <p:spPr>
          <a:xfrm>
            <a:off x="8366760" y="310896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pic>
        <p:nvPicPr>
          <p:cNvPr id="34" name="ic-121" descr="FaSignOutA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9582" y="3281782"/>
            <a:ext cx="294437" cy="294437"/>
          </a:xfrm>
          <a:prstGeom prst="rect">
            <a:avLst/>
          </a:prstGeom>
        </p:spPr>
      </p:pic>
      <p:sp>
        <p:nvSpPr>
          <p:cNvPr id="35" name="txt-122"/>
          <p:cNvSpPr txBox="1"/>
          <p:nvPr/>
        </p:nvSpPr>
        <p:spPr>
          <a:xfrm>
            <a:off x="91897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6"/>
                </a:solidFill>
              </a:rPr>
              <a:t>FUNGSI 3</a:t>
            </a:r>
            <a:endParaRPr lang="en-US" sz="1100" dirty="0"/>
          </a:p>
        </p:txBody>
      </p:sp>
      <p:sp>
        <p:nvSpPr>
          <p:cNvPr id="36" name="txt-123"/>
          <p:cNvSpPr txBox="1"/>
          <p:nvPr/>
        </p:nvSpPr>
        <p:spPr>
          <a:xfrm>
            <a:off x="8366760" y="3931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Global Error Catching</a:t>
            </a:r>
            <a:endParaRPr lang="en-US" sz="1800" dirty="0"/>
          </a:p>
        </p:txBody>
      </p:sp>
      <p:sp>
        <p:nvSpPr>
          <p:cNvPr id="37" name="txt-124"/>
          <p:cNvSpPr txBox="1"/>
          <p:nvPr/>
        </p:nvSpPr>
        <p:spPr>
          <a:xfrm>
            <a:off x="8366760" y="438912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Jika server mengembalikan 401 Unauthorized (token kadaluarsa), interceptor langsung otomatis logout ke layar login!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4 Kondisi Antarmuka yang Wajib Dibuat Developer Pro</a:t>
            </a:r>
            <a:endParaRPr lang="en-US" sz="2800" dirty="0"/>
          </a:p>
        </p:txBody>
      </p:sp>
      <p:sp>
        <p:nvSpPr>
          <p:cNvPr id="4" name="card-125"/>
          <p:cNvSpPr/>
          <p:nvPr/>
        </p:nvSpPr>
        <p:spPr>
          <a:xfrm>
            <a:off x="548640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chip-126"/>
          <p:cNvSpPr/>
          <p:nvPr/>
        </p:nvSpPr>
        <p:spPr>
          <a:xfrm>
            <a:off x="777240" y="1600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6" name="txt-127"/>
          <p:cNvSpPr txBox="1"/>
          <p:nvPr/>
        </p:nvSpPr>
        <p:spPr>
          <a:xfrm>
            <a:off x="777240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STATE 1</a:t>
            </a:r>
            <a:endParaRPr lang="en-US" sz="1200" dirty="0"/>
          </a:p>
        </p:txBody>
      </p:sp>
      <p:sp>
        <p:nvSpPr>
          <p:cNvPr id="7" name="txt-128"/>
          <p:cNvSpPr txBox="1"/>
          <p:nvPr/>
        </p:nvSpPr>
        <p:spPr>
          <a:xfrm>
            <a:off x="77724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Loading</a:t>
            </a:r>
            <a:endParaRPr lang="en-US" sz="2200" dirty="0"/>
          </a:p>
        </p:txBody>
      </p:sp>
      <p:sp>
        <p:nvSpPr>
          <p:cNvPr id="8" name="card-129"/>
          <p:cNvSpPr/>
          <p:nvPr/>
        </p:nvSpPr>
        <p:spPr>
          <a:xfrm>
            <a:off x="777240" y="2697480"/>
            <a:ext cx="21488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kel-130"/>
          <p:cNvSpPr/>
          <p:nvPr/>
        </p:nvSpPr>
        <p:spPr>
          <a:xfrm>
            <a:off x="960120" y="288036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E2E8F0"/>
          </a:solidFill>
          <a:ln/>
        </p:spPr>
      </p:sp>
      <p:sp>
        <p:nvSpPr>
          <p:cNvPr id="10" name="skel-131"/>
          <p:cNvSpPr/>
          <p:nvPr/>
        </p:nvSpPr>
        <p:spPr>
          <a:xfrm>
            <a:off x="960120" y="3657600"/>
            <a:ext cx="1280160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/>
        </p:spPr>
      </p:sp>
      <p:sp>
        <p:nvSpPr>
          <p:cNvPr id="11" name="skel-132"/>
          <p:cNvSpPr/>
          <p:nvPr/>
        </p:nvSpPr>
        <p:spPr>
          <a:xfrm>
            <a:off x="960120" y="3904488"/>
            <a:ext cx="822960" cy="164592"/>
          </a:xfrm>
          <a:prstGeom prst="roundRect">
            <a:avLst>
              <a:gd name="adj" fmla="val 44444"/>
            </a:avLst>
          </a:prstGeom>
          <a:solidFill>
            <a:srgbClr val="E2E8F0"/>
          </a:solidFill>
          <a:ln/>
        </p:spPr>
      </p:sp>
      <p:sp>
        <p:nvSpPr>
          <p:cNvPr id="12" name="txt-133"/>
          <p:cNvSpPr txBox="1"/>
          <p:nvPr/>
        </p:nvSpPr>
        <p:spPr>
          <a:xfrm>
            <a:off x="777240" y="4434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Tampilkan skeleton shimmer (bukan layar hitam!).</a:t>
            </a:r>
            <a:endParaRPr lang="en-US" sz="1500" dirty="0"/>
          </a:p>
        </p:txBody>
      </p:sp>
      <p:sp>
        <p:nvSpPr>
          <p:cNvPr id="13" name="card-134"/>
          <p:cNvSpPr/>
          <p:nvPr/>
        </p:nvSpPr>
        <p:spPr>
          <a:xfrm>
            <a:off x="3364992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chip-135"/>
          <p:cNvSpPr/>
          <p:nvPr/>
        </p:nvSpPr>
        <p:spPr>
          <a:xfrm>
            <a:off x="3593592" y="1600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5" name="txt-136"/>
          <p:cNvSpPr txBox="1"/>
          <p:nvPr/>
        </p:nvSpPr>
        <p:spPr>
          <a:xfrm>
            <a:off x="3593592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STATE 2</a:t>
            </a:r>
            <a:endParaRPr lang="en-US" sz="1200" dirty="0"/>
          </a:p>
        </p:txBody>
      </p:sp>
      <p:sp>
        <p:nvSpPr>
          <p:cNvPr id="16" name="txt-137"/>
          <p:cNvSpPr txBox="1"/>
          <p:nvPr/>
        </p:nvSpPr>
        <p:spPr>
          <a:xfrm>
            <a:off x="3593592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Empty</a:t>
            </a:r>
            <a:endParaRPr lang="en-US" sz="2200" dirty="0"/>
          </a:p>
        </p:txBody>
      </p:sp>
      <p:sp>
        <p:nvSpPr>
          <p:cNvPr id="17" name="card-138"/>
          <p:cNvSpPr/>
          <p:nvPr/>
        </p:nvSpPr>
        <p:spPr>
          <a:xfrm>
            <a:off x="3593592" y="2697480"/>
            <a:ext cx="21488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18" name="ic-139" descr="FaBoxOp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9392" y="3017520"/>
            <a:ext cx="777240" cy="777240"/>
          </a:xfrm>
          <a:prstGeom prst="rect">
            <a:avLst/>
          </a:prstGeom>
        </p:spPr>
      </p:pic>
      <p:sp>
        <p:nvSpPr>
          <p:cNvPr id="19" name="txt-140"/>
          <p:cNvSpPr txBox="1"/>
          <p:nvPr/>
        </p:nvSpPr>
        <p:spPr>
          <a:xfrm>
            <a:off x="3593592" y="38404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Belum ada produk</a:t>
            </a:r>
            <a:endParaRPr lang="en-US" sz="1200" dirty="0"/>
          </a:p>
        </p:txBody>
      </p:sp>
      <p:sp>
        <p:nvSpPr>
          <p:cNvPr id="20" name="txt-141"/>
          <p:cNvSpPr txBox="1"/>
          <p:nvPr/>
        </p:nvSpPr>
        <p:spPr>
          <a:xfrm>
            <a:off x="3593592" y="4434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Tampilkan ilustrasi kosong jika produk belum ada.</a:t>
            </a:r>
            <a:endParaRPr lang="en-US" sz="1500" dirty="0"/>
          </a:p>
        </p:txBody>
      </p:sp>
      <p:sp>
        <p:nvSpPr>
          <p:cNvPr id="21" name="card-142"/>
          <p:cNvSpPr/>
          <p:nvPr/>
        </p:nvSpPr>
        <p:spPr>
          <a:xfrm>
            <a:off x="6181344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2" name="chip-143"/>
          <p:cNvSpPr/>
          <p:nvPr/>
        </p:nvSpPr>
        <p:spPr>
          <a:xfrm>
            <a:off x="6409944" y="1600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/>
        </p:spPr>
      </p:sp>
      <p:sp>
        <p:nvSpPr>
          <p:cNvPr id="23" name="txt-144"/>
          <p:cNvSpPr txBox="1"/>
          <p:nvPr/>
        </p:nvSpPr>
        <p:spPr>
          <a:xfrm>
            <a:off x="6409944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STATE 3</a:t>
            </a:r>
            <a:endParaRPr lang="en-US" sz="1200" dirty="0"/>
          </a:p>
        </p:txBody>
      </p:sp>
      <p:sp>
        <p:nvSpPr>
          <p:cNvPr id="24" name="txt-145"/>
          <p:cNvSpPr txBox="1"/>
          <p:nvPr/>
        </p:nvSpPr>
        <p:spPr>
          <a:xfrm>
            <a:off x="6409944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Error</a:t>
            </a:r>
            <a:endParaRPr lang="en-US" sz="2200" dirty="0"/>
          </a:p>
        </p:txBody>
      </p:sp>
      <p:sp>
        <p:nvSpPr>
          <p:cNvPr id="25" name="card-146"/>
          <p:cNvSpPr/>
          <p:nvPr/>
        </p:nvSpPr>
        <p:spPr>
          <a:xfrm>
            <a:off x="6409944" y="2697480"/>
            <a:ext cx="21488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26" name="ic-147" descr="FaWif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4" y="2834640"/>
            <a:ext cx="640080" cy="640080"/>
          </a:xfrm>
          <a:prstGeom prst="rect">
            <a:avLst/>
          </a:prstGeom>
        </p:spPr>
      </p:pic>
      <p:sp>
        <p:nvSpPr>
          <p:cNvPr id="27" name="chip-148"/>
          <p:cNvSpPr/>
          <p:nvPr/>
        </p:nvSpPr>
        <p:spPr>
          <a:xfrm>
            <a:off x="6958584" y="3611880"/>
            <a:ext cx="105156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8" name="txt-149"/>
          <p:cNvSpPr txBox="1"/>
          <p:nvPr/>
        </p:nvSpPr>
        <p:spPr>
          <a:xfrm>
            <a:off x="6958584" y="361188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Coba Lagi</a:t>
            </a:r>
            <a:endParaRPr lang="en-US" sz="1200" dirty="0"/>
          </a:p>
        </p:txBody>
      </p:sp>
      <p:sp>
        <p:nvSpPr>
          <p:cNvPr id="29" name="txt-150"/>
          <p:cNvSpPr txBox="1"/>
          <p:nvPr/>
        </p:nvSpPr>
        <p:spPr>
          <a:xfrm>
            <a:off x="6409944" y="4434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Tampilkan tombol "Coba Lagi" jika internet mati.</a:t>
            </a:r>
            <a:endParaRPr lang="en-US" sz="1500" dirty="0"/>
          </a:p>
        </p:txBody>
      </p:sp>
      <p:sp>
        <p:nvSpPr>
          <p:cNvPr id="30" name="card-151"/>
          <p:cNvSpPr/>
          <p:nvPr/>
        </p:nvSpPr>
        <p:spPr>
          <a:xfrm>
            <a:off x="8997696" y="1371600"/>
            <a:ext cx="2606040" cy="475488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31" name="chip-152"/>
          <p:cNvSpPr/>
          <p:nvPr/>
        </p:nvSpPr>
        <p:spPr>
          <a:xfrm>
            <a:off x="9226296" y="160020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32" name="txt-153"/>
          <p:cNvSpPr txBox="1"/>
          <p:nvPr/>
        </p:nvSpPr>
        <p:spPr>
          <a:xfrm>
            <a:off x="9226296" y="16002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STATE 4</a:t>
            </a:r>
            <a:endParaRPr lang="en-US" sz="1200" dirty="0"/>
          </a:p>
        </p:txBody>
      </p:sp>
      <p:sp>
        <p:nvSpPr>
          <p:cNvPr id="33" name="txt-154"/>
          <p:cNvSpPr txBox="1"/>
          <p:nvPr/>
        </p:nvSpPr>
        <p:spPr>
          <a:xfrm>
            <a:off x="9226296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Success</a:t>
            </a:r>
            <a:endParaRPr lang="en-US" sz="2200" dirty="0"/>
          </a:p>
        </p:txBody>
      </p:sp>
      <p:sp>
        <p:nvSpPr>
          <p:cNvPr id="34" name="card-155"/>
          <p:cNvSpPr/>
          <p:nvPr/>
        </p:nvSpPr>
        <p:spPr>
          <a:xfrm>
            <a:off x="9226296" y="2697480"/>
            <a:ext cx="2148840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grid-156"/>
          <p:cNvSpPr/>
          <p:nvPr/>
        </p:nvSpPr>
        <p:spPr>
          <a:xfrm>
            <a:off x="9409176" y="2852928"/>
            <a:ext cx="822960" cy="530352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/>
        </p:spPr>
      </p:sp>
      <p:sp>
        <p:nvSpPr>
          <p:cNvPr id="36" name="grid-157"/>
          <p:cNvSpPr/>
          <p:nvPr/>
        </p:nvSpPr>
        <p:spPr>
          <a:xfrm>
            <a:off x="10323576" y="2852928"/>
            <a:ext cx="822960" cy="530352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/>
        </p:spPr>
      </p:sp>
      <p:sp>
        <p:nvSpPr>
          <p:cNvPr id="37" name="grid-158"/>
          <p:cNvSpPr/>
          <p:nvPr/>
        </p:nvSpPr>
        <p:spPr>
          <a:xfrm>
            <a:off x="9409176" y="3474720"/>
            <a:ext cx="822960" cy="530352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/>
        </p:spPr>
      </p:sp>
      <p:sp>
        <p:nvSpPr>
          <p:cNvPr id="38" name="grid-159"/>
          <p:cNvSpPr/>
          <p:nvPr/>
        </p:nvSpPr>
        <p:spPr>
          <a:xfrm>
            <a:off x="10323576" y="3474720"/>
            <a:ext cx="822960" cy="530352"/>
          </a:xfrm>
          <a:prstGeom prst="roundRect">
            <a:avLst>
              <a:gd name="adj" fmla="val 10345"/>
            </a:avLst>
          </a:prstGeom>
          <a:solidFill>
            <a:schemeClr val="accent5"/>
          </a:solidFill>
          <a:ln/>
        </p:spPr>
      </p:sp>
      <p:sp>
        <p:nvSpPr>
          <p:cNvPr id="39" name="txt-160"/>
          <p:cNvSpPr txBox="1"/>
          <p:nvPr/>
        </p:nvSpPr>
        <p:spPr>
          <a:xfrm>
            <a:off x="9226296" y="443484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Tampilkan Grid produk secara estetik.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Shimmer Loading: Mengapa Tidak Pakai CircularProgressIndicator Biasa?</a:t>
            </a:r>
            <a:endParaRPr lang="en-US" sz="2800" dirty="0"/>
          </a:p>
        </p:txBody>
      </p:sp>
      <p:sp>
        <p:nvSpPr>
          <p:cNvPr id="4" name="card-161"/>
          <p:cNvSpPr/>
          <p:nvPr/>
        </p:nvSpPr>
        <p:spPr>
          <a:xfrm>
            <a:off x="54864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accent3">
              <a:alpha val="7000"/>
            </a:schemeClr>
          </a:solidFill>
          <a:ln/>
        </p:spPr>
      </p:sp>
      <p:pic>
        <p:nvPicPr>
          <p:cNvPr id="5" name="ic-162" descr="FaSpinn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822960" cy="822960"/>
          </a:xfrm>
          <a:prstGeom prst="rect">
            <a:avLst/>
          </a:prstGeom>
        </p:spPr>
      </p:pic>
      <p:sp>
        <p:nvSpPr>
          <p:cNvPr id="6" name="txt-163"/>
          <p:cNvSpPr txBox="1"/>
          <p:nvPr/>
        </p:nvSpPr>
        <p:spPr>
          <a:xfrm>
            <a:off x="2011680" y="14630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Spinner Biasa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Circular spinner biasa membuat user merasa menunggu lama dan bosan.</a:t>
            </a:r>
            <a:endParaRPr lang="en-US" sz="1700" dirty="0"/>
          </a:p>
        </p:txBody>
      </p:sp>
      <p:sp>
        <p:nvSpPr>
          <p:cNvPr id="7" name="card-164"/>
          <p:cNvSpPr/>
          <p:nvPr/>
        </p:nvSpPr>
        <p:spPr>
          <a:xfrm>
            <a:off x="6172200" y="1371600"/>
            <a:ext cx="5440680" cy="2377440"/>
          </a:xfrm>
          <a:prstGeom prst="roundRect">
            <a:avLst>
              <a:gd name="adj" fmla="val 4615"/>
            </a:avLst>
          </a:prstGeom>
          <a:solidFill>
            <a:schemeClr val="accent2">
              <a:alpha val="7000"/>
            </a:schemeClr>
          </a:solidFill>
          <a:ln/>
        </p:spPr>
      </p:sp>
      <p:sp>
        <p:nvSpPr>
          <p:cNvPr id="8" name="skel-165"/>
          <p:cNvSpPr/>
          <p:nvPr/>
        </p:nvSpPr>
        <p:spPr>
          <a:xfrm>
            <a:off x="6446520" y="169164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E2E8F0"/>
          </a:solidFill>
          <a:ln/>
        </p:spPr>
      </p:sp>
      <p:sp>
        <p:nvSpPr>
          <p:cNvPr id="9" name="skel-166"/>
          <p:cNvSpPr/>
          <p:nvPr/>
        </p:nvSpPr>
        <p:spPr>
          <a:xfrm>
            <a:off x="6446520" y="265176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0" name="skel-167"/>
          <p:cNvSpPr/>
          <p:nvPr/>
        </p:nvSpPr>
        <p:spPr>
          <a:xfrm>
            <a:off x="6446520" y="2871216"/>
            <a:ext cx="594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1" name="skel-168"/>
          <p:cNvSpPr/>
          <p:nvPr/>
        </p:nvSpPr>
        <p:spPr>
          <a:xfrm>
            <a:off x="7498080" y="1691640"/>
            <a:ext cx="914400" cy="868680"/>
          </a:xfrm>
          <a:prstGeom prst="roundRect">
            <a:avLst>
              <a:gd name="adj" fmla="val 8421"/>
            </a:avLst>
          </a:prstGeom>
          <a:solidFill>
            <a:srgbClr val="E2E8F0"/>
          </a:solidFill>
          <a:ln/>
        </p:spPr>
      </p:sp>
      <p:sp>
        <p:nvSpPr>
          <p:cNvPr id="12" name="skel-169"/>
          <p:cNvSpPr/>
          <p:nvPr/>
        </p:nvSpPr>
        <p:spPr>
          <a:xfrm>
            <a:off x="7498080" y="2651760"/>
            <a:ext cx="91440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3" name="skel-170"/>
          <p:cNvSpPr/>
          <p:nvPr/>
        </p:nvSpPr>
        <p:spPr>
          <a:xfrm>
            <a:off x="7498080" y="2871216"/>
            <a:ext cx="594360" cy="146304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14" name="txt-171"/>
          <p:cNvSpPr txBox="1"/>
          <p:nvPr/>
        </p:nvSpPr>
        <p:spPr>
          <a:xfrm>
            <a:off x="8641080" y="146304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Skeleton Shimmer</a:t>
            </a:r>
            <a:endParaRPr lang="en-US" sz="17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Memberi bayangan ilusi tata letak layout yang akan muncul, sehingga aplikasi terasa 2x lebih cepat dan responsif!</a:t>
            </a:r>
            <a:endParaRPr lang="en-US" sz="1700" dirty="0"/>
          </a:p>
        </p:txBody>
      </p:sp>
      <p:sp>
        <p:nvSpPr>
          <p:cNvPr id="15" name="txt-172"/>
          <p:cNvSpPr txBox="1"/>
          <p:nvPr/>
        </p:nvSpPr>
        <p:spPr>
          <a:xfrm>
            <a:off x="54864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Implementasi di KicksStore</a:t>
            </a:r>
            <a:endParaRPr lang="en-US" sz="1800" dirty="0"/>
          </a:p>
        </p:txBody>
      </p:sp>
      <p:sp>
        <p:nvSpPr>
          <p:cNvPr id="16" name="card-173"/>
          <p:cNvSpPr/>
          <p:nvPr/>
        </p:nvSpPr>
        <p:spPr>
          <a:xfrm>
            <a:off x="548640" y="4480560"/>
            <a:ext cx="7498080" cy="169164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code-174"/>
          <p:cNvSpPr txBox="1"/>
          <p:nvPr/>
        </p:nvSpPr>
        <p:spPr>
          <a:xfrm>
            <a:off x="548640" y="4480560"/>
            <a:ext cx="7498080" cy="169164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Obx(()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(controller.isLoading.value)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const ProductCardShimmer(); // Efek berkilau abu-abu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GridView.builder(...); // Tampilan produk asli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8" name="card-175"/>
          <p:cNvSpPr/>
          <p:nvPr/>
        </p:nvSpPr>
        <p:spPr>
          <a:xfrm>
            <a:off x="8321040" y="4480560"/>
            <a:ext cx="3291840" cy="1691640"/>
          </a:xfrm>
          <a:prstGeom prst="roundRect">
            <a:avLst>
              <a:gd name="adj" fmla="val 6486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9" name="txt-176"/>
          <p:cNvSpPr txBox="1"/>
          <p:nvPr/>
        </p:nvSpPr>
        <p:spPr>
          <a:xfrm>
            <a:off x="8503920" y="4526280"/>
            <a:ext cx="2926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Cara Kerja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Selama isLoading bernilai true, tampilkan shimmer. Setelah data tiba, tampilkan grid asli.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Kuis Pemahaman REST API &amp; Dio</a:t>
            </a:r>
            <a:endParaRPr lang="en-US" sz="2800" dirty="0"/>
          </a:p>
        </p:txBody>
      </p:sp>
      <p:sp>
        <p:nvSpPr>
          <p:cNvPr id="4" name="card-177"/>
          <p:cNvSpPr/>
          <p:nvPr/>
        </p:nvSpPr>
        <p:spPr>
          <a:xfrm>
            <a:off x="54864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chip-178"/>
          <p:cNvSpPr/>
          <p:nvPr/>
        </p:nvSpPr>
        <p:spPr>
          <a:xfrm>
            <a:off x="82296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xt-179"/>
          <p:cNvSpPr txBox="1"/>
          <p:nvPr/>
        </p:nvSpPr>
        <p:spPr>
          <a:xfrm>
            <a:off x="82296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1</a:t>
            </a:r>
            <a:endParaRPr lang="en-US" sz="1200" dirty="0"/>
          </a:p>
        </p:txBody>
      </p:sp>
      <p:sp>
        <p:nvSpPr>
          <p:cNvPr id="7" name="txt-180"/>
          <p:cNvSpPr txBox="1"/>
          <p:nvPr/>
        </p:nvSpPr>
        <p:spPr>
          <a:xfrm>
            <a:off x="822960" y="21945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 peran method ProductModel.fromJson()?</a:t>
            </a:r>
            <a:endParaRPr lang="en-US" sz="1700" dirty="0"/>
          </a:p>
        </p:txBody>
      </p:sp>
      <p:sp>
        <p:nvSpPr>
          <p:cNvPr id="8" name="opt-181"/>
          <p:cNvSpPr/>
          <p:nvPr/>
        </p:nvSpPr>
        <p:spPr>
          <a:xfrm>
            <a:off x="777240" y="32918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badge-182"/>
          <p:cNvSpPr/>
          <p:nvPr/>
        </p:nvSpPr>
        <p:spPr>
          <a:xfrm>
            <a:off x="960120" y="34747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0" name="txt-183"/>
          <p:cNvSpPr txBox="1"/>
          <p:nvPr/>
        </p:nvSpPr>
        <p:spPr>
          <a:xfrm>
            <a:off x="96012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txt-184"/>
          <p:cNvSpPr txBox="1"/>
          <p:nvPr/>
        </p:nvSpPr>
        <p:spPr>
          <a:xfrm>
            <a:off x="1554480" y="3291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Mengirim email ke server</a:t>
            </a:r>
            <a:endParaRPr lang="en-US" sz="1400" dirty="0"/>
          </a:p>
        </p:txBody>
      </p:sp>
      <p:sp>
        <p:nvSpPr>
          <p:cNvPr id="12" name="opt-185"/>
          <p:cNvSpPr/>
          <p:nvPr/>
        </p:nvSpPr>
        <p:spPr>
          <a:xfrm>
            <a:off x="777240" y="42062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3" name="badge-186"/>
          <p:cNvSpPr/>
          <p:nvPr/>
        </p:nvSpPr>
        <p:spPr>
          <a:xfrm>
            <a:off x="96012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xt-187"/>
          <p:cNvSpPr txBox="1"/>
          <p:nvPr/>
        </p:nvSpPr>
        <p:spPr>
          <a:xfrm>
            <a:off x="96012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5" name="txt-188"/>
          <p:cNvSpPr txBox="1"/>
          <p:nvPr/>
        </p:nvSpPr>
        <p:spPr>
          <a:xfrm>
            <a:off x="1554480" y="4206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Mengubah teks JSON dari API menjadi objek Dart yang aman</a:t>
            </a:r>
            <a:endParaRPr lang="en-US" sz="1400" dirty="0"/>
          </a:p>
        </p:txBody>
      </p:sp>
      <p:sp>
        <p:nvSpPr>
          <p:cNvPr id="16" name="opt-189"/>
          <p:cNvSpPr/>
          <p:nvPr/>
        </p:nvSpPr>
        <p:spPr>
          <a:xfrm>
            <a:off x="777240" y="51206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badge-190"/>
          <p:cNvSpPr/>
          <p:nvPr/>
        </p:nvSpPr>
        <p:spPr>
          <a:xfrm>
            <a:off x="960120" y="53035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8" name="txt-191"/>
          <p:cNvSpPr txBox="1"/>
          <p:nvPr/>
        </p:nvSpPr>
        <p:spPr>
          <a:xfrm>
            <a:off x="96012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9" name="txt-192"/>
          <p:cNvSpPr txBox="1"/>
          <p:nvPr/>
        </p:nvSpPr>
        <p:spPr>
          <a:xfrm>
            <a:off x="1554480" y="51206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Menghapus data di database</a:t>
            </a:r>
            <a:endParaRPr lang="en-US" sz="1400" dirty="0"/>
          </a:p>
        </p:txBody>
      </p:sp>
      <p:sp>
        <p:nvSpPr>
          <p:cNvPr id="20" name="card-193"/>
          <p:cNvSpPr/>
          <p:nvPr/>
        </p:nvSpPr>
        <p:spPr>
          <a:xfrm>
            <a:off x="6172200" y="1371600"/>
            <a:ext cx="5440680" cy="4709160"/>
          </a:xfrm>
          <a:prstGeom prst="roundRect">
            <a:avLst>
              <a:gd name="adj" fmla="val 2330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21" name="chip-194"/>
          <p:cNvSpPr/>
          <p:nvPr/>
        </p:nvSpPr>
        <p:spPr>
          <a:xfrm>
            <a:off x="6446520" y="1645920"/>
            <a:ext cx="10972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xt-195"/>
          <p:cNvSpPr txBox="1"/>
          <p:nvPr/>
        </p:nvSpPr>
        <p:spPr>
          <a:xfrm>
            <a:off x="6446520" y="16459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KUIS 2</a:t>
            </a:r>
            <a:endParaRPr lang="en-US" sz="1200" dirty="0"/>
          </a:p>
        </p:txBody>
      </p:sp>
      <p:sp>
        <p:nvSpPr>
          <p:cNvPr id="23" name="txt-196"/>
          <p:cNvSpPr txBox="1"/>
          <p:nvPr/>
        </p:nvSpPr>
        <p:spPr>
          <a:xfrm>
            <a:off x="6446520" y="21945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Apa fungsi utama Dio Interceptor?</a:t>
            </a:r>
            <a:endParaRPr lang="en-US" sz="1700" dirty="0"/>
          </a:p>
        </p:txBody>
      </p:sp>
      <p:sp>
        <p:nvSpPr>
          <p:cNvPr id="24" name="opt-197"/>
          <p:cNvSpPr/>
          <p:nvPr/>
        </p:nvSpPr>
        <p:spPr>
          <a:xfrm>
            <a:off x="6400800" y="32918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badge-198"/>
          <p:cNvSpPr/>
          <p:nvPr/>
        </p:nvSpPr>
        <p:spPr>
          <a:xfrm>
            <a:off x="6583680" y="34747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txt-199"/>
          <p:cNvSpPr txBox="1"/>
          <p:nvPr/>
        </p:nvSpPr>
        <p:spPr>
          <a:xfrm>
            <a:off x="658368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27" name="txt-200"/>
          <p:cNvSpPr txBox="1"/>
          <p:nvPr/>
        </p:nvSpPr>
        <p:spPr>
          <a:xfrm>
            <a:off x="7178040" y="32918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Menghiasi border tombol</a:t>
            </a:r>
            <a:endParaRPr lang="en-US" sz="1400" dirty="0"/>
          </a:p>
        </p:txBody>
      </p:sp>
      <p:sp>
        <p:nvSpPr>
          <p:cNvPr id="28" name="opt-201"/>
          <p:cNvSpPr/>
          <p:nvPr/>
        </p:nvSpPr>
        <p:spPr>
          <a:xfrm>
            <a:off x="6400800" y="42062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badge-202"/>
          <p:cNvSpPr/>
          <p:nvPr/>
        </p:nvSpPr>
        <p:spPr>
          <a:xfrm>
            <a:off x="6583680" y="438912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30" name="txt-203"/>
          <p:cNvSpPr txBox="1"/>
          <p:nvPr/>
        </p:nvSpPr>
        <p:spPr>
          <a:xfrm>
            <a:off x="658368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31" name="txt-204"/>
          <p:cNvSpPr txBox="1"/>
          <p:nvPr/>
        </p:nvSpPr>
        <p:spPr>
          <a:xfrm>
            <a:off x="7178040" y="42062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Mencegat dan menyisipkan token/log pada request HTTP secara otomatis</a:t>
            </a:r>
            <a:endParaRPr lang="en-US" sz="1400" dirty="0"/>
          </a:p>
        </p:txBody>
      </p:sp>
      <p:sp>
        <p:nvSpPr>
          <p:cNvPr id="32" name="opt-205"/>
          <p:cNvSpPr/>
          <p:nvPr/>
        </p:nvSpPr>
        <p:spPr>
          <a:xfrm>
            <a:off x="6400800" y="5120640"/>
            <a:ext cx="4983480" cy="777240"/>
          </a:xfrm>
          <a:prstGeom prst="roundRect">
            <a:avLst>
              <a:gd name="adj" fmla="val 11765"/>
            </a:avLst>
          </a:prstGeom>
          <a:solidFill>
            <a:schemeClr val="bg1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badge-206"/>
          <p:cNvSpPr/>
          <p:nvPr/>
        </p:nvSpPr>
        <p:spPr>
          <a:xfrm>
            <a:off x="6583680" y="5303520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xt-207"/>
          <p:cNvSpPr txBox="1"/>
          <p:nvPr/>
        </p:nvSpPr>
        <p:spPr>
          <a:xfrm>
            <a:off x="658368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35" name="txt-208"/>
          <p:cNvSpPr txBox="1"/>
          <p:nvPr/>
        </p:nvSpPr>
        <p:spPr>
          <a:xfrm>
            <a:off x="7178040" y="512064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Mematikan koneksi internet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Rangkuman &amp; Best Practices Networking</a:t>
            </a:r>
            <a:endParaRPr lang="en-US" sz="2800" dirty="0"/>
          </a:p>
        </p:txBody>
      </p:sp>
      <p:sp>
        <p:nvSpPr>
          <p:cNvPr id="4" name="card-209"/>
          <p:cNvSpPr/>
          <p:nvPr/>
        </p:nvSpPr>
        <p:spPr>
          <a:xfrm>
            <a:off x="548640" y="13716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5" name="num-210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xt-211"/>
          <p:cNvSpPr txBox="1"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xt-212"/>
          <p:cNvSpPr txBox="1"/>
          <p:nvPr/>
        </p:nvSpPr>
        <p:spPr>
          <a:xfrm>
            <a:off x="1783080" y="13716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Model Ber-Type Kuat</a:t>
            </a:r>
            <a:endParaRPr lang="en-US" sz="2000" dirty="0"/>
          </a:p>
        </p:txBody>
      </p:sp>
      <p:sp>
        <p:nvSpPr>
          <p:cNvPr id="8" name="txt-213"/>
          <p:cNvSpPr txBox="1"/>
          <p:nvPr/>
        </p:nvSpPr>
        <p:spPr>
          <a:xfrm>
            <a:off x="5029200" y="13716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Selalu gunakan Model Dart ber-type kuat, hindari mengakses raw json['key'] di dalam View.</a:t>
            </a:r>
            <a:endParaRPr lang="en-US" sz="1600" dirty="0"/>
          </a:p>
        </p:txBody>
      </p:sp>
      <p:sp>
        <p:nvSpPr>
          <p:cNvPr id="9" name="card-214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num-215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1" name="txt-216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xt-217"/>
          <p:cNvSpPr txBox="1"/>
          <p:nvPr/>
        </p:nvSpPr>
        <p:spPr>
          <a:xfrm>
            <a:off x="1783080" y="27432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Tangani Koneksi Putus</a:t>
            </a:r>
            <a:endParaRPr lang="en-US" sz="2000" dirty="0"/>
          </a:p>
        </p:txBody>
      </p:sp>
      <p:sp>
        <p:nvSpPr>
          <p:cNvPr id="13" name="txt-218"/>
          <p:cNvSpPr txBox="1"/>
          <p:nvPr/>
        </p:nvSpPr>
        <p:spPr>
          <a:xfrm>
            <a:off x="5029200" y="27432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Gunakan try-catch atau interceptor untuk menangani kondisi koneksi putus (offline/timeout).</a:t>
            </a:r>
            <a:endParaRPr lang="en-US" sz="1600" dirty="0"/>
          </a:p>
        </p:txBody>
      </p:sp>
      <p:sp>
        <p:nvSpPr>
          <p:cNvPr id="14" name="card-219"/>
          <p:cNvSpPr/>
          <p:nvPr/>
        </p:nvSpPr>
        <p:spPr>
          <a:xfrm>
            <a:off x="548640" y="411480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num-220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xt-221"/>
          <p:cNvSpPr txBox="1"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xt-222"/>
          <p:cNvSpPr txBox="1"/>
          <p:nvPr/>
        </p:nvSpPr>
        <p:spPr>
          <a:xfrm>
            <a:off x="1783080" y="411480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Feedback Visual Halus</a:t>
            </a:r>
            <a:endParaRPr lang="en-US" sz="2000" dirty="0"/>
          </a:p>
        </p:txBody>
      </p:sp>
      <p:sp>
        <p:nvSpPr>
          <p:cNvPr id="18" name="txt-223"/>
          <p:cNvSpPr txBox="1"/>
          <p:nvPr/>
        </p:nvSpPr>
        <p:spPr>
          <a:xfrm>
            <a:off x="502920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Berikan feedback visual yang halus dengan Shimmer Loading.</a:t>
            </a:r>
            <a:endParaRPr lang="en-US" sz="1600" dirty="0"/>
          </a:p>
        </p:txBody>
      </p:sp>
      <p:sp>
        <p:nvSpPr>
          <p:cNvPr id="19" name="closing-224"/>
          <p:cNvSpPr/>
          <p:nvPr/>
        </p:nvSpPr>
        <p:spPr>
          <a:xfrm>
            <a:off x="548640" y="557784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20" name="txt-225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Aplikasi yang baik tetap terasa mulus, bahkan saat menunggu server.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tworking Light">
  <a:themeElements>
    <a:clrScheme name="Networking Light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E11D48"/>
      </a:accent3>
      <a:accent4>
        <a:srgbClr val="D97706"/>
      </a:accent4>
      <a:accent5>
        <a:srgbClr val="DBEAFE"/>
      </a:accent5>
      <a:accent6>
        <a:srgbClr val="64748B"/>
      </a:accent6>
      <a:hlink>
        <a:srgbClr val="2563EB"/>
      </a:hlink>
      <a:folHlink>
        <a:srgbClr val="7C3AED"/>
      </a:folHlink>
    </a:clrScheme>
    <a:fontScheme name="Networking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 API &amp; Networking di Flutter dengan Dio &amp; GetX</dc:title>
  <dc:subject>PptxGenJS Presentation</dc:subject>
  <dc:creator>Flutter Networking</dc:creator>
  <cp:lastModifiedBy>Flutter Networking</cp:lastModifiedBy>
  <cp:revision>1</cp:revision>
  <dcterms:created xsi:type="dcterms:W3CDTF">2026-10-20T07:16:42Z</dcterms:created>
  <dcterms:modified xsi:type="dcterms:W3CDTF">2026-10-20T07:16:42Z</dcterms:modified>
</cp:coreProperties>
</file>