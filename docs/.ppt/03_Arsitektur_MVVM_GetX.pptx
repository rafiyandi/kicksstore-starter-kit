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1dc8f06b-5519-7254-1e05-e5a41d6832b0}">
          <p14:sldIdLst>
            <p14:sldId id="256"/>
            <p14:sldId id="257"/>
          </p14:sldIdLst>
        </p14:section>
        <p14:section name="Konsep MVVM" id="{3d95c386-1875-5a9e-de03-7aa4b6fc1178}">
          <p14:sldIdLst>
            <p14:sldId id="258"/>
            <p14:sldId id="259"/>
          </p14:sldIdLst>
        </p14:section>
        <p14:section name="Implementasi" id="{fafda875-9c90-8b31-3925-f1e4950f8c89}">
          <p14:sldIdLst>
            <p14:sldId id="260"/>
            <p14:sldId id="261"/>
            <p14:sldId id="262"/>
            <p14:sldId id="263"/>
          </p14:sldIdLst>
        </p14:section>
        <p14:section name="Penutup" id="{1836fd63-e1c1-faaa-59c7-eccea58381fd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Hari ini kita membahas arsitektur MVVM pada Flutter dengan GetX, menggunakan modul Katalog dan Detail Sepatu dari KicksStore sebagai studi kasus.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Jika semua logika ditulis di method build(), kode sulit diuji dan sulit dikerjakan bersama. Solusinya adalah Separation of Concerns: satu layer, satu tanggung jawab.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menyimpan data. ViewModel mengambil data dari Model, mengolahnya, lalu menyediakan state reaktif dan aksi. View hanya menampilkan data dan meneruskan klik ke ViewModel.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adalah bahan baku atau objek foto, ViewModel adalah koki atau fotografer yang mengatur dan mengolah, dan View adalah etalase yang dilihat pengunjung.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hanya mendefinisikan struktur data. Tidak ada import widget Flutter di sini, murni kode Dart.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 menyimpan state reaktif dengan .obs dan menyediakan fungsi logika. Ia tidak tahu tombol apa yang ditekan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GetView menyediakan getter controller secara otomatis. View hanya menampilkan data lewat Obx dan meneruskan event klik ke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keempat aspek: lokasi logika, testing, kerapian kode, dan kerja 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siswa menjawab dulu sebelum menunjukkan jawaban benar (ditandai hijau-teal). Kuis 1: B. Kuis 2: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aturan emas: View hanya menampilkan dan meneruskan event, Controller hanya mengurus state dan logika, Model hanya mendefinisikan struktur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3093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Flutter Arsitektur • Sesi 03 · Arsitektur MVVM dengan GetX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1"/>
          <p:cNvSpPr/>
          <p:nvPr/>
        </p:nvSpPr>
        <p:spPr>
          <a:xfrm>
            <a:off x="731520" y="1371600"/>
            <a:ext cx="356616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" name="txt-2"/>
          <p:cNvSpPr txBox="1"/>
          <p:nvPr/>
        </p:nvSpPr>
        <p:spPr>
          <a:xfrm>
            <a:off x="731520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FLUTTER ARSITEKTUR • SESI 03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Membangun Aplikasi Skala Industri dengan </a:t>
            </a:r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Arsitektur MVVM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343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Pemisahan Tanggung Jawab Antara Data (Model), Tampilan (View), dan Logika (ViewModel)</a:t>
            </a:r>
            <a:endParaRPr lang="en-US" sz="1800" dirty="0"/>
          </a:p>
        </p:txBody>
      </p:sp>
      <p:sp>
        <p:nvSpPr>
          <p:cNvPr id="6" name="card-3"/>
          <p:cNvSpPr/>
          <p:nvPr/>
        </p:nvSpPr>
        <p:spPr>
          <a:xfrm>
            <a:off x="7406640" y="1325880"/>
            <a:ext cx="42062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ic-bg-4"/>
          <p:cNvSpPr/>
          <p:nvPr/>
        </p:nvSpPr>
        <p:spPr>
          <a:xfrm>
            <a:off x="7635240" y="1664208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8" name="ic-5" descr="FaShoppingB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0406" y="1849374"/>
            <a:ext cx="315468" cy="315468"/>
          </a:xfrm>
          <a:prstGeom prst="rect">
            <a:avLst/>
          </a:prstGeom>
        </p:spPr>
      </p:pic>
      <p:sp>
        <p:nvSpPr>
          <p:cNvPr id="9" name="txt-6"/>
          <p:cNvSpPr txBox="1"/>
          <p:nvPr/>
        </p:nvSpPr>
        <p:spPr>
          <a:xfrm>
            <a:off x="8503920" y="16459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STUDI KASUS</a:t>
            </a:r>
            <a:endParaRPr lang="en-US" sz="1100" dirty="0"/>
          </a:p>
        </p:txBody>
      </p:sp>
      <p:sp>
        <p:nvSpPr>
          <p:cNvPr id="10" name="txt-7"/>
          <p:cNvSpPr txBox="1"/>
          <p:nvPr/>
        </p:nvSpPr>
        <p:spPr>
          <a:xfrm>
            <a:off x="8503920" y="1920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Modul Katalog &amp; Detail Sepatu KicksStore</a:t>
            </a:r>
            <a:endParaRPr lang="en-US" sz="1600" dirty="0"/>
          </a:p>
        </p:txBody>
      </p:sp>
      <p:sp>
        <p:nvSpPr>
          <p:cNvPr id="11" name="card-8"/>
          <p:cNvSpPr/>
          <p:nvPr/>
        </p:nvSpPr>
        <p:spPr>
          <a:xfrm>
            <a:off x="7406640" y="297180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ic-bg-9"/>
          <p:cNvSpPr/>
          <p:nvPr/>
        </p:nvSpPr>
        <p:spPr>
          <a:xfrm>
            <a:off x="7635240" y="317296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c-10" descr="Fa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373" y="3321101"/>
            <a:ext cx="252374" cy="252374"/>
          </a:xfrm>
          <a:prstGeom prst="rect">
            <a:avLst/>
          </a:prstGeom>
        </p:spPr>
      </p:pic>
      <p:sp>
        <p:nvSpPr>
          <p:cNvPr id="14" name="txt-11"/>
          <p:cNvSpPr txBox="1"/>
          <p:nvPr/>
        </p:nvSpPr>
        <p:spPr>
          <a:xfrm>
            <a:off x="8412480" y="30815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murni</a:t>
            </a:r>
            <a:endParaRPr lang="en-US" sz="1800" dirty="0"/>
          </a:p>
        </p:txBody>
      </p:sp>
      <p:sp>
        <p:nvSpPr>
          <p:cNvPr id="15" name="card-12"/>
          <p:cNvSpPr/>
          <p:nvPr/>
        </p:nvSpPr>
        <p:spPr>
          <a:xfrm>
            <a:off x="7406640" y="406908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ic-bg-13"/>
          <p:cNvSpPr/>
          <p:nvPr/>
        </p:nvSpPr>
        <p:spPr>
          <a:xfrm>
            <a:off x="7635240" y="4270248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7" name="ic-14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373" y="4418381"/>
            <a:ext cx="252374" cy="252374"/>
          </a:xfrm>
          <a:prstGeom prst="rect">
            <a:avLst/>
          </a:prstGeom>
        </p:spPr>
      </p:pic>
      <p:sp>
        <p:nvSpPr>
          <p:cNvPr id="18" name="txt-15"/>
          <p:cNvSpPr txBox="1"/>
          <p:nvPr/>
        </p:nvSpPr>
        <p:spPr>
          <a:xfrm>
            <a:off x="8412480" y="4178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ViewModel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Logika &amp; state</a:t>
            </a:r>
            <a:endParaRPr lang="en-US" sz="1800" dirty="0"/>
          </a:p>
        </p:txBody>
      </p:sp>
      <p:sp>
        <p:nvSpPr>
          <p:cNvPr id="19" name="card-16"/>
          <p:cNvSpPr/>
          <p:nvPr/>
        </p:nvSpPr>
        <p:spPr>
          <a:xfrm>
            <a:off x="7406640" y="5166360"/>
            <a:ext cx="420624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ic-bg-17"/>
          <p:cNvSpPr/>
          <p:nvPr/>
        </p:nvSpPr>
        <p:spPr>
          <a:xfrm>
            <a:off x="7635240" y="536752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c-18" descr="FaMob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373" y="5515661"/>
            <a:ext cx="252374" cy="252374"/>
          </a:xfrm>
          <a:prstGeom prst="rect">
            <a:avLst/>
          </a:prstGeom>
        </p:spPr>
      </p:pic>
      <p:sp>
        <p:nvSpPr>
          <p:cNvPr id="22" name="txt-19"/>
          <p:cNvSpPr txBox="1"/>
          <p:nvPr/>
        </p:nvSpPr>
        <p:spPr>
          <a:xfrm>
            <a:off x="8412480" y="52760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Tampilan UI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Bahaya "Spaghetti Code" di File View</a:t>
            </a:r>
            <a:endParaRPr lang="en-US" sz="2800" dirty="0"/>
          </a:p>
        </p:txBody>
      </p:sp>
      <p:sp>
        <p:nvSpPr>
          <p:cNvPr id="4" name="card-20"/>
          <p:cNvSpPr/>
          <p:nvPr/>
        </p:nvSpPr>
        <p:spPr>
          <a:xfrm>
            <a:off x="548640" y="137160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21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6" name="ic-22" descr="FaUtens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864462"/>
            <a:ext cx="294437" cy="294437"/>
          </a:xfrm>
          <a:prstGeom prst="rect">
            <a:avLst/>
          </a:prstGeom>
        </p:spPr>
      </p:pic>
      <p:sp>
        <p:nvSpPr>
          <p:cNvPr id="7" name="txt-23"/>
          <p:cNvSpPr txBox="1"/>
          <p:nvPr/>
        </p:nvSpPr>
        <p:spPr>
          <a:xfrm>
            <a:off x="1737360" y="14630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Logika Menumpuk di build()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Menulis logika hitung diskon, validasi form, dan panggilan API di dalam method build() widget.</a:t>
            </a:r>
            <a:endParaRPr lang="en-US" sz="1800" dirty="0"/>
          </a:p>
        </p:txBody>
      </p:sp>
      <p:sp>
        <p:nvSpPr>
          <p:cNvPr id="8" name="card-24"/>
          <p:cNvSpPr/>
          <p:nvPr/>
        </p:nvSpPr>
        <p:spPr>
          <a:xfrm>
            <a:off x="548640" y="283464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ic-bg-25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0" name="ic-26" descr="FaBom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82" y="3327502"/>
            <a:ext cx="294437" cy="294437"/>
          </a:xfrm>
          <a:prstGeom prst="rect">
            <a:avLst/>
          </a:prstGeom>
        </p:spPr>
      </p:pic>
      <p:sp>
        <p:nvSpPr>
          <p:cNvPr id="11" name="txt-27"/>
          <p:cNvSpPr txBox="1"/>
          <p:nvPr/>
        </p:nvSpPr>
        <p:spPr>
          <a:xfrm>
            <a:off x="1737360" y="292608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Sulit Diuji, Rawan Bug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Kode sulit diuji (untestable) dan rawan bug saat fitur bertambah.</a:t>
            </a:r>
            <a:endParaRPr lang="en-US" sz="1800" dirty="0"/>
          </a:p>
        </p:txBody>
      </p:sp>
      <p:sp>
        <p:nvSpPr>
          <p:cNvPr id="12" name="card-28"/>
          <p:cNvSpPr/>
          <p:nvPr/>
        </p:nvSpPr>
        <p:spPr>
          <a:xfrm>
            <a:off x="548640" y="4297680"/>
            <a:ext cx="65836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ic-bg-29"/>
          <p:cNvSpPr/>
          <p:nvPr/>
        </p:nvSpPr>
        <p:spPr>
          <a:xfrm>
            <a:off x="822960" y="461772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14" name="ic-30" descr="Fa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4790542"/>
            <a:ext cx="294437" cy="294437"/>
          </a:xfrm>
          <a:prstGeom prst="rect">
            <a:avLst/>
          </a:prstGeom>
        </p:spPr>
      </p:pic>
      <p:sp>
        <p:nvSpPr>
          <p:cNvPr id="15" name="txt-31"/>
          <p:cNvSpPr txBox="1"/>
          <p:nvPr/>
        </p:nvSpPr>
        <p:spPr>
          <a:xfrm>
            <a:off x="1737360" y="4389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Kolaborasi Tim Berantakan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Semua orang mengedit satu file yang sama dengan ribuan baris.</a:t>
            </a:r>
            <a:endParaRPr lang="en-US" sz="1800" dirty="0"/>
          </a:p>
        </p:txBody>
      </p:sp>
      <p:sp>
        <p:nvSpPr>
          <p:cNvPr id="16" name="card-32"/>
          <p:cNvSpPr/>
          <p:nvPr/>
        </p:nvSpPr>
        <p:spPr>
          <a:xfrm>
            <a:off x="7498080" y="1371600"/>
            <a:ext cx="4114800" cy="4206240"/>
          </a:xfrm>
          <a:prstGeom prst="roundRect">
            <a:avLst>
              <a:gd name="adj" fmla="val 2667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17" name="ic-bg-33"/>
          <p:cNvSpPr/>
          <p:nvPr/>
        </p:nvSpPr>
        <p:spPr>
          <a:xfrm>
            <a:off x="7772400" y="16459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c-34" descr="Fa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5222" y="1818742"/>
            <a:ext cx="294437" cy="294437"/>
          </a:xfrm>
          <a:prstGeom prst="rect">
            <a:avLst/>
          </a:prstGeom>
        </p:spPr>
      </p:pic>
      <p:sp>
        <p:nvSpPr>
          <p:cNvPr id="19" name="txt-35"/>
          <p:cNvSpPr txBox="1"/>
          <p:nvPr/>
        </p:nvSpPr>
        <p:spPr>
          <a:xfrm>
            <a:off x="8595360" y="1691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SOLUSI</a:t>
            </a:r>
            <a:endParaRPr lang="en-US" sz="1200" dirty="0"/>
          </a:p>
        </p:txBody>
      </p:sp>
      <p:sp>
        <p:nvSpPr>
          <p:cNvPr id="20" name="txt-36"/>
          <p:cNvSpPr txBox="1"/>
          <p:nvPr/>
        </p:nvSpPr>
        <p:spPr>
          <a:xfrm>
            <a:off x="8595360" y="1965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Separation of Concerns (SoC)</a:t>
            </a:r>
            <a:endParaRPr lang="en-US" sz="1800" dirty="0"/>
          </a:p>
        </p:txBody>
      </p:sp>
      <p:sp>
        <p:nvSpPr>
          <p:cNvPr id="21" name="txt-37"/>
          <p:cNvSpPr txBox="1"/>
          <p:nvPr/>
        </p:nvSpPr>
        <p:spPr>
          <a:xfrm>
            <a:off x="7772400" y="2880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Setiap layer hanya punya 1 tanggung jawab!</a:t>
            </a:r>
            <a:endParaRPr lang="en-US" sz="1600" dirty="0"/>
          </a:p>
        </p:txBody>
      </p:sp>
      <p:sp>
        <p:nvSpPr>
          <p:cNvPr id="22" name="chip-38"/>
          <p:cNvSpPr/>
          <p:nvPr/>
        </p:nvSpPr>
        <p:spPr>
          <a:xfrm>
            <a:off x="7772400" y="3749040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3" name="txt-39"/>
          <p:cNvSpPr txBox="1"/>
          <p:nvPr/>
        </p:nvSpPr>
        <p:spPr>
          <a:xfrm>
            <a:off x="777240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</a:t>
            </a:r>
            <a:endParaRPr lang="en-US" sz="1300" dirty="0"/>
          </a:p>
        </p:txBody>
      </p:sp>
      <p:sp>
        <p:nvSpPr>
          <p:cNvPr id="24" name="txt-40"/>
          <p:cNvSpPr txBox="1"/>
          <p:nvPr/>
        </p:nvSpPr>
        <p:spPr>
          <a:xfrm>
            <a:off x="950976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</a:t>
            </a:r>
            <a:endParaRPr lang="en-US" sz="1500" dirty="0"/>
          </a:p>
        </p:txBody>
      </p:sp>
      <p:sp>
        <p:nvSpPr>
          <p:cNvPr id="25" name="chip-41"/>
          <p:cNvSpPr/>
          <p:nvPr/>
        </p:nvSpPr>
        <p:spPr>
          <a:xfrm>
            <a:off x="7772400" y="4315968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4F46E5"/>
          </a:solidFill>
          <a:ln/>
        </p:spPr>
      </p:sp>
      <p:sp>
        <p:nvSpPr>
          <p:cNvPr id="26" name="txt-42"/>
          <p:cNvSpPr txBox="1"/>
          <p:nvPr/>
        </p:nvSpPr>
        <p:spPr>
          <a:xfrm>
            <a:off x="7772400" y="431596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ViewModel</a:t>
            </a:r>
            <a:endParaRPr lang="en-US" sz="1300" dirty="0"/>
          </a:p>
        </p:txBody>
      </p:sp>
      <p:sp>
        <p:nvSpPr>
          <p:cNvPr id="27" name="txt-43"/>
          <p:cNvSpPr txBox="1"/>
          <p:nvPr/>
        </p:nvSpPr>
        <p:spPr>
          <a:xfrm>
            <a:off x="9509760" y="43159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Logika</a:t>
            </a:r>
            <a:endParaRPr lang="en-US" sz="1500" dirty="0"/>
          </a:p>
        </p:txBody>
      </p:sp>
      <p:sp>
        <p:nvSpPr>
          <p:cNvPr id="28" name="chip-44"/>
          <p:cNvSpPr/>
          <p:nvPr/>
        </p:nvSpPr>
        <p:spPr>
          <a:xfrm>
            <a:off x="7772400" y="4882896"/>
            <a:ext cx="1554480" cy="4114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29" name="txt-45"/>
          <p:cNvSpPr txBox="1"/>
          <p:nvPr/>
        </p:nvSpPr>
        <p:spPr>
          <a:xfrm>
            <a:off x="7772400" y="488289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View</a:t>
            </a:r>
            <a:endParaRPr lang="en-US" sz="1300" dirty="0"/>
          </a:p>
        </p:txBody>
      </p:sp>
      <p:sp>
        <p:nvSpPr>
          <p:cNvPr id="30" name="txt-46"/>
          <p:cNvSpPr txBox="1"/>
          <p:nvPr/>
        </p:nvSpPr>
        <p:spPr>
          <a:xfrm>
            <a:off x="9509760" y="488289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Tampilan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Bagaimana Tiga Komponen MVVM Bekerja Bersama?</a:t>
            </a:r>
            <a:endParaRPr lang="en-US" sz="2800" dirty="0"/>
          </a:p>
        </p:txBody>
      </p:sp>
      <p:sp>
        <p:nvSpPr>
          <p:cNvPr id="4" name="card-47"/>
          <p:cNvSpPr/>
          <p:nvPr/>
        </p:nvSpPr>
        <p:spPr>
          <a:xfrm>
            <a:off x="548640" y="1554480"/>
            <a:ext cx="27432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48"/>
          <p:cNvSpPr/>
          <p:nvPr/>
        </p:nvSpPr>
        <p:spPr>
          <a:xfrm>
            <a:off x="777240" y="19659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c-49" descr="Fa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138782"/>
            <a:ext cx="294437" cy="294437"/>
          </a:xfrm>
          <a:prstGeom prst="rect">
            <a:avLst/>
          </a:prstGeom>
        </p:spPr>
      </p:pic>
      <p:sp>
        <p:nvSpPr>
          <p:cNvPr id="7" name="txt-50"/>
          <p:cNvSpPr txBox="1"/>
          <p:nvPr/>
        </p:nvSpPr>
        <p:spPr>
          <a:xfrm>
            <a:off x="1554480" y="164592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</a:t>
            </a:r>
            <a:endParaRPr lang="en-US" sz="2000" dirty="0"/>
          </a:p>
        </p:txBody>
      </p:sp>
      <p:sp>
        <p:nvSpPr>
          <p:cNvPr id="8" name="card-51"/>
          <p:cNvSpPr/>
          <p:nvPr/>
        </p:nvSpPr>
        <p:spPr>
          <a:xfrm>
            <a:off x="4754880" y="155448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9" name="ic-bg-52"/>
          <p:cNvSpPr/>
          <p:nvPr/>
        </p:nvSpPr>
        <p:spPr>
          <a:xfrm>
            <a:off x="4983480" y="196596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0" name="ic-53" descr="FaCo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302" y="2138782"/>
            <a:ext cx="294437" cy="294437"/>
          </a:xfrm>
          <a:prstGeom prst="rect">
            <a:avLst/>
          </a:prstGeom>
        </p:spPr>
      </p:pic>
      <p:sp>
        <p:nvSpPr>
          <p:cNvPr id="11" name="txt-54"/>
          <p:cNvSpPr txBox="1"/>
          <p:nvPr/>
        </p:nvSpPr>
        <p:spPr>
          <a:xfrm>
            <a:off x="5760720" y="1645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VIEWMODEL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Controller</a:t>
            </a:r>
            <a:endParaRPr lang="en-US" sz="2000" dirty="0"/>
          </a:p>
        </p:txBody>
      </p:sp>
      <p:sp>
        <p:nvSpPr>
          <p:cNvPr id="12" name="card-55"/>
          <p:cNvSpPr/>
          <p:nvPr/>
        </p:nvSpPr>
        <p:spPr>
          <a:xfrm>
            <a:off x="4754880" y="4206240"/>
            <a:ext cx="29260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3" name="ic-bg-56"/>
          <p:cNvSpPr/>
          <p:nvPr/>
        </p:nvSpPr>
        <p:spPr>
          <a:xfrm>
            <a:off x="4983480" y="46177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4" name="ic-57" descr="FaMobile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302" y="4790542"/>
            <a:ext cx="294437" cy="294437"/>
          </a:xfrm>
          <a:prstGeom prst="rect">
            <a:avLst/>
          </a:prstGeom>
        </p:spPr>
      </p:pic>
      <p:sp>
        <p:nvSpPr>
          <p:cNvPr id="15" name="txt-58"/>
          <p:cNvSpPr txBox="1"/>
          <p:nvPr/>
        </p:nvSpPr>
        <p:spPr>
          <a:xfrm>
            <a:off x="5760720" y="429768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VIEW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UI</a:t>
            </a:r>
            <a:endParaRPr lang="en-US" sz="2000" dirty="0"/>
          </a:p>
        </p:txBody>
      </p:sp>
      <p:sp>
        <p:nvSpPr>
          <p:cNvPr id="16" name="arrow-59"/>
          <p:cNvSpPr/>
          <p:nvPr/>
        </p:nvSpPr>
        <p:spPr>
          <a:xfrm>
            <a:off x="3291840" y="2286000"/>
            <a:ext cx="146304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7" name="txt-60"/>
          <p:cNvSpPr txBox="1"/>
          <p:nvPr/>
        </p:nvSpPr>
        <p:spPr>
          <a:xfrm>
            <a:off x="32918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Mengambil Data</a:t>
            </a:r>
            <a:endParaRPr lang="en-US" sz="1200" dirty="0"/>
          </a:p>
        </p:txBody>
      </p:sp>
      <p:sp>
        <p:nvSpPr>
          <p:cNvPr id="18" name="arrow-61"/>
          <p:cNvSpPr/>
          <p:nvPr/>
        </p:nvSpPr>
        <p:spPr>
          <a:xfrm>
            <a:off x="6217920" y="3017520"/>
            <a:ext cx="0" cy="118872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xt-62"/>
          <p:cNvSpPr txBox="1"/>
          <p:nvPr/>
        </p:nvSpPr>
        <p:spPr>
          <a:xfrm>
            <a:off x="6400800" y="3337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Data Reaktif (.obs) &amp; Aksi</a:t>
            </a:r>
            <a:endParaRPr lang="en-US" sz="1200" dirty="0"/>
          </a:p>
        </p:txBody>
      </p:sp>
      <p:sp>
        <p:nvSpPr>
          <p:cNvPr id="20" name="card-63"/>
          <p:cNvSpPr/>
          <p:nvPr/>
        </p:nvSpPr>
        <p:spPr>
          <a:xfrm>
            <a:off x="548640" y="420624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/>
        </p:spPr>
      </p:sp>
      <p:sp>
        <p:nvSpPr>
          <p:cNvPr id="21" name="txt-64"/>
          <p:cNvSpPr txBox="1"/>
          <p:nvPr/>
        </p:nvSpPr>
        <p:spPr>
          <a:xfrm>
            <a:off x="777240" y="42976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Alur Singkat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ViewModel mengambil data dari Model, lalu View memperbarui tampilan lewat Obx.</a:t>
            </a:r>
            <a:endParaRPr lang="en-US" sz="1400" dirty="0"/>
          </a:p>
        </p:txBody>
      </p:sp>
      <p:sp>
        <p:nvSpPr>
          <p:cNvPr id="22" name="card-65"/>
          <p:cNvSpPr/>
          <p:nvPr/>
        </p:nvSpPr>
        <p:spPr>
          <a:xfrm>
            <a:off x="8229600" y="1554480"/>
            <a:ext cx="33832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3" name="num-66"/>
          <p:cNvSpPr/>
          <p:nvPr/>
        </p:nvSpPr>
        <p:spPr>
          <a:xfrm>
            <a:off x="8412480" y="17373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xt-67"/>
          <p:cNvSpPr txBox="1"/>
          <p:nvPr/>
        </p:nvSpPr>
        <p:spPr>
          <a:xfrm>
            <a:off x="84124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xt-68"/>
          <p:cNvSpPr txBox="1"/>
          <p:nvPr/>
        </p:nvSpPr>
        <p:spPr>
          <a:xfrm>
            <a:off x="9052560" y="16459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Struktur data murni (ProductModel, ShoeItem).</a:t>
            </a:r>
            <a:endParaRPr lang="en-US" sz="1500" dirty="0"/>
          </a:p>
        </p:txBody>
      </p:sp>
      <p:sp>
        <p:nvSpPr>
          <p:cNvPr id="26" name="card-69"/>
          <p:cNvSpPr/>
          <p:nvPr/>
        </p:nvSpPr>
        <p:spPr>
          <a:xfrm>
            <a:off x="8229600" y="3017520"/>
            <a:ext cx="33832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num-70"/>
          <p:cNvSpPr/>
          <p:nvPr/>
        </p:nvSpPr>
        <p:spPr>
          <a:xfrm>
            <a:off x="8412480" y="3200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8" name="txt-71"/>
          <p:cNvSpPr txBox="1"/>
          <p:nvPr/>
        </p:nvSpPr>
        <p:spPr>
          <a:xfrm>
            <a:off x="84124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xt-72"/>
          <p:cNvSpPr txBox="1"/>
          <p:nvPr/>
        </p:nvSpPr>
        <p:spPr>
          <a:xfrm>
            <a:off x="9052560" y="310896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ViewModel (GetxController)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Otak aplikasi, mengolah state dan logika.</a:t>
            </a:r>
            <a:endParaRPr lang="en-US" sz="1500" dirty="0"/>
          </a:p>
        </p:txBody>
      </p:sp>
      <p:sp>
        <p:nvSpPr>
          <p:cNvPr id="30" name="card-73"/>
          <p:cNvSpPr/>
          <p:nvPr/>
        </p:nvSpPr>
        <p:spPr>
          <a:xfrm>
            <a:off x="8229600" y="4480560"/>
            <a:ext cx="33832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1" name="num-74"/>
          <p:cNvSpPr/>
          <p:nvPr/>
        </p:nvSpPr>
        <p:spPr>
          <a:xfrm>
            <a:off x="8412480" y="466344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xt-75"/>
          <p:cNvSpPr txBox="1"/>
          <p:nvPr/>
        </p:nvSpPr>
        <p:spPr>
          <a:xfrm>
            <a:off x="84124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3" name="txt-76"/>
          <p:cNvSpPr txBox="1"/>
          <p:nvPr/>
        </p:nvSpPr>
        <p:spPr>
          <a:xfrm>
            <a:off x="9052560" y="45720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View (GetView&lt;T&gt;)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Wajah aplikasi, murni menampilkan data visual.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Analogi Dunia Nyata: Studio Fotografi &amp; Dapur</a:t>
            </a:r>
            <a:endParaRPr lang="en-US" sz="2800" dirty="0"/>
          </a:p>
        </p:txBody>
      </p:sp>
      <p:sp>
        <p:nvSpPr>
          <p:cNvPr id="4" name="card-77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78"/>
          <p:cNvSpPr/>
          <p:nvPr/>
        </p:nvSpPr>
        <p:spPr>
          <a:xfrm>
            <a:off x="868680" y="169164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c-79" descr="FaBox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224" y="1926184"/>
            <a:ext cx="399593" cy="399593"/>
          </a:xfrm>
          <a:prstGeom prst="rect">
            <a:avLst/>
          </a:prstGeom>
        </p:spPr>
      </p:pic>
      <p:sp>
        <p:nvSpPr>
          <p:cNvPr id="7" name="txt-80"/>
          <p:cNvSpPr txBox="1"/>
          <p:nvPr/>
        </p:nvSpPr>
        <p:spPr>
          <a:xfrm>
            <a:off x="8686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</a:rPr>
              <a:t>1 · MODEL</a:t>
            </a:r>
            <a:endParaRPr lang="en-US" sz="1200" dirty="0"/>
          </a:p>
        </p:txBody>
      </p:sp>
      <p:sp>
        <p:nvSpPr>
          <p:cNvPr id="8" name="txt-81"/>
          <p:cNvSpPr txBox="1"/>
          <p:nvPr/>
        </p:nvSpPr>
        <p:spPr>
          <a:xfrm>
            <a:off x="86868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Bahan Baku / Objek Foto</a:t>
            </a:r>
            <a:endParaRPr lang="en-US" sz="2000" dirty="0"/>
          </a:p>
        </p:txBody>
      </p:sp>
      <p:sp>
        <p:nvSpPr>
          <p:cNvPr id="9" name="txt-82"/>
          <p:cNvSpPr txBox="1"/>
          <p:nvPr/>
        </p:nvSpPr>
        <p:spPr>
          <a:xfrm>
            <a:off x="86868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Kumpulan sepatu asli di gudang. Tidak punya logika, hanya entitas fisik yang punya nama, harga, dan ukuran.</a:t>
            </a:r>
            <a:endParaRPr lang="en-US" sz="1400" dirty="0"/>
          </a:p>
        </p:txBody>
      </p:sp>
      <p:sp>
        <p:nvSpPr>
          <p:cNvPr id="10" name="card-83"/>
          <p:cNvSpPr/>
          <p:nvPr/>
        </p:nvSpPr>
        <p:spPr>
          <a:xfrm>
            <a:off x="4320540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1" name="ic-bg-84"/>
          <p:cNvSpPr/>
          <p:nvPr/>
        </p:nvSpPr>
        <p:spPr>
          <a:xfrm>
            <a:off x="4640580" y="1691640"/>
            <a:ext cx="868680" cy="86868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2" name="ic-85" descr="FaUtensi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5124" y="1926184"/>
            <a:ext cx="399593" cy="399593"/>
          </a:xfrm>
          <a:prstGeom prst="rect">
            <a:avLst/>
          </a:prstGeom>
        </p:spPr>
      </p:pic>
      <p:sp>
        <p:nvSpPr>
          <p:cNvPr id="13" name="txt-86"/>
          <p:cNvSpPr txBox="1"/>
          <p:nvPr/>
        </p:nvSpPr>
        <p:spPr>
          <a:xfrm>
            <a:off x="46405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46E5"/>
                </a:solidFill>
              </a:rPr>
              <a:t>2 · VIEWMODEL</a:t>
            </a:r>
            <a:endParaRPr lang="en-US" sz="1200" dirty="0"/>
          </a:p>
        </p:txBody>
      </p:sp>
      <p:sp>
        <p:nvSpPr>
          <p:cNvPr id="14" name="txt-87"/>
          <p:cNvSpPr txBox="1"/>
          <p:nvPr/>
        </p:nvSpPr>
        <p:spPr>
          <a:xfrm>
            <a:off x="464058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Koki / Fotografer Pro</a:t>
            </a:r>
            <a:endParaRPr lang="en-US" sz="2000" dirty="0"/>
          </a:p>
        </p:txBody>
      </p:sp>
      <p:sp>
        <p:nvSpPr>
          <p:cNvPr id="15" name="txt-88"/>
          <p:cNvSpPr txBox="1"/>
          <p:nvPr/>
        </p:nvSpPr>
        <p:spPr>
          <a:xfrm>
            <a:off x="464058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Mengatur bagaimana produk ditata, memfilter ukuran yang tersedia, dan menghitung total harga saat dipesan.</a:t>
            </a:r>
            <a:endParaRPr lang="en-US" sz="1400" dirty="0"/>
          </a:p>
        </p:txBody>
      </p:sp>
      <p:sp>
        <p:nvSpPr>
          <p:cNvPr id="16" name="card-89"/>
          <p:cNvSpPr/>
          <p:nvPr/>
        </p:nvSpPr>
        <p:spPr>
          <a:xfrm>
            <a:off x="8092440" y="1371600"/>
            <a:ext cx="3520440" cy="44805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ic-bg-90"/>
          <p:cNvSpPr/>
          <p:nvPr/>
        </p:nvSpPr>
        <p:spPr>
          <a:xfrm>
            <a:off x="8412480" y="1691640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8" name="ic-91" descr="Fa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024" y="1926184"/>
            <a:ext cx="399593" cy="399593"/>
          </a:xfrm>
          <a:prstGeom prst="rect">
            <a:avLst/>
          </a:prstGeom>
        </p:spPr>
      </p:pic>
      <p:sp>
        <p:nvSpPr>
          <p:cNvPr id="19" name="txt-92"/>
          <p:cNvSpPr txBox="1"/>
          <p:nvPr/>
        </p:nvSpPr>
        <p:spPr>
          <a:xfrm>
            <a:off x="8412480" y="2834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97706"/>
                </a:solidFill>
              </a:rPr>
              <a:t>3 · VIEW</a:t>
            </a:r>
            <a:endParaRPr lang="en-US" sz="1200" dirty="0"/>
          </a:p>
        </p:txBody>
      </p:sp>
      <p:sp>
        <p:nvSpPr>
          <p:cNvPr id="20" name="txt-93"/>
          <p:cNvSpPr txBox="1"/>
          <p:nvPr/>
        </p:nvSpPr>
        <p:spPr>
          <a:xfrm>
            <a:off x="8412480" y="3154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Galeri Display / Etalase Toko</a:t>
            </a:r>
            <a:endParaRPr lang="en-US" sz="2000" dirty="0"/>
          </a:p>
        </p:txBody>
      </p:sp>
      <p:sp>
        <p:nvSpPr>
          <p:cNvPr id="21" name="txt-94"/>
          <p:cNvSpPr txBox="1"/>
          <p:nvPr/>
        </p:nvSpPr>
        <p:spPr>
          <a:xfrm>
            <a:off x="8412480" y="3977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Etalase kaca yang dilihat pengunjung. Etalase tidak memikirkan cara sepatu dijahit, hanya menampilkannya secara rapi.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Model: Cetak Biru Data yang Kuat (Type-Safe)</a:t>
            </a:r>
            <a:endParaRPr lang="en-US" sz="2800" dirty="0"/>
          </a:p>
        </p:txBody>
      </p:sp>
      <p:sp>
        <p:nvSpPr>
          <p:cNvPr id="4" name="card-95"/>
          <p:cNvSpPr/>
          <p:nvPr/>
        </p:nvSpPr>
        <p:spPr>
          <a:xfrm>
            <a:off x="548640" y="1371600"/>
            <a:ext cx="67665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code-96"/>
          <p:cNvSpPr txBox="1"/>
          <p:nvPr/>
        </p:nvSpPr>
        <p:spPr>
          <a:xfrm>
            <a:off x="548640" y="1371600"/>
            <a:ext cx="6766560" cy="4206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ProductModel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id;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int price;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imageUrl;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ProductModel({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this.id,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this.price,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required this.imageUrl,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chip-97"/>
          <p:cNvSpPr/>
          <p:nvPr/>
        </p:nvSpPr>
        <p:spPr>
          <a:xfrm>
            <a:off x="7680960" y="1371600"/>
            <a:ext cx="12801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7" name="txt-98"/>
          <p:cNvSpPr txBox="1"/>
          <p:nvPr/>
        </p:nvSpPr>
        <p:spPr>
          <a:xfrm>
            <a:off x="7680960" y="13716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MODEL</a:t>
            </a:r>
            <a:endParaRPr lang="en-US" sz="1300" dirty="0"/>
          </a:p>
        </p:txBody>
      </p:sp>
      <p:sp>
        <p:nvSpPr>
          <p:cNvPr id="8" name="card-99"/>
          <p:cNvSpPr/>
          <p:nvPr/>
        </p:nvSpPr>
        <p:spPr>
          <a:xfrm>
            <a:off x="7680960" y="1965960"/>
            <a:ext cx="3931920" cy="1600200"/>
          </a:xfrm>
          <a:prstGeom prst="roundRect">
            <a:avLst>
              <a:gd name="adj" fmla="val 6857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9" name="txt-100"/>
          <p:cNvSpPr txBox="1"/>
          <p:nvPr/>
        </p:nvSpPr>
        <p:spPr>
          <a:xfrm>
            <a:off x="7909560" y="205740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Poin Kunci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 tidak boleh mengimpor widget Flutter (seperti BuildContext atau Widget). Model murni kode Dart!</a:t>
            </a:r>
            <a:endParaRPr lang="en-US" sz="1500" dirty="0"/>
          </a:p>
        </p:txBody>
      </p:sp>
      <p:sp>
        <p:nvSpPr>
          <p:cNvPr id="10" name="card-101"/>
          <p:cNvSpPr/>
          <p:nvPr/>
        </p:nvSpPr>
        <p:spPr>
          <a:xfrm>
            <a:off x="7680960" y="374904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1" name="ic-102" descr="FaCheck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4023360"/>
            <a:ext cx="310896" cy="310896"/>
          </a:xfrm>
          <a:prstGeom prst="rect">
            <a:avLst/>
          </a:prstGeom>
        </p:spPr>
      </p:pic>
      <p:sp>
        <p:nvSpPr>
          <p:cNvPr id="12" name="txt-103"/>
          <p:cNvSpPr txBox="1"/>
          <p:nvPr/>
        </p:nvSpPr>
        <p:spPr>
          <a:xfrm>
            <a:off x="8412480" y="3749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Boleh: field dan tipe data</a:t>
            </a:r>
            <a:endParaRPr lang="en-US" sz="1400" dirty="0"/>
          </a:p>
        </p:txBody>
      </p:sp>
      <p:sp>
        <p:nvSpPr>
          <p:cNvPr id="13" name="card-104"/>
          <p:cNvSpPr/>
          <p:nvPr/>
        </p:nvSpPr>
        <p:spPr>
          <a:xfrm>
            <a:off x="7680960" y="47548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4" name="ic-105" descr="FaTimes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5029200"/>
            <a:ext cx="310896" cy="310896"/>
          </a:xfrm>
          <a:prstGeom prst="rect">
            <a:avLst/>
          </a:prstGeom>
        </p:spPr>
      </p:pic>
      <p:sp>
        <p:nvSpPr>
          <p:cNvPr id="15" name="txt-106"/>
          <p:cNvSpPr txBox="1"/>
          <p:nvPr/>
        </p:nvSpPr>
        <p:spPr>
          <a:xfrm>
            <a:off x="8412480" y="47548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Dilarang: Widget dan BuildContext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ViewModel: Tempat Logika dan Reaktivitas Hidup</a:t>
            </a:r>
            <a:endParaRPr lang="en-US" sz="2800" dirty="0"/>
          </a:p>
        </p:txBody>
      </p:sp>
      <p:sp>
        <p:nvSpPr>
          <p:cNvPr id="4" name="card-107"/>
          <p:cNvSpPr/>
          <p:nvPr/>
        </p:nvSpPr>
        <p:spPr>
          <a:xfrm>
            <a:off x="548640" y="1371600"/>
            <a:ext cx="70408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code-108"/>
          <p:cNvSpPr txBox="1"/>
          <p:nvPr/>
        </p:nvSpPr>
        <p:spPr>
          <a:xfrm>
            <a:off x="548640" y="1371600"/>
            <a:ext cx="7040880" cy="4206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DetailController extends GetxController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State Reaktif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selectedSize = '42'.obs;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quantity = 1.obs;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Logika Bisnis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changeSize(String newSize) =&gt;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selectedSize.value = newSize;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increment() =&gt; quantity.value++;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decrement()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(quantity.value &gt; 1) quantity.value--;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chip-109"/>
          <p:cNvSpPr/>
          <p:nvPr/>
        </p:nvSpPr>
        <p:spPr>
          <a:xfrm>
            <a:off x="7863840" y="1371600"/>
            <a:ext cx="164592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txt-110"/>
          <p:cNvSpPr txBox="1"/>
          <p:nvPr/>
        </p:nvSpPr>
        <p:spPr>
          <a:xfrm>
            <a:off x="786384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VIEWMODEL</a:t>
            </a:r>
            <a:endParaRPr lang="en-US" sz="1300" dirty="0"/>
          </a:p>
        </p:txBody>
      </p:sp>
      <p:sp>
        <p:nvSpPr>
          <p:cNvPr id="8" name="card-111"/>
          <p:cNvSpPr/>
          <p:nvPr/>
        </p:nvSpPr>
        <p:spPr>
          <a:xfrm>
            <a:off x="7863840" y="1965960"/>
            <a:ext cx="3749040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9" name="txt-112"/>
          <p:cNvSpPr txBox="1"/>
          <p:nvPr/>
        </p:nvSpPr>
        <p:spPr>
          <a:xfrm>
            <a:off x="8092440" y="2057400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Poin Kunci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ViewModel tidak tahu tombol apa yang ditekan user. Ia hanya menyediakan variabel state dan fungsi.</a:t>
            </a:r>
            <a:endParaRPr lang="en-US" sz="1500" dirty="0"/>
          </a:p>
        </p:txBody>
      </p:sp>
      <p:sp>
        <p:nvSpPr>
          <p:cNvPr id="10" name="card-113"/>
          <p:cNvSpPr/>
          <p:nvPr/>
        </p:nvSpPr>
        <p:spPr>
          <a:xfrm>
            <a:off x="7863840" y="374904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num-114"/>
          <p:cNvSpPr/>
          <p:nvPr/>
        </p:nvSpPr>
        <p:spPr>
          <a:xfrm>
            <a:off x="8092440" y="39502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xt-115"/>
          <p:cNvSpPr txBox="1"/>
          <p:nvPr/>
        </p:nvSpPr>
        <p:spPr>
          <a:xfrm>
            <a:off x="80924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xt-116"/>
          <p:cNvSpPr txBox="1"/>
          <p:nvPr/>
        </p:nvSpPr>
        <p:spPr>
          <a:xfrm>
            <a:off x="8732520" y="374904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 Reaktif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selectedSize dan quantity berbasis .obs</a:t>
            </a:r>
            <a:endParaRPr lang="en-US" sz="1400" dirty="0"/>
          </a:p>
        </p:txBody>
      </p:sp>
      <p:sp>
        <p:nvSpPr>
          <p:cNvPr id="14" name="card-117"/>
          <p:cNvSpPr/>
          <p:nvPr/>
        </p:nvSpPr>
        <p:spPr>
          <a:xfrm>
            <a:off x="7863840" y="4754880"/>
            <a:ext cx="374904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num-118"/>
          <p:cNvSpPr/>
          <p:nvPr/>
        </p:nvSpPr>
        <p:spPr>
          <a:xfrm>
            <a:off x="8092440" y="495604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xt-119"/>
          <p:cNvSpPr txBox="1"/>
          <p:nvPr/>
        </p:nvSpPr>
        <p:spPr>
          <a:xfrm>
            <a:off x="8092440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7" name="txt-120"/>
          <p:cNvSpPr txBox="1"/>
          <p:nvPr/>
        </p:nvSpPr>
        <p:spPr>
          <a:xfrm>
            <a:off x="8732520" y="475488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Logika Bisnis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changeSize, increment, dan decrement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View: Tampilan Bersih Menggunakan GetView&lt;T&gt;</a:t>
            </a:r>
            <a:endParaRPr lang="en-US" sz="2800" dirty="0"/>
          </a:p>
        </p:txBody>
      </p:sp>
      <p:sp>
        <p:nvSpPr>
          <p:cNvPr id="4" name="card-121"/>
          <p:cNvSpPr/>
          <p:nvPr/>
        </p:nvSpPr>
        <p:spPr>
          <a:xfrm>
            <a:off x="548640" y="1371600"/>
            <a:ext cx="7223760" cy="4754880"/>
          </a:xfrm>
          <a:prstGeom prst="roundRect">
            <a:avLst>
              <a:gd name="adj" fmla="val 2308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code-122"/>
          <p:cNvSpPr txBox="1"/>
          <p:nvPr/>
        </p:nvSpPr>
        <p:spPr>
          <a:xfrm>
            <a:off x="548640" y="1371600"/>
            <a:ext cx="7223760" cy="47548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DetailView extends GetView&lt;DetailController&gt;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appBar: AppBar(title: const Text('Detail Sepatu')),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body: Center(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Column(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children: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Obx(() =&gt; Text(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"Ukuran: ${controller.selectedSize}")),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ElevatedButton(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onPressed: () =&gt;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controller.changeSize('43'),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child: const Text('Pilih Ukuran 43'),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chip-123"/>
          <p:cNvSpPr/>
          <p:nvPr/>
        </p:nvSpPr>
        <p:spPr>
          <a:xfrm>
            <a:off x="8046720" y="137160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7" name="txt-124"/>
          <p:cNvSpPr txBox="1"/>
          <p:nvPr/>
        </p:nvSpPr>
        <p:spPr>
          <a:xfrm>
            <a:off x="8046720" y="1371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VIEW</a:t>
            </a:r>
            <a:endParaRPr lang="en-US" sz="1300" dirty="0"/>
          </a:p>
        </p:txBody>
      </p:sp>
      <p:sp>
        <p:nvSpPr>
          <p:cNvPr id="8" name="card-125"/>
          <p:cNvSpPr/>
          <p:nvPr/>
        </p:nvSpPr>
        <p:spPr>
          <a:xfrm>
            <a:off x="8046720" y="196596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9" name="txt-126"/>
          <p:cNvSpPr txBox="1"/>
          <p:nvPr/>
        </p:nvSpPr>
        <p:spPr>
          <a:xfrm>
            <a:off x="8275320" y="20574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Poin Kunci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GetView otomatis menyediakan getter controller tanpa perlu Get.find() manual!</a:t>
            </a:r>
            <a:endParaRPr lang="en-US" sz="1500" dirty="0"/>
          </a:p>
        </p:txBody>
      </p:sp>
      <p:sp>
        <p:nvSpPr>
          <p:cNvPr id="10" name="card-127"/>
          <p:cNvSpPr/>
          <p:nvPr/>
        </p:nvSpPr>
        <p:spPr>
          <a:xfrm>
            <a:off x="8046720" y="384048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xt-128"/>
          <p:cNvSpPr txBox="1"/>
          <p:nvPr/>
        </p:nvSpPr>
        <p:spPr>
          <a:xfrm>
            <a:off x="8275320" y="3840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Obx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Menampilkan state reaktif</a:t>
            </a:r>
            <a:endParaRPr lang="en-US" sz="1400" dirty="0"/>
          </a:p>
        </p:txBody>
      </p:sp>
      <p:sp>
        <p:nvSpPr>
          <p:cNvPr id="12" name="card-129"/>
          <p:cNvSpPr/>
          <p:nvPr/>
        </p:nvSpPr>
        <p:spPr>
          <a:xfrm>
            <a:off x="8046720" y="5029200"/>
            <a:ext cx="356616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xt-130"/>
          <p:cNvSpPr txBox="1"/>
          <p:nvPr/>
        </p:nvSpPr>
        <p:spPr>
          <a:xfrm>
            <a:off x="8275320" y="50292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onPressed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Meneruskan klik ke controller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Perbandingan: Sebelum vs Sesudah MVVM</a:t>
            </a:r>
            <a:endParaRPr lang="en-US" sz="2800" dirty="0"/>
          </a:p>
        </p:txBody>
      </p:sp>
      <p:graphicFrame>
        <p:nvGraphicFramePr>
          <p:cNvPr id="9" name="tabel-perbanding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Aspek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Tanpa MVVM (Monolitik)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Dengan MVVM (GetX Pattern)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Lokasi Logika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Tercampur di dalam widget build()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Terpisah di Controller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Testing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Harus menjalankan UI/Emulator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Unit test logic tanpa butuh UI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Kerapian Kode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File bisa mencapai 1000+ baris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View ringkas (~150 baris), Controller fokus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Kerja Tim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Sering terjadi Git Conflict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Frontend UI &amp; Backend Logic bisa paralel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rd-131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/>
        </p:spPr>
      </p:sp>
      <p:sp>
        <p:nvSpPr>
          <p:cNvPr id="6" name="txt-13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Hasilnya: kode lebih rapi, mudah diuji, dan nyaman dikerjakan bersama.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Kuis Pemahaman Arsitektur</a:t>
            </a:r>
            <a:endParaRPr lang="en-US" sz="2800" dirty="0"/>
          </a:p>
        </p:txBody>
      </p:sp>
      <p:sp>
        <p:nvSpPr>
          <p:cNvPr id="4" name="card-133"/>
          <p:cNvSpPr/>
          <p:nvPr/>
        </p:nvSpPr>
        <p:spPr>
          <a:xfrm>
            <a:off x="54864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chip-134"/>
          <p:cNvSpPr/>
          <p:nvPr/>
        </p:nvSpPr>
        <p:spPr>
          <a:xfrm>
            <a:off x="82296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xt-135"/>
          <p:cNvSpPr txBox="1"/>
          <p:nvPr/>
        </p:nvSpPr>
        <p:spPr>
          <a:xfrm>
            <a:off x="82296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1</a:t>
            </a:r>
            <a:endParaRPr lang="en-US" sz="1200" dirty="0"/>
          </a:p>
        </p:txBody>
      </p:sp>
      <p:sp>
        <p:nvSpPr>
          <p:cNvPr id="7" name="txt-136"/>
          <p:cNvSpPr txBox="1"/>
          <p:nvPr/>
        </p:nvSpPr>
        <p:spPr>
          <a:xfrm>
            <a:off x="822960" y="21945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 mana kita harus meletakkan fungsi untuk menghitung total belanja setelah diskon voucher?</a:t>
            </a:r>
            <a:endParaRPr lang="en-US" sz="1700" dirty="0"/>
          </a:p>
        </p:txBody>
      </p:sp>
      <p:sp>
        <p:nvSpPr>
          <p:cNvPr id="8" name="opt-137"/>
          <p:cNvSpPr/>
          <p:nvPr/>
        </p:nvSpPr>
        <p:spPr>
          <a:xfrm>
            <a:off x="777240" y="338328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badge-138"/>
          <p:cNvSpPr/>
          <p:nvPr/>
        </p:nvSpPr>
        <p:spPr>
          <a:xfrm>
            <a:off x="960120" y="355701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xt-139"/>
          <p:cNvSpPr txBox="1"/>
          <p:nvPr/>
        </p:nvSpPr>
        <p:spPr>
          <a:xfrm>
            <a:off x="96012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xt-140"/>
          <p:cNvSpPr txBox="1"/>
          <p:nvPr/>
        </p:nvSpPr>
        <p:spPr>
          <a:xfrm>
            <a:off x="1554480" y="33832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 dalam widget Text</a:t>
            </a:r>
            <a:endParaRPr lang="en-US" sz="1500" dirty="0"/>
          </a:p>
        </p:txBody>
      </p:sp>
      <p:sp>
        <p:nvSpPr>
          <p:cNvPr id="12" name="opt-141"/>
          <p:cNvSpPr/>
          <p:nvPr/>
        </p:nvSpPr>
        <p:spPr>
          <a:xfrm>
            <a:off x="777240" y="425196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badge-142"/>
          <p:cNvSpPr/>
          <p:nvPr/>
        </p:nvSpPr>
        <p:spPr>
          <a:xfrm>
            <a:off x="960120" y="44256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xt-143"/>
          <p:cNvSpPr txBox="1"/>
          <p:nvPr/>
        </p:nvSpPr>
        <p:spPr>
          <a:xfrm>
            <a:off x="96012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xt-144"/>
          <p:cNvSpPr txBox="1"/>
          <p:nvPr/>
        </p:nvSpPr>
        <p:spPr>
          <a:xfrm>
            <a:off x="1554480" y="4251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 dalam Controller</a:t>
            </a:r>
            <a:endParaRPr lang="en-US" sz="1500" dirty="0"/>
          </a:p>
        </p:txBody>
      </p:sp>
      <p:sp>
        <p:nvSpPr>
          <p:cNvPr id="16" name="opt-145"/>
          <p:cNvSpPr/>
          <p:nvPr/>
        </p:nvSpPr>
        <p:spPr>
          <a:xfrm>
            <a:off x="777240" y="512064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badge-146"/>
          <p:cNvSpPr/>
          <p:nvPr/>
        </p:nvSpPr>
        <p:spPr>
          <a:xfrm>
            <a:off x="960120" y="529437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xt-147"/>
          <p:cNvSpPr txBox="1"/>
          <p:nvPr/>
        </p:nvSpPr>
        <p:spPr>
          <a:xfrm>
            <a:off x="96012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9" name="txt-148"/>
          <p:cNvSpPr txBox="1"/>
          <p:nvPr/>
        </p:nvSpPr>
        <p:spPr>
          <a:xfrm>
            <a:off x="1554480" y="51206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 dalam file main.dart</a:t>
            </a:r>
            <a:endParaRPr lang="en-US" sz="1500" dirty="0"/>
          </a:p>
        </p:txBody>
      </p:sp>
      <p:sp>
        <p:nvSpPr>
          <p:cNvPr id="20" name="card-149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chip-150"/>
          <p:cNvSpPr/>
          <p:nvPr/>
        </p:nvSpPr>
        <p:spPr>
          <a:xfrm>
            <a:off x="644652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xt-151"/>
          <p:cNvSpPr txBox="1"/>
          <p:nvPr/>
        </p:nvSpPr>
        <p:spPr>
          <a:xfrm>
            <a:off x="644652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2</a:t>
            </a:r>
            <a:endParaRPr lang="en-US" sz="1200" dirty="0"/>
          </a:p>
        </p:txBody>
      </p:sp>
      <p:sp>
        <p:nvSpPr>
          <p:cNvPr id="23" name="txt-152"/>
          <p:cNvSpPr txBox="1"/>
          <p:nvPr/>
        </p:nvSpPr>
        <p:spPr>
          <a:xfrm>
            <a:off x="6446520" y="21945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 keuntungan utama menggunakan GetView&lt;MyController&gt; dibanding StatelessWidget biasa?</a:t>
            </a:r>
            <a:endParaRPr lang="en-US" sz="1700" dirty="0"/>
          </a:p>
        </p:txBody>
      </p:sp>
      <p:sp>
        <p:nvSpPr>
          <p:cNvPr id="24" name="opt-153"/>
          <p:cNvSpPr/>
          <p:nvPr/>
        </p:nvSpPr>
        <p:spPr>
          <a:xfrm>
            <a:off x="6400800" y="338328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badge-154"/>
          <p:cNvSpPr/>
          <p:nvPr/>
        </p:nvSpPr>
        <p:spPr>
          <a:xfrm>
            <a:off x="6583680" y="355701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xt-155"/>
          <p:cNvSpPr txBox="1"/>
          <p:nvPr/>
        </p:nvSpPr>
        <p:spPr>
          <a:xfrm>
            <a:off x="658368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27" name="txt-156"/>
          <p:cNvSpPr txBox="1"/>
          <p:nvPr/>
        </p:nvSpPr>
        <p:spPr>
          <a:xfrm>
            <a:off x="7178040" y="338328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Tidak perlu memanggil Get.find manual</a:t>
            </a:r>
            <a:endParaRPr lang="en-US" sz="1500" dirty="0"/>
          </a:p>
        </p:txBody>
      </p:sp>
      <p:sp>
        <p:nvSpPr>
          <p:cNvPr id="28" name="opt-157"/>
          <p:cNvSpPr/>
          <p:nvPr/>
        </p:nvSpPr>
        <p:spPr>
          <a:xfrm>
            <a:off x="6400800" y="425196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badge-158"/>
          <p:cNvSpPr/>
          <p:nvPr/>
        </p:nvSpPr>
        <p:spPr>
          <a:xfrm>
            <a:off x="6583680" y="442569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0" name="txt-159"/>
          <p:cNvSpPr txBox="1"/>
          <p:nvPr/>
        </p:nvSpPr>
        <p:spPr>
          <a:xfrm>
            <a:off x="658368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31" name="txt-160"/>
          <p:cNvSpPr txBox="1"/>
          <p:nvPr/>
        </p:nvSpPr>
        <p:spPr>
          <a:xfrm>
            <a:off x="7178040" y="42519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Membuat aplikasi lebih lambat</a:t>
            </a:r>
            <a:endParaRPr lang="en-US" sz="1500" dirty="0"/>
          </a:p>
        </p:txBody>
      </p:sp>
      <p:sp>
        <p:nvSpPr>
          <p:cNvPr id="32" name="opt-161"/>
          <p:cNvSpPr/>
          <p:nvPr/>
        </p:nvSpPr>
        <p:spPr>
          <a:xfrm>
            <a:off x="6400800" y="5120640"/>
            <a:ext cx="498348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badge-162"/>
          <p:cNvSpPr/>
          <p:nvPr/>
        </p:nvSpPr>
        <p:spPr>
          <a:xfrm>
            <a:off x="6583680" y="529437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xt-163"/>
          <p:cNvSpPr txBox="1"/>
          <p:nvPr/>
        </p:nvSpPr>
        <p:spPr>
          <a:xfrm>
            <a:off x="6583680" y="5294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35" name="txt-164"/>
          <p:cNvSpPr txBox="1"/>
          <p:nvPr/>
        </p:nvSpPr>
        <p:spPr>
          <a:xfrm>
            <a:off x="7178040" y="51206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Mengubah nama icon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Rangkuman &amp; Golden Rules MVVM</a:t>
            </a:r>
            <a:endParaRPr lang="en-US" sz="2800" dirty="0"/>
          </a:p>
        </p:txBody>
      </p:sp>
      <p:sp>
        <p:nvSpPr>
          <p:cNvPr id="4" name="card-165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num-166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xt-167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xt-168"/>
          <p:cNvSpPr txBox="1"/>
          <p:nvPr/>
        </p:nvSpPr>
        <p:spPr>
          <a:xfrm>
            <a:off x="1783080" y="13716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View</a:t>
            </a:r>
            <a:endParaRPr lang="en-US" sz="2200" dirty="0"/>
          </a:p>
        </p:txBody>
      </p:sp>
      <p:sp>
        <p:nvSpPr>
          <p:cNvPr id="8" name="txt-169"/>
          <p:cNvSpPr txBox="1"/>
          <p:nvPr/>
        </p:nvSpPr>
        <p:spPr>
          <a:xfrm>
            <a:off x="4114800" y="1371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HANYA boleh menampilkan data dan meneruskan event klik ke controller.</a:t>
            </a:r>
            <a:endParaRPr lang="en-US" sz="1700" dirty="0"/>
          </a:p>
        </p:txBody>
      </p:sp>
      <p:sp>
        <p:nvSpPr>
          <p:cNvPr id="9" name="card-170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num-171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xt-172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xt-173"/>
          <p:cNvSpPr txBox="1"/>
          <p:nvPr/>
        </p:nvSpPr>
        <p:spPr>
          <a:xfrm>
            <a:off x="1783080" y="27432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Controller</a:t>
            </a:r>
            <a:endParaRPr lang="en-US" sz="2200" dirty="0"/>
          </a:p>
        </p:txBody>
      </p:sp>
      <p:sp>
        <p:nvSpPr>
          <p:cNvPr id="13" name="txt-174"/>
          <p:cNvSpPr txBox="1"/>
          <p:nvPr/>
        </p:nvSpPr>
        <p:spPr>
          <a:xfrm>
            <a:off x="4114800" y="27432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HANYA mengurus data reaktif dan fungsi logika bisnis.</a:t>
            </a:r>
            <a:endParaRPr lang="en-US" sz="1700" dirty="0"/>
          </a:p>
        </p:txBody>
      </p:sp>
      <p:sp>
        <p:nvSpPr>
          <p:cNvPr id="14" name="card-175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num-176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xt-177"/>
          <p:cNvSpPr txBox="1"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xt-178"/>
          <p:cNvSpPr txBox="1"/>
          <p:nvPr/>
        </p:nvSpPr>
        <p:spPr>
          <a:xfrm>
            <a:off x="1783080" y="4114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Model</a:t>
            </a:r>
            <a:endParaRPr lang="en-US" sz="2200" dirty="0"/>
          </a:p>
        </p:txBody>
      </p:sp>
      <p:sp>
        <p:nvSpPr>
          <p:cNvPr id="18" name="txt-179"/>
          <p:cNvSpPr txBox="1"/>
          <p:nvPr/>
        </p:nvSpPr>
        <p:spPr>
          <a:xfrm>
            <a:off x="4114800" y="4114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HANYA mendefinisikan struktur data murni.</a:t>
            </a:r>
            <a:endParaRPr lang="en-US" sz="1700" dirty="0"/>
          </a:p>
        </p:txBody>
      </p:sp>
      <p:sp>
        <p:nvSpPr>
          <p:cNvPr id="19" name="closing-180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20" name="txt-181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Satu layer, satu tanggung jawab: itulah kunci arsitektur skala industri.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VVM Light">
  <a:themeElements>
    <a:clrScheme name="MVVM Ligh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4F46E5"/>
      </a:accent1>
      <a:accent2>
        <a:srgbClr val="0D9488"/>
      </a:accent2>
      <a:accent3>
        <a:srgbClr val="E11D48"/>
      </a:accent3>
      <a:accent4>
        <a:srgbClr val="D97706"/>
      </a:accent4>
      <a:accent5>
        <a:srgbClr val="E0E7FF"/>
      </a:accent5>
      <a:accent6>
        <a:srgbClr val="64748B"/>
      </a:accent6>
      <a:hlink>
        <a:srgbClr val="4F46E5"/>
      </a:hlink>
      <a:folHlink>
        <a:srgbClr val="7C3AED"/>
      </a:folHlink>
    </a:clrScheme>
    <a:fontScheme name="MVVM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Arsitektur MVVM pada Flutter &amp; GetX</dc:title>
  <dc:subject>PptxGenJS Presentation</dc:subject>
  <dc:creator>Flutter Arsitektur</dc:creator>
  <cp:lastModifiedBy>Flutter Arsitektur</cp:lastModifiedBy>
  <cp:revision>1</cp:revision>
  <dcterms:created xsi:type="dcterms:W3CDTF">2026-10-20T07:06:15Z</dcterms:created>
  <dcterms:modified xsi:type="dcterms:W3CDTF">2026-10-20T07:06:15Z</dcterms:modified>
</cp:coreProperties>
</file>