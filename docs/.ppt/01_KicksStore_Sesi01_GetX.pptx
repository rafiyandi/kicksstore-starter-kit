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e7fbf8d8-103e-7721-daca-8a7886ac4df5}">
          <p14:sldIdLst>
            <p14:sldId id="256"/>
            <p14:sldId id="257"/>
          </p14:sldIdLst>
        </p14:section>
        <p14:section name="Masalah &amp; Konsep" id="{ed55de50-9266-50bd-3c45-1b639bbdd039}">
          <p14:sldIdLst>
            <p14:sldId id="258"/>
            <p14:sldId id="259"/>
            <p14:sldId id="260"/>
          </p14:sldIdLst>
        </p14:section>
        <p14:section name="Tiga Pilar GetX" id="{6953bc8e-d819-7aad-ac31-0f289e39e7cb}">
          <p14:sldIdLst>
            <p14:sldId id="261"/>
            <p14:sldId id="262"/>
            <p14:sldId id="263"/>
            <p14:sldId id="264"/>
          </p14:sldIdLst>
        </p14:section>
        <p14:section name="Praktik &amp; Penutup" id="{bf052776-1e33-d36c-2f97-cca0a26507c8}">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rekan-rekan siswa. Hari ini di Sesi 01 kita tidak langsung terjun mengetik ratusan baris layouting. Kita akan membangun peta mental yang sangat penting: bagaimana arsitektur GetX membuat kode aplikasi mobile kita jauh lebih cepat, hemat memori, dan rapi seperti standar industri di perusahaan teknologi.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kita terbagi menjadi 3 bagian: pertama memahami masalah, kedua memahami solusi 3 pilar GetX, dan ketiga melihat implementasinya langsung pada proyek KicksStore.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developer pemula bertanya, 'Kenapa tidak pakai setState() saja?'. Bayangkan kalian ingin mengecat ulang 1 pintu kamar mandi, tapi kalian merobohkan dan membangun ulang seluruh gedung rumah. Itulah yang dilakukan setState(). GetX hanya mengecat pintunya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 rumus ini: State mengurus DATA, Route mengurus NAVIGASI, dan Dependency mengurus MEMORI RAM. Ketiganya independen namun bersinergi.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Pelanggan tidak pernah memasak sendiri di meja makan. Sama halnya di Flutter: View tidak boleh melakukan kalkulasi harga atau panggilan API secara langsung. View hanya memanggil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perbedaannya: dengan Obx, hanya widget Text yang diperbarui nilainya. Tombol, AppBar, background layar tidak disentuh sama sekali. Aplikasi menjadi sangat ringan dan hemat baterai.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tipe dasar Dart punya padanan reaktif di GetX. Cukup tambahkan .obs di belakang nilai awal. Tekankan peringatan di bawah: Obx hanya boleh membungkus widget yang benar-benar membaca variabel .obs.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lagi kode panjang seperti Navigator.of(context).push(MaterialPageRoute(...)). Dengan Get.toNamed(), navigasi menjadi sangat mudah dibaca dan dapat dipanggil dari mana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Binding adalah 'distributor' controller. Dengan lazyPut, controller baru dibuat ketika halaman dibuka, dan GetX membuangnya otomatis saat halaman ditutup. Bandingkan dengan membuat controller langsung di View yang membuat objek baru setiap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GetX CLI menghilangkan pekerjaan berulang: satu perintah membuat View, Controller, Binding, dan mendaftarkan route. Untuk kelas dengan 30+ siswa, ini membuat struktur seragam dan memudahkan guru memeriksa tugas.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pembagian layer: core untuk tema, data untuk model dan akses data, modules untuk fitur mandiri, dan routes untuk registry rute. Setiap modul berisi bindings, controllers, dan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Siswa tidak perlu menghabiskan waktu berjam-jam memperbaiki layout. Fokus kita adalah menghubungkan logika bisnis dan API ke UI yang sudah jadi, sama seperti pekerjaan nyata di industri.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siswa menjawab terlebih dahulu sebelum menunjuk jawaban benar (ditandai hijau). Kuis 1: reaktivitas .obs/Obx. Kuis 2: routing tanpa BuildContext. Kuis 3: peran Binding.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 tiga capaian utama, lalu pastikan semua siswa menyiapkan lingkungan kerja sebelum Sesi 02: Flutter SDK, clone repository starter-kit, dan jalankan aplikasi di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217920" cy="182880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3" name="Text 0"/>
          <p:cNvSpPr/>
          <p:nvPr>
            <p:ph idx="101" type="body" hasCustomPrompt="1"/>
          </p:nvPr>
        </p:nvSpPr>
        <p:spPr>
          <a:xfrm>
            <a:off x="731520" y="4114800"/>
            <a:ext cx="5852160" cy="91440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Flutter Bootcamp SMK • Sesi 01 · Fondasi GetX Framework &amp; GetX CLI</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1"/>
          <p:cNvSpPr/>
          <p:nvPr/>
        </p:nvSpPr>
        <p:spPr>
          <a:xfrm>
            <a:off x="731520" y="1463040"/>
            <a:ext cx="3931920" cy="384048"/>
          </a:xfrm>
          <a:prstGeom prst="roundRect">
            <a:avLst>
              <a:gd name="adj" fmla="val 50000"/>
            </a:avLst>
          </a:prstGeom>
          <a:solidFill>
            <a:schemeClr val="accent5"/>
          </a:solidFill>
          <a:ln/>
        </p:spPr>
      </p:sp>
      <p:sp>
        <p:nvSpPr>
          <p:cNvPr id="3" name="txt-2"/>
          <p:cNvSpPr txBox="1"/>
          <p:nvPr/>
        </p:nvSpPr>
        <p:spPr>
          <a:xfrm>
            <a:off x="731520" y="1463040"/>
            <a:ext cx="3931920" cy="384048"/>
          </a:xfrm>
          <a:prstGeom prst="rect">
            <a:avLst/>
          </a:prstGeom>
          <a:noFill/>
          <a:ln/>
        </p:spPr>
        <p:txBody>
          <a:bodyPr wrap="square" lIns="0" tIns="0" rIns="0" bIns="0" rtlCol="0" anchor="ctr"/>
          <a:lstStyle/>
          <a:p>
            <a:pPr algn="ctr" indent="0" marL="0">
              <a:buNone/>
            </a:pPr>
            <a:r>
              <a:rPr lang="en-US" sz="1200" b="1" dirty="0">
                <a:solidFill>
                  <a:schemeClr val="accent1"/>
                </a:solidFill>
              </a:rPr>
              <a:t>FLUTTER BOOTCAMP SMK • SESI 01</a:t>
            </a:r>
            <a:endParaRPr lang="en-US" sz="1200" dirty="0"/>
          </a:p>
        </p:txBody>
      </p:sp>
      <p:sp>
        <p:nvSpPr>
          <p:cNvPr id="4" name="Text 0"/>
          <p:cNvSpPr/>
          <p:nvPr>
            <p:ph idx="100" type="title" hasCustomPrompt="1"/>
          </p:nvPr>
        </p:nvSpPr>
        <p:spPr>
          <a:xfrm>
            <a:off x="731520" y="2103120"/>
            <a:ext cx="6217920" cy="1828800"/>
          </a:xfrm>
          <a:prstGeom prst="rect">
            <a:avLst/>
          </a:prstGeom>
          <a:noFill/>
          <a:ln/>
        </p:spPr>
        <p:txBody>
          <a:bodyPr wrap="square" lIns="0" tIns="0" rIns="0" bIns="0" rtlCol="0" anchor="t"/>
          <a:lstStyle/>
          <a:p>
            <a:pPr algn="l" indent="0" marL="0">
              <a:buNone/>
            </a:pPr>
            <a:r>
              <a:rPr lang="en-US" sz="3800" b="1" dirty="0">
                <a:solidFill>
                  <a:schemeClr val="tx1"/>
                </a:solidFill>
              </a:rPr>
              <a:t>Menguasai Fondasi Arsitektur </a:t>
            </a:r>
            <a:pPr algn="l" indent="0" marL="0">
              <a:buNone/>
            </a:pPr>
            <a:r>
              <a:rPr lang="en-US" sz="3800" b="1" dirty="0">
                <a:solidFill>
                  <a:schemeClr val="accent1"/>
                </a:solidFill>
              </a:rPr>
              <a:t>GetX &amp; GetX CLI</a:t>
            </a:r>
            <a:endParaRPr lang="en-US" sz="3800" dirty="0"/>
          </a:p>
        </p:txBody>
      </p:sp>
      <p:sp>
        <p:nvSpPr>
          <p:cNvPr id="5" name="Text 0"/>
          <p:cNvSpPr/>
          <p:nvPr>
            <p:ph idx="101" type="body" hasCustomPrompt="1"/>
          </p:nvPr>
        </p:nvSpPr>
        <p:spPr>
          <a:xfrm>
            <a:off x="731520" y="4114800"/>
            <a:ext cx="5852160" cy="914400"/>
          </a:xfrm>
          <a:prstGeom prst="rect">
            <a:avLst/>
          </a:prstGeom>
          <a:noFill/>
          <a:ln/>
        </p:spPr>
        <p:txBody>
          <a:bodyPr wrap="square" lIns="0" tIns="0" rIns="0" bIns="0" rtlCol="0" anchor="t"/>
          <a:lstStyle/>
          <a:p>
            <a:pPr algn="l" indent="0" marL="0">
              <a:buNone/>
            </a:pPr>
            <a:r>
              <a:rPr lang="en-US" sz="1800" dirty="0">
                <a:solidFill>
                  <a:schemeClr val="tx2"/>
                </a:solidFill>
              </a:rPr>
              <a:t>Membedah 3 Pilar Utama: State Management, Route Management, &amp; Dependency Management</a:t>
            </a:r>
            <a:endParaRPr lang="en-US" sz="1800" dirty="0"/>
          </a:p>
        </p:txBody>
      </p:sp>
      <p:sp>
        <p:nvSpPr>
          <p:cNvPr id="6" name="card-3"/>
          <p:cNvSpPr/>
          <p:nvPr/>
        </p:nvSpPr>
        <p:spPr>
          <a:xfrm>
            <a:off x="7406640" y="1325880"/>
            <a:ext cx="4206240" cy="1325880"/>
          </a:xfrm>
          <a:prstGeom prst="roundRect">
            <a:avLst>
              <a:gd name="adj" fmla="val 8276"/>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7" name="ic-bg-4"/>
          <p:cNvSpPr/>
          <p:nvPr/>
        </p:nvSpPr>
        <p:spPr>
          <a:xfrm>
            <a:off x="7635240" y="1668780"/>
            <a:ext cx="640080" cy="640080"/>
          </a:xfrm>
          <a:prstGeom prst="ellipse">
            <a:avLst/>
          </a:prstGeom>
          <a:solidFill>
            <a:srgbClr val="4F46E5"/>
          </a:solidFill>
          <a:ln/>
        </p:spPr>
      </p:sp>
      <p:pic>
        <p:nvPicPr>
          <p:cNvPr id="8" name="ic-5" descr="FaShoppingBag">    </p:cNvPr>
          <p:cNvPicPr>
            <a:picLocks noChangeAspect="1"/>
          </p:cNvPicPr>
          <p:nvPr/>
        </p:nvPicPr>
        <p:blipFill>
          <a:blip r:embed="rId1"/>
          <a:stretch>
            <a:fillRect/>
          </a:stretch>
        </p:blipFill>
        <p:spPr>
          <a:xfrm>
            <a:off x="7808062" y="1841602"/>
            <a:ext cx="294437" cy="294437"/>
          </a:xfrm>
          <a:prstGeom prst="rect">
            <a:avLst/>
          </a:prstGeom>
        </p:spPr>
      </p:pic>
      <p:sp>
        <p:nvSpPr>
          <p:cNvPr id="9" name="txt-6"/>
          <p:cNvSpPr txBox="1"/>
          <p:nvPr/>
        </p:nvSpPr>
        <p:spPr>
          <a:xfrm>
            <a:off x="8458200" y="1581912"/>
            <a:ext cx="301752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STUDI KASUS PROYEK</a:t>
            </a:r>
            <a:endParaRPr lang="en-US" sz="1100" dirty="0"/>
          </a:p>
        </p:txBody>
      </p:sp>
      <p:sp>
        <p:nvSpPr>
          <p:cNvPr id="10" name="txt-7"/>
          <p:cNvSpPr txBox="1"/>
          <p:nvPr/>
        </p:nvSpPr>
        <p:spPr>
          <a:xfrm>
            <a:off x="8458200" y="1856232"/>
            <a:ext cx="3017520" cy="640080"/>
          </a:xfrm>
          <a:prstGeom prst="rect">
            <a:avLst/>
          </a:prstGeom>
          <a:noFill/>
          <a:ln/>
        </p:spPr>
        <p:txBody>
          <a:bodyPr wrap="square" lIns="0" tIns="0" rIns="0" bIns="0" rtlCol="0" anchor="t"/>
          <a:lstStyle/>
          <a:p>
            <a:pPr indent="0" marL="0">
              <a:buNone/>
            </a:pPr>
            <a:r>
              <a:rPr lang="en-US" sz="1600" b="1" dirty="0">
                <a:solidFill>
                  <a:schemeClr val="tx1"/>
                </a:solidFill>
              </a:rPr>
              <a:t>Aplikasi Mini E-Commerce Sepatu (KicksStore)</a:t>
            </a:r>
            <a:endParaRPr lang="en-US" sz="1600" dirty="0"/>
          </a:p>
        </p:txBody>
      </p:sp>
      <p:sp>
        <p:nvSpPr>
          <p:cNvPr id="11" name="card-8"/>
          <p:cNvSpPr/>
          <p:nvPr/>
        </p:nvSpPr>
        <p:spPr>
          <a:xfrm>
            <a:off x="7406640" y="2880360"/>
            <a:ext cx="4206240" cy="1325880"/>
          </a:xfrm>
          <a:prstGeom prst="roundRect">
            <a:avLst>
              <a:gd name="adj" fmla="val 8276"/>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2" name="ic-bg-9"/>
          <p:cNvSpPr/>
          <p:nvPr/>
        </p:nvSpPr>
        <p:spPr>
          <a:xfrm>
            <a:off x="7635240" y="3223260"/>
            <a:ext cx="640080" cy="640080"/>
          </a:xfrm>
          <a:prstGeom prst="ellipse">
            <a:avLst/>
          </a:prstGeom>
          <a:solidFill>
            <a:srgbClr val="EA580C"/>
          </a:solidFill>
          <a:ln/>
        </p:spPr>
      </p:sp>
      <p:pic>
        <p:nvPicPr>
          <p:cNvPr id="13" name="ic-10" descr="FaLayerGroup">    </p:cNvPr>
          <p:cNvPicPr>
            <a:picLocks noChangeAspect="1"/>
          </p:cNvPicPr>
          <p:nvPr/>
        </p:nvPicPr>
        <p:blipFill>
          <a:blip r:embed="rId2"/>
          <a:stretch>
            <a:fillRect/>
          </a:stretch>
        </p:blipFill>
        <p:spPr>
          <a:xfrm>
            <a:off x="7808062" y="3396082"/>
            <a:ext cx="294437" cy="294437"/>
          </a:xfrm>
          <a:prstGeom prst="rect">
            <a:avLst/>
          </a:prstGeom>
        </p:spPr>
      </p:pic>
      <p:sp>
        <p:nvSpPr>
          <p:cNvPr id="14" name="txt-11"/>
          <p:cNvSpPr txBox="1"/>
          <p:nvPr/>
        </p:nvSpPr>
        <p:spPr>
          <a:xfrm>
            <a:off x="8458200" y="3136392"/>
            <a:ext cx="301752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METODE BELAJAR</a:t>
            </a:r>
            <a:endParaRPr lang="en-US" sz="1100" dirty="0"/>
          </a:p>
        </p:txBody>
      </p:sp>
      <p:sp>
        <p:nvSpPr>
          <p:cNvPr id="15" name="txt-12"/>
          <p:cNvSpPr txBox="1"/>
          <p:nvPr/>
        </p:nvSpPr>
        <p:spPr>
          <a:xfrm>
            <a:off x="8458200" y="3410712"/>
            <a:ext cx="3017520" cy="640080"/>
          </a:xfrm>
          <a:prstGeom prst="rect">
            <a:avLst/>
          </a:prstGeom>
          <a:noFill/>
          <a:ln/>
        </p:spPr>
        <p:txBody>
          <a:bodyPr wrap="square" lIns="0" tIns="0" rIns="0" bIns="0" rtlCol="0" anchor="t"/>
          <a:lstStyle/>
          <a:p>
            <a:pPr indent="0" marL="0">
              <a:buNone/>
            </a:pPr>
            <a:r>
              <a:rPr lang="en-US" sz="1600" b="1" dirty="0">
                <a:solidFill>
                  <a:schemeClr val="tx1"/>
                </a:solidFill>
              </a:rPr>
              <a:t>Clean UI Starter Kit &amp; Step-by-Step Logic Injection</a:t>
            </a:r>
            <a:endParaRPr lang="en-US" sz="1600" dirty="0"/>
          </a:p>
        </p:txBody>
      </p:sp>
      <p:sp>
        <p:nvSpPr>
          <p:cNvPr id="16" name="card-13"/>
          <p:cNvSpPr/>
          <p:nvPr/>
        </p:nvSpPr>
        <p:spPr>
          <a:xfrm>
            <a:off x="7406640" y="4434840"/>
            <a:ext cx="4206240" cy="1325880"/>
          </a:xfrm>
          <a:prstGeom prst="roundRect">
            <a:avLst>
              <a:gd name="adj" fmla="val 8276"/>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7" name="ic-bg-14"/>
          <p:cNvSpPr/>
          <p:nvPr/>
        </p:nvSpPr>
        <p:spPr>
          <a:xfrm>
            <a:off x="7635240" y="4777740"/>
            <a:ext cx="640080" cy="640080"/>
          </a:xfrm>
          <a:prstGeom prst="ellipse">
            <a:avLst/>
          </a:prstGeom>
          <a:solidFill>
            <a:srgbClr val="16A34A"/>
          </a:solidFill>
          <a:ln/>
        </p:spPr>
      </p:sp>
      <p:pic>
        <p:nvPicPr>
          <p:cNvPr id="18" name="ic-15" descr="FaChalkboardTeacher">    </p:cNvPr>
          <p:cNvPicPr>
            <a:picLocks noChangeAspect="1"/>
          </p:cNvPicPr>
          <p:nvPr/>
        </p:nvPicPr>
        <p:blipFill>
          <a:blip r:embed="rId3"/>
          <a:stretch>
            <a:fillRect/>
          </a:stretch>
        </p:blipFill>
        <p:spPr>
          <a:xfrm>
            <a:off x="7808062" y="4950562"/>
            <a:ext cx="294437" cy="294437"/>
          </a:xfrm>
          <a:prstGeom prst="rect">
            <a:avLst/>
          </a:prstGeom>
        </p:spPr>
      </p:pic>
      <p:sp>
        <p:nvSpPr>
          <p:cNvPr id="19" name="txt-16"/>
          <p:cNvSpPr txBox="1"/>
          <p:nvPr/>
        </p:nvSpPr>
        <p:spPr>
          <a:xfrm>
            <a:off x="8458200" y="4690872"/>
            <a:ext cx="301752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INSTRUKTUR</a:t>
            </a:r>
            <a:endParaRPr lang="en-US" sz="1100" dirty="0"/>
          </a:p>
        </p:txBody>
      </p:sp>
      <p:sp>
        <p:nvSpPr>
          <p:cNvPr id="20" name="txt-17"/>
          <p:cNvSpPr txBox="1"/>
          <p:nvPr/>
        </p:nvSpPr>
        <p:spPr>
          <a:xfrm>
            <a:off x="8458200" y="4965192"/>
            <a:ext cx="3017520" cy="640080"/>
          </a:xfrm>
          <a:prstGeom prst="rect">
            <a:avLst/>
          </a:prstGeom>
          <a:noFill/>
          <a:ln/>
        </p:spPr>
        <p:txBody>
          <a:bodyPr wrap="square" lIns="0" tIns="0" rIns="0" bIns="0" rtlCol="0" anchor="t"/>
          <a:lstStyle/>
          <a:p>
            <a:pPr indent="0" marL="0">
              <a:buNone/>
            </a:pPr>
            <a:r>
              <a:rPr lang="en-US" sz="1600" b="1" dirty="0">
                <a:solidFill>
                  <a:schemeClr val="tx1"/>
                </a:solidFill>
              </a:rPr>
              <a:t>Sanbercode Flutter SMK Specialist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Agenda &amp; Alur Belajar Sesi 01</a:t>
            </a:r>
            <a:endParaRPr lang="en-US" sz="2800" dirty="0"/>
          </a:p>
        </p:txBody>
      </p:sp>
      <p:sp>
        <p:nvSpPr>
          <p:cNvPr id="4" name="card-18"/>
          <p:cNvSpPr/>
          <p:nvPr/>
        </p:nvSpPr>
        <p:spPr>
          <a:xfrm>
            <a:off x="548640" y="1554480"/>
            <a:ext cx="3520440" cy="420624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5" name="ic-bg-19"/>
          <p:cNvSpPr/>
          <p:nvPr/>
        </p:nvSpPr>
        <p:spPr>
          <a:xfrm>
            <a:off x="868680" y="1874520"/>
            <a:ext cx="822960" cy="822960"/>
          </a:xfrm>
          <a:prstGeom prst="ellipse">
            <a:avLst/>
          </a:prstGeom>
          <a:solidFill>
            <a:srgbClr val="DC2626"/>
          </a:solidFill>
          <a:ln/>
        </p:spPr>
      </p:sp>
      <p:pic>
        <p:nvPicPr>
          <p:cNvPr id="6" name="ic-20" descr="FaExclamationTriangle">    </p:cNvPr>
          <p:cNvPicPr>
            <a:picLocks noChangeAspect="1"/>
          </p:cNvPicPr>
          <p:nvPr/>
        </p:nvPicPr>
        <p:blipFill>
          <a:blip r:embed="rId1"/>
          <a:stretch>
            <a:fillRect/>
          </a:stretch>
        </p:blipFill>
        <p:spPr>
          <a:xfrm>
            <a:off x="1090879" y="2096719"/>
            <a:ext cx="378562" cy="378562"/>
          </a:xfrm>
          <a:prstGeom prst="rect">
            <a:avLst/>
          </a:prstGeom>
        </p:spPr>
      </p:pic>
      <p:sp>
        <p:nvSpPr>
          <p:cNvPr id="7" name="txt-21"/>
          <p:cNvSpPr txBox="1"/>
          <p:nvPr/>
        </p:nvSpPr>
        <p:spPr>
          <a:xfrm>
            <a:off x="868680" y="2926080"/>
            <a:ext cx="29260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01 · PROBLEM STATEMENT</a:t>
            </a:r>
            <a:endParaRPr lang="en-US" sz="1200" dirty="0"/>
          </a:p>
        </p:txBody>
      </p:sp>
      <p:sp>
        <p:nvSpPr>
          <p:cNvPr id="8" name="txt-22"/>
          <p:cNvSpPr txBox="1"/>
          <p:nvPr/>
        </p:nvSpPr>
        <p:spPr>
          <a:xfrm>
            <a:off x="868680" y="3246120"/>
            <a:ext cx="2926080" cy="777240"/>
          </a:xfrm>
          <a:prstGeom prst="rect">
            <a:avLst/>
          </a:prstGeom>
          <a:noFill/>
          <a:ln/>
        </p:spPr>
        <p:txBody>
          <a:bodyPr wrap="square" lIns="0" tIns="0" rIns="0" bIns="0" rtlCol="0" anchor="t"/>
          <a:lstStyle/>
          <a:p>
            <a:pPr indent="0" marL="0">
              <a:buNone/>
            </a:pPr>
            <a:r>
              <a:rPr lang="en-US" sz="2200" b="1" dirty="0">
                <a:solidFill>
                  <a:schemeClr val="tx1"/>
                </a:solidFill>
              </a:rPr>
              <a:t>Evaluasi Flutter Standar</a:t>
            </a:r>
            <a:endParaRPr lang="en-US" sz="2200" dirty="0"/>
          </a:p>
        </p:txBody>
      </p:sp>
      <p:sp>
        <p:nvSpPr>
          <p:cNvPr id="9" name="txt-23"/>
          <p:cNvSpPr txBox="1"/>
          <p:nvPr/>
        </p:nvSpPr>
        <p:spPr>
          <a:xfrm>
            <a:off x="868680" y="4114800"/>
            <a:ext cx="2926080" cy="1463040"/>
          </a:xfrm>
          <a:prstGeom prst="rect">
            <a:avLst/>
          </a:prstGeom>
          <a:noFill/>
          <a:ln/>
        </p:spPr>
        <p:txBody>
          <a:bodyPr wrap="square" lIns="0" tIns="0" rIns="0" bIns="0" rtlCol="0" anchor="t"/>
          <a:lstStyle/>
          <a:p>
            <a:pPr indent="0" marL="0">
              <a:buNone/>
            </a:pPr>
            <a:r>
              <a:rPr lang="en-US" sz="1500" dirty="0">
                <a:solidFill>
                  <a:schemeClr val="tx2"/>
                </a:solidFill>
              </a:rPr>
              <a:t>Mengapa setState() boros memori dan BuildContext menyulitkan navigasi.</a:t>
            </a:r>
            <a:endParaRPr lang="en-US" sz="1500" dirty="0"/>
          </a:p>
        </p:txBody>
      </p:sp>
      <p:sp>
        <p:nvSpPr>
          <p:cNvPr id="10" name="card-24"/>
          <p:cNvSpPr/>
          <p:nvPr/>
        </p:nvSpPr>
        <p:spPr>
          <a:xfrm>
            <a:off x="4320540" y="1554480"/>
            <a:ext cx="3520440" cy="420624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1" name="ic-bg-25"/>
          <p:cNvSpPr/>
          <p:nvPr/>
        </p:nvSpPr>
        <p:spPr>
          <a:xfrm>
            <a:off x="4640580" y="1874520"/>
            <a:ext cx="822960" cy="822960"/>
          </a:xfrm>
          <a:prstGeom prst="ellipse">
            <a:avLst/>
          </a:prstGeom>
          <a:solidFill>
            <a:srgbClr val="4F46E5"/>
          </a:solidFill>
          <a:ln/>
        </p:spPr>
      </p:sp>
      <p:pic>
        <p:nvPicPr>
          <p:cNvPr id="12" name="ic-26" descr="FaLandmark">    </p:cNvPr>
          <p:cNvPicPr>
            <a:picLocks noChangeAspect="1"/>
          </p:cNvPicPr>
          <p:nvPr/>
        </p:nvPicPr>
        <p:blipFill>
          <a:blip r:embed="rId2"/>
          <a:stretch>
            <a:fillRect/>
          </a:stretch>
        </p:blipFill>
        <p:spPr>
          <a:xfrm>
            <a:off x="4862779" y="2096719"/>
            <a:ext cx="378562" cy="378562"/>
          </a:xfrm>
          <a:prstGeom prst="rect">
            <a:avLst/>
          </a:prstGeom>
        </p:spPr>
      </p:pic>
      <p:sp>
        <p:nvSpPr>
          <p:cNvPr id="13" name="txt-27"/>
          <p:cNvSpPr txBox="1"/>
          <p:nvPr/>
        </p:nvSpPr>
        <p:spPr>
          <a:xfrm>
            <a:off x="4640580" y="2926080"/>
            <a:ext cx="29260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02 · CORE FRAMEWORK</a:t>
            </a:r>
            <a:endParaRPr lang="en-US" sz="1200" dirty="0"/>
          </a:p>
        </p:txBody>
      </p:sp>
      <p:sp>
        <p:nvSpPr>
          <p:cNvPr id="14" name="txt-28"/>
          <p:cNvSpPr txBox="1"/>
          <p:nvPr/>
        </p:nvSpPr>
        <p:spPr>
          <a:xfrm>
            <a:off x="4640580" y="3246120"/>
            <a:ext cx="2926080" cy="777240"/>
          </a:xfrm>
          <a:prstGeom prst="rect">
            <a:avLst/>
          </a:prstGeom>
          <a:noFill/>
          <a:ln/>
        </p:spPr>
        <p:txBody>
          <a:bodyPr wrap="square" lIns="0" tIns="0" rIns="0" bIns="0" rtlCol="0" anchor="t"/>
          <a:lstStyle/>
          <a:p>
            <a:pPr indent="0" marL="0">
              <a:buNone/>
            </a:pPr>
            <a:r>
              <a:rPr lang="en-US" sz="2200" b="1" dirty="0">
                <a:solidFill>
                  <a:schemeClr val="tx1"/>
                </a:solidFill>
              </a:rPr>
              <a:t>Bedah 3 Pilar GetX</a:t>
            </a:r>
            <a:endParaRPr lang="en-US" sz="2200" dirty="0"/>
          </a:p>
        </p:txBody>
      </p:sp>
      <p:sp>
        <p:nvSpPr>
          <p:cNvPr id="15" name="txt-29"/>
          <p:cNvSpPr txBox="1"/>
          <p:nvPr/>
        </p:nvSpPr>
        <p:spPr>
          <a:xfrm>
            <a:off x="4640580" y="4114800"/>
            <a:ext cx="2926080" cy="1463040"/>
          </a:xfrm>
          <a:prstGeom prst="rect">
            <a:avLst/>
          </a:prstGeom>
          <a:noFill/>
          <a:ln/>
        </p:spPr>
        <p:txBody>
          <a:bodyPr wrap="square" lIns="0" tIns="0" rIns="0" bIns="0" rtlCol="0" anchor="t"/>
          <a:lstStyle/>
          <a:p>
            <a:pPr indent="0" marL="0">
              <a:buNone/>
            </a:pPr>
            <a:r>
              <a:rPr lang="en-US" sz="1500" dirty="0">
                <a:solidFill>
                  <a:schemeClr val="tx2"/>
                </a:solidFill>
              </a:rPr>
              <a:t>State reaktif (.obs/Obx), routing bebas context, dan Dependency Injection via Binding.</a:t>
            </a:r>
            <a:endParaRPr lang="en-US" sz="1500" dirty="0"/>
          </a:p>
        </p:txBody>
      </p:sp>
      <p:sp>
        <p:nvSpPr>
          <p:cNvPr id="16" name="card-30"/>
          <p:cNvSpPr/>
          <p:nvPr/>
        </p:nvSpPr>
        <p:spPr>
          <a:xfrm>
            <a:off x="8092440" y="1554480"/>
            <a:ext cx="3520440" cy="420624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7" name="ic-bg-31"/>
          <p:cNvSpPr/>
          <p:nvPr/>
        </p:nvSpPr>
        <p:spPr>
          <a:xfrm>
            <a:off x="8412480" y="1874520"/>
            <a:ext cx="822960" cy="822960"/>
          </a:xfrm>
          <a:prstGeom prst="ellipse">
            <a:avLst/>
          </a:prstGeom>
          <a:solidFill>
            <a:srgbClr val="EA580C"/>
          </a:solidFill>
          <a:ln/>
        </p:spPr>
      </p:sp>
      <p:pic>
        <p:nvPicPr>
          <p:cNvPr id="18" name="ic-32" descr="FaBolt">    </p:cNvPr>
          <p:cNvPicPr>
            <a:picLocks noChangeAspect="1"/>
          </p:cNvPicPr>
          <p:nvPr/>
        </p:nvPicPr>
        <p:blipFill>
          <a:blip r:embed="rId3"/>
          <a:stretch>
            <a:fillRect/>
          </a:stretch>
        </p:blipFill>
        <p:spPr>
          <a:xfrm>
            <a:off x="8634679" y="2096719"/>
            <a:ext cx="378562" cy="378562"/>
          </a:xfrm>
          <a:prstGeom prst="rect">
            <a:avLst/>
          </a:prstGeom>
        </p:spPr>
      </p:pic>
      <p:sp>
        <p:nvSpPr>
          <p:cNvPr id="19" name="txt-33"/>
          <p:cNvSpPr txBox="1"/>
          <p:nvPr/>
        </p:nvSpPr>
        <p:spPr>
          <a:xfrm>
            <a:off x="8412480" y="2926080"/>
            <a:ext cx="29260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03 · TOOLING &amp; STARTER KIT</a:t>
            </a:r>
            <a:endParaRPr lang="en-US" sz="1200" dirty="0"/>
          </a:p>
        </p:txBody>
      </p:sp>
      <p:sp>
        <p:nvSpPr>
          <p:cNvPr id="20" name="txt-34"/>
          <p:cNvSpPr txBox="1"/>
          <p:nvPr/>
        </p:nvSpPr>
        <p:spPr>
          <a:xfrm>
            <a:off x="8412480" y="3246120"/>
            <a:ext cx="2926080" cy="777240"/>
          </a:xfrm>
          <a:prstGeom prst="rect">
            <a:avLst/>
          </a:prstGeom>
          <a:noFill/>
          <a:ln/>
        </p:spPr>
        <p:txBody>
          <a:bodyPr wrap="square" lIns="0" tIns="0" rIns="0" bIns="0" rtlCol="0" anchor="t"/>
          <a:lstStyle/>
          <a:p>
            <a:pPr indent="0" marL="0">
              <a:buNone/>
            </a:pPr>
            <a:r>
              <a:rPr lang="en-US" sz="2200" b="1" dirty="0">
                <a:solidFill>
                  <a:schemeClr val="tx1"/>
                </a:solidFill>
              </a:rPr>
              <a:t>Otomasi GetX CLI &amp; KicksStore</a:t>
            </a:r>
            <a:endParaRPr lang="en-US" sz="2200" dirty="0"/>
          </a:p>
        </p:txBody>
      </p:sp>
      <p:sp>
        <p:nvSpPr>
          <p:cNvPr id="21" name="txt-35"/>
          <p:cNvSpPr txBox="1"/>
          <p:nvPr/>
        </p:nvSpPr>
        <p:spPr>
          <a:xfrm>
            <a:off x="8412480" y="4114800"/>
            <a:ext cx="2926080" cy="1463040"/>
          </a:xfrm>
          <a:prstGeom prst="rect">
            <a:avLst/>
          </a:prstGeom>
          <a:noFill/>
          <a:ln/>
        </p:spPr>
        <p:txBody>
          <a:bodyPr wrap="square" lIns="0" tIns="0" rIns="0" bIns="0" rtlCol="0" anchor="t"/>
          <a:lstStyle/>
          <a:p>
            <a:pPr indent="0" marL="0">
              <a:buNone/>
            </a:pPr>
            <a:r>
              <a:rPr lang="en-US" sz="1500" dirty="0">
                <a:solidFill>
                  <a:schemeClr val="tx2"/>
                </a:solidFill>
              </a:rPr>
              <a:t>Standarisasi folder modular dan onboarding branch starter-kit.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Mengapa Industri Membutuhkan Framework Tambahan?</a:t>
            </a:r>
            <a:endParaRPr lang="en-US" sz="2800" dirty="0"/>
          </a:p>
        </p:txBody>
      </p:sp>
      <p:sp>
        <p:nvSpPr>
          <p:cNvPr id="4" name="card-36"/>
          <p:cNvSpPr/>
          <p:nvPr/>
        </p:nvSpPr>
        <p:spPr>
          <a:xfrm>
            <a:off x="548640" y="1325880"/>
            <a:ext cx="5440680" cy="4846320"/>
          </a:xfrm>
          <a:prstGeom prst="roundRect">
            <a:avLst>
              <a:gd name="adj" fmla="val 2264"/>
            </a:avLst>
          </a:prstGeom>
          <a:solidFill>
            <a:schemeClr val="accent4">
              <a:alpha val="7000"/>
            </a:schemeClr>
          </a:solidFill>
          <a:ln/>
        </p:spPr>
      </p:sp>
      <p:sp>
        <p:nvSpPr>
          <p:cNvPr id="5" name="txt-37"/>
          <p:cNvSpPr txBox="1"/>
          <p:nvPr/>
        </p:nvSpPr>
        <p:spPr>
          <a:xfrm>
            <a:off x="868680" y="1554480"/>
            <a:ext cx="4754880" cy="365760"/>
          </a:xfrm>
          <a:prstGeom prst="rect">
            <a:avLst/>
          </a:prstGeom>
          <a:noFill/>
          <a:ln/>
        </p:spPr>
        <p:txBody>
          <a:bodyPr wrap="square" lIns="0" tIns="0" rIns="0" bIns="0" rtlCol="0" anchor="t"/>
          <a:lstStyle/>
          <a:p>
            <a:pPr indent="0" marL="0">
              <a:buNone/>
            </a:pPr>
            <a:r>
              <a:rPr lang="en-US" sz="2000" b="1" dirty="0">
                <a:solidFill>
                  <a:schemeClr val="accent4"/>
                </a:solidFill>
              </a:rPr>
              <a:t>Kendala Flutter Standar</a:t>
            </a:r>
            <a:endParaRPr lang="en-US" sz="2000" dirty="0"/>
          </a:p>
        </p:txBody>
      </p:sp>
      <p:pic>
        <p:nvPicPr>
          <p:cNvPr id="6" name="ic-38" descr="FaTimesCircle">    </p:cNvPr>
          <p:cNvPicPr>
            <a:picLocks noChangeAspect="1"/>
          </p:cNvPicPr>
          <p:nvPr/>
        </p:nvPicPr>
        <p:blipFill>
          <a:blip r:embed="rId1"/>
          <a:stretch>
            <a:fillRect/>
          </a:stretch>
        </p:blipFill>
        <p:spPr>
          <a:xfrm>
            <a:off x="868680" y="2167128"/>
            <a:ext cx="292608" cy="292608"/>
          </a:xfrm>
          <a:prstGeom prst="rect">
            <a:avLst/>
          </a:prstGeom>
        </p:spPr>
      </p:pic>
      <p:sp>
        <p:nvSpPr>
          <p:cNvPr id="7" name="txt-39"/>
          <p:cNvSpPr txBox="1"/>
          <p:nvPr/>
        </p:nvSpPr>
        <p:spPr>
          <a:xfrm>
            <a:off x="1325880" y="2148840"/>
            <a:ext cx="4434840" cy="914400"/>
          </a:xfrm>
          <a:prstGeom prst="rect">
            <a:avLst/>
          </a:prstGeom>
          <a:noFill/>
          <a:ln/>
        </p:spPr>
        <p:txBody>
          <a:bodyPr wrap="square" lIns="0" tIns="0" rIns="0" bIns="0" rtlCol="0" anchor="t"/>
          <a:lstStyle/>
          <a:p>
            <a:pPr indent="0" marL="0">
              <a:buNone/>
            </a:pPr>
            <a:r>
              <a:rPr lang="en-US" sz="1600" b="1" dirty="0">
                <a:solidFill>
                  <a:schemeClr val="tx1"/>
                </a:solidFill>
              </a:rPr>
              <a:t>Rebuild Boros</a:t>
            </a:r>
            <a:endParaRPr lang="en-US" sz="1600" dirty="0"/>
          </a:p>
          <a:p>
            <a:pPr indent="0" marL="0">
              <a:buNone/>
            </a:pPr>
            <a:r>
              <a:rPr lang="en-US" sz="1400" dirty="0">
                <a:solidFill>
                  <a:schemeClr val="tx2"/>
                </a:solidFill>
              </a:rPr>
              <a:t>Memanggil setState() akan merender ulang seluruh widget pohon halaman (Scaffold), menurunkan performa FPS.</a:t>
            </a:r>
            <a:endParaRPr lang="en-US" sz="1600" dirty="0"/>
          </a:p>
        </p:txBody>
      </p:sp>
      <p:pic>
        <p:nvPicPr>
          <p:cNvPr id="8" name="ic-40" descr="FaTimesCircle">    </p:cNvPr>
          <p:cNvPicPr>
            <a:picLocks noChangeAspect="1"/>
          </p:cNvPicPr>
          <p:nvPr/>
        </p:nvPicPr>
        <p:blipFill>
          <a:blip r:embed="rId2"/>
          <a:stretch>
            <a:fillRect/>
          </a:stretch>
        </p:blipFill>
        <p:spPr>
          <a:xfrm>
            <a:off x="868680" y="3154680"/>
            <a:ext cx="292608" cy="292608"/>
          </a:xfrm>
          <a:prstGeom prst="rect">
            <a:avLst/>
          </a:prstGeom>
        </p:spPr>
      </p:pic>
      <p:sp>
        <p:nvSpPr>
          <p:cNvPr id="9" name="txt-41"/>
          <p:cNvSpPr txBox="1"/>
          <p:nvPr/>
        </p:nvSpPr>
        <p:spPr>
          <a:xfrm>
            <a:off x="1325880" y="3136392"/>
            <a:ext cx="4434840" cy="914400"/>
          </a:xfrm>
          <a:prstGeom prst="rect">
            <a:avLst/>
          </a:prstGeom>
          <a:noFill/>
          <a:ln/>
        </p:spPr>
        <p:txBody>
          <a:bodyPr wrap="square" lIns="0" tIns="0" rIns="0" bIns="0" rtlCol="0" anchor="t"/>
          <a:lstStyle/>
          <a:p>
            <a:pPr indent="0" marL="0">
              <a:buNone/>
            </a:pPr>
            <a:r>
              <a:rPr lang="en-US" sz="1600" b="1" dirty="0">
                <a:solidFill>
                  <a:schemeClr val="tx1"/>
                </a:solidFill>
              </a:rPr>
              <a:t>Keterikatan BuildContext</a:t>
            </a:r>
            <a:endParaRPr lang="en-US" sz="1600" dirty="0"/>
          </a:p>
          <a:p>
            <a:pPr indent="0" marL="0">
              <a:buNone/>
            </a:pPr>
            <a:r>
              <a:rPr lang="en-US" sz="1400" dirty="0">
                <a:solidFill>
                  <a:schemeClr val="tx2"/>
                </a:solidFill>
              </a:rPr>
              <a:t>Pindah halaman, membuka dialog, atau menampilkan snackbar wajib membawa BuildContext.</a:t>
            </a:r>
            <a:endParaRPr lang="en-US" sz="1600" dirty="0"/>
          </a:p>
        </p:txBody>
      </p:sp>
      <p:pic>
        <p:nvPicPr>
          <p:cNvPr id="10" name="ic-42" descr="FaTimesCircle">    </p:cNvPr>
          <p:cNvPicPr>
            <a:picLocks noChangeAspect="1"/>
          </p:cNvPicPr>
          <p:nvPr/>
        </p:nvPicPr>
        <p:blipFill>
          <a:blip r:embed="rId3"/>
          <a:stretch>
            <a:fillRect/>
          </a:stretch>
        </p:blipFill>
        <p:spPr>
          <a:xfrm>
            <a:off x="868680" y="4142232"/>
            <a:ext cx="292608" cy="292608"/>
          </a:xfrm>
          <a:prstGeom prst="rect">
            <a:avLst/>
          </a:prstGeom>
        </p:spPr>
      </p:pic>
      <p:sp>
        <p:nvSpPr>
          <p:cNvPr id="11" name="txt-43"/>
          <p:cNvSpPr txBox="1"/>
          <p:nvPr/>
        </p:nvSpPr>
        <p:spPr>
          <a:xfrm>
            <a:off x="1325880" y="4123944"/>
            <a:ext cx="4434840" cy="914400"/>
          </a:xfrm>
          <a:prstGeom prst="rect">
            <a:avLst/>
          </a:prstGeom>
          <a:noFill/>
          <a:ln/>
        </p:spPr>
        <p:txBody>
          <a:bodyPr wrap="square" lIns="0" tIns="0" rIns="0" bIns="0" rtlCol="0" anchor="t"/>
          <a:lstStyle/>
          <a:p>
            <a:pPr indent="0" marL="0">
              <a:buNone/>
            </a:pPr>
            <a:r>
              <a:rPr lang="en-US" sz="1600" b="1" dirty="0">
                <a:solidFill>
                  <a:schemeClr val="tx1"/>
                </a:solidFill>
              </a:rPr>
              <a:t>Boilerplate Berlebih</a:t>
            </a:r>
            <a:endParaRPr lang="en-US" sz="1600" dirty="0"/>
          </a:p>
          <a:p>
            <a:pPr indent="0" marL="0">
              <a:buNone/>
            </a:pPr>
            <a:r>
              <a:rPr lang="en-US" sz="1400" dirty="0">
                <a:solidFill>
                  <a:schemeClr val="tx2"/>
                </a:solidFill>
              </a:rPr>
              <a:t>Solusi lain seperti Bloc/Provider membutuhkan puluhan baris file terpisah hanya untuk 1 aksi sederhana.</a:t>
            </a:r>
            <a:endParaRPr lang="en-US" sz="1600" dirty="0"/>
          </a:p>
        </p:txBody>
      </p:sp>
      <p:pic>
        <p:nvPicPr>
          <p:cNvPr id="12" name="ic-44" descr="FaTimesCircle">    </p:cNvPr>
          <p:cNvPicPr>
            <a:picLocks noChangeAspect="1"/>
          </p:cNvPicPr>
          <p:nvPr/>
        </p:nvPicPr>
        <p:blipFill>
          <a:blip r:embed="rId4"/>
          <a:stretch>
            <a:fillRect/>
          </a:stretch>
        </p:blipFill>
        <p:spPr>
          <a:xfrm>
            <a:off x="868680" y="5129784"/>
            <a:ext cx="292608" cy="292608"/>
          </a:xfrm>
          <a:prstGeom prst="rect">
            <a:avLst/>
          </a:prstGeom>
        </p:spPr>
      </p:pic>
      <p:sp>
        <p:nvSpPr>
          <p:cNvPr id="13" name="txt-45"/>
          <p:cNvSpPr txBox="1"/>
          <p:nvPr/>
        </p:nvSpPr>
        <p:spPr>
          <a:xfrm>
            <a:off x="1325880" y="5111496"/>
            <a:ext cx="4434840" cy="914400"/>
          </a:xfrm>
          <a:prstGeom prst="rect">
            <a:avLst/>
          </a:prstGeom>
          <a:noFill/>
          <a:ln/>
        </p:spPr>
        <p:txBody>
          <a:bodyPr wrap="square" lIns="0" tIns="0" rIns="0" bIns="0" rtlCol="0" anchor="t"/>
          <a:lstStyle/>
          <a:p>
            <a:pPr indent="0" marL="0">
              <a:buNone/>
            </a:pPr>
            <a:r>
              <a:rPr lang="en-US" sz="1600" b="1" dirty="0">
                <a:solidFill>
                  <a:schemeClr val="tx1"/>
                </a:solidFill>
              </a:rPr>
              <a:t>Memory Leak</a:t>
            </a:r>
            <a:endParaRPr lang="en-US" sz="1600" dirty="0"/>
          </a:p>
          <a:p>
            <a:pPr indent="0" marL="0">
              <a:buNone/>
            </a:pPr>
            <a:r>
              <a:rPr lang="en-US" sz="1400" dirty="0">
                <a:solidFill>
                  <a:schemeClr val="tx2"/>
                </a:solidFill>
              </a:rPr>
              <a:t>Controller manual sering lupa di-dispose saat halaman ditutup.</a:t>
            </a:r>
            <a:endParaRPr lang="en-US" sz="1600" dirty="0"/>
          </a:p>
        </p:txBody>
      </p:sp>
      <p:sp>
        <p:nvSpPr>
          <p:cNvPr id="14" name="card-46"/>
          <p:cNvSpPr/>
          <p:nvPr/>
        </p:nvSpPr>
        <p:spPr>
          <a:xfrm>
            <a:off x="6172200" y="1325880"/>
            <a:ext cx="5440680" cy="4846320"/>
          </a:xfrm>
          <a:prstGeom prst="roundRect">
            <a:avLst>
              <a:gd name="adj" fmla="val 2264"/>
            </a:avLst>
          </a:prstGeom>
          <a:solidFill>
            <a:schemeClr val="accent3">
              <a:alpha val="7000"/>
            </a:schemeClr>
          </a:solidFill>
          <a:ln/>
        </p:spPr>
      </p:sp>
      <p:sp>
        <p:nvSpPr>
          <p:cNvPr id="15" name="txt-47"/>
          <p:cNvSpPr txBox="1"/>
          <p:nvPr/>
        </p:nvSpPr>
        <p:spPr>
          <a:xfrm>
            <a:off x="6492240" y="1554480"/>
            <a:ext cx="4754880" cy="365760"/>
          </a:xfrm>
          <a:prstGeom prst="rect">
            <a:avLst/>
          </a:prstGeom>
          <a:noFill/>
          <a:ln/>
        </p:spPr>
        <p:txBody>
          <a:bodyPr wrap="square" lIns="0" tIns="0" rIns="0" bIns="0" rtlCol="0" anchor="t"/>
          <a:lstStyle/>
          <a:p>
            <a:pPr indent="0" marL="0">
              <a:buNone/>
            </a:pPr>
            <a:r>
              <a:rPr lang="en-US" sz="2000" b="1" dirty="0">
                <a:solidFill>
                  <a:schemeClr val="accent3"/>
                </a:solidFill>
              </a:rPr>
              <a:t>Solusi Modern GetX</a:t>
            </a:r>
            <a:endParaRPr lang="en-US" sz="2000" dirty="0"/>
          </a:p>
        </p:txBody>
      </p:sp>
      <p:pic>
        <p:nvPicPr>
          <p:cNvPr id="16" name="ic-48" descr="FaCheckCircle">    </p:cNvPr>
          <p:cNvPicPr>
            <a:picLocks noChangeAspect="1"/>
          </p:cNvPicPr>
          <p:nvPr/>
        </p:nvPicPr>
        <p:blipFill>
          <a:blip r:embed="rId5"/>
          <a:stretch>
            <a:fillRect/>
          </a:stretch>
        </p:blipFill>
        <p:spPr>
          <a:xfrm>
            <a:off x="6492240" y="2167128"/>
            <a:ext cx="292608" cy="292608"/>
          </a:xfrm>
          <a:prstGeom prst="rect">
            <a:avLst/>
          </a:prstGeom>
        </p:spPr>
      </p:pic>
      <p:sp>
        <p:nvSpPr>
          <p:cNvPr id="17" name="txt-49"/>
          <p:cNvSpPr txBox="1"/>
          <p:nvPr/>
        </p:nvSpPr>
        <p:spPr>
          <a:xfrm>
            <a:off x="6949440" y="2148840"/>
            <a:ext cx="4434840" cy="914400"/>
          </a:xfrm>
          <a:prstGeom prst="rect">
            <a:avLst/>
          </a:prstGeom>
          <a:noFill/>
          <a:ln/>
        </p:spPr>
        <p:txBody>
          <a:bodyPr wrap="square" lIns="0" tIns="0" rIns="0" bIns="0" rtlCol="0" anchor="t"/>
          <a:lstStyle/>
          <a:p>
            <a:pPr indent="0" marL="0">
              <a:buNone/>
            </a:pPr>
            <a:r>
              <a:rPr lang="en-US" sz="1600" b="1" dirty="0">
                <a:solidFill>
                  <a:schemeClr val="tx1"/>
                </a:solidFill>
              </a:rPr>
              <a:t>Reaktivitas Mikro</a:t>
            </a:r>
            <a:endParaRPr lang="en-US" sz="1600" dirty="0"/>
          </a:p>
          <a:p>
            <a:pPr indent="0" marL="0">
              <a:buNone/>
            </a:pPr>
            <a:r>
              <a:rPr lang="en-US" sz="1400" dirty="0">
                <a:solidFill>
                  <a:schemeClr val="tx2"/>
                </a:solidFill>
              </a:rPr>
              <a:t>Hanya widget spesifik di dalam Obx yang di-rebuild.</a:t>
            </a:r>
            <a:endParaRPr lang="en-US" sz="1600" dirty="0"/>
          </a:p>
        </p:txBody>
      </p:sp>
      <p:pic>
        <p:nvPicPr>
          <p:cNvPr id="18" name="ic-50" descr="FaCheckCircle">    </p:cNvPr>
          <p:cNvPicPr>
            <a:picLocks noChangeAspect="1"/>
          </p:cNvPicPr>
          <p:nvPr/>
        </p:nvPicPr>
        <p:blipFill>
          <a:blip r:embed="rId6"/>
          <a:stretch>
            <a:fillRect/>
          </a:stretch>
        </p:blipFill>
        <p:spPr>
          <a:xfrm>
            <a:off x="6492240" y="3154680"/>
            <a:ext cx="292608" cy="292608"/>
          </a:xfrm>
          <a:prstGeom prst="rect">
            <a:avLst/>
          </a:prstGeom>
        </p:spPr>
      </p:pic>
      <p:sp>
        <p:nvSpPr>
          <p:cNvPr id="19" name="txt-51"/>
          <p:cNvSpPr txBox="1"/>
          <p:nvPr/>
        </p:nvSpPr>
        <p:spPr>
          <a:xfrm>
            <a:off x="6949440" y="3136392"/>
            <a:ext cx="4434840" cy="914400"/>
          </a:xfrm>
          <a:prstGeom prst="rect">
            <a:avLst/>
          </a:prstGeom>
          <a:noFill/>
          <a:ln/>
        </p:spPr>
        <p:txBody>
          <a:bodyPr wrap="square" lIns="0" tIns="0" rIns="0" bIns="0" rtlCol="0" anchor="t"/>
          <a:lstStyle/>
          <a:p>
            <a:pPr indent="0" marL="0">
              <a:buNone/>
            </a:pPr>
            <a:r>
              <a:rPr lang="en-US" sz="1600" b="1" dirty="0">
                <a:solidFill>
                  <a:schemeClr val="tx1"/>
                </a:solidFill>
              </a:rPr>
              <a:t>Arsitektur Decoupled</a:t>
            </a:r>
            <a:endParaRPr lang="en-US" sz="1600" dirty="0"/>
          </a:p>
          <a:p>
            <a:pPr indent="0" marL="0">
              <a:buNone/>
            </a:pPr>
            <a:r>
              <a:rPr lang="en-US" sz="1400" dirty="0">
                <a:solidFill>
                  <a:schemeClr val="tx2"/>
                </a:solidFill>
              </a:rPr>
              <a:t>Navigasi dan state logic bebas dipanggil dari mana saja tanpa BuildContext.</a:t>
            </a:r>
            <a:endParaRPr lang="en-US" sz="1600" dirty="0"/>
          </a:p>
        </p:txBody>
      </p:sp>
      <p:pic>
        <p:nvPicPr>
          <p:cNvPr id="20" name="ic-52" descr="FaCheckCircle">    </p:cNvPr>
          <p:cNvPicPr>
            <a:picLocks noChangeAspect="1"/>
          </p:cNvPicPr>
          <p:nvPr/>
        </p:nvPicPr>
        <p:blipFill>
          <a:blip r:embed="rId7"/>
          <a:stretch>
            <a:fillRect/>
          </a:stretch>
        </p:blipFill>
        <p:spPr>
          <a:xfrm>
            <a:off x="6492240" y="4142232"/>
            <a:ext cx="292608" cy="292608"/>
          </a:xfrm>
          <a:prstGeom prst="rect">
            <a:avLst/>
          </a:prstGeom>
        </p:spPr>
      </p:pic>
      <p:sp>
        <p:nvSpPr>
          <p:cNvPr id="21" name="txt-53"/>
          <p:cNvSpPr txBox="1"/>
          <p:nvPr/>
        </p:nvSpPr>
        <p:spPr>
          <a:xfrm>
            <a:off x="6949440" y="4123944"/>
            <a:ext cx="4434840" cy="914400"/>
          </a:xfrm>
          <a:prstGeom prst="rect">
            <a:avLst/>
          </a:prstGeom>
          <a:noFill/>
          <a:ln/>
        </p:spPr>
        <p:txBody>
          <a:bodyPr wrap="square" lIns="0" tIns="0" rIns="0" bIns="0" rtlCol="0" anchor="t"/>
          <a:lstStyle/>
          <a:p>
            <a:pPr indent="0" marL="0">
              <a:buNone/>
            </a:pPr>
            <a:r>
              <a:rPr lang="en-US" sz="1600" b="1" dirty="0">
                <a:solidFill>
                  <a:schemeClr val="tx1"/>
                </a:solidFill>
              </a:rPr>
              <a:t>Sangat Ringkas</a:t>
            </a:r>
            <a:endParaRPr lang="en-US" sz="1600" dirty="0"/>
          </a:p>
          <a:p>
            <a:pPr indent="0" marL="0">
              <a:buNone/>
            </a:pPr>
            <a:r>
              <a:rPr lang="en-US" sz="1400" dirty="0">
                <a:solidFill>
                  <a:schemeClr val="tx2"/>
                </a:solidFill>
              </a:rPr>
              <a:t>Cukup tambahkan .obs di belakang variabel data.</a:t>
            </a:r>
            <a:endParaRPr lang="en-US" sz="1600" dirty="0"/>
          </a:p>
        </p:txBody>
      </p:sp>
      <p:pic>
        <p:nvPicPr>
          <p:cNvPr id="22" name="ic-54" descr="FaCheckCircle">    </p:cNvPr>
          <p:cNvPicPr>
            <a:picLocks noChangeAspect="1"/>
          </p:cNvPicPr>
          <p:nvPr/>
        </p:nvPicPr>
        <p:blipFill>
          <a:blip r:embed="rId8"/>
          <a:stretch>
            <a:fillRect/>
          </a:stretch>
        </p:blipFill>
        <p:spPr>
          <a:xfrm>
            <a:off x="6492240" y="5129784"/>
            <a:ext cx="292608" cy="292608"/>
          </a:xfrm>
          <a:prstGeom prst="rect">
            <a:avLst/>
          </a:prstGeom>
        </p:spPr>
      </p:pic>
      <p:sp>
        <p:nvSpPr>
          <p:cNvPr id="23" name="txt-55"/>
          <p:cNvSpPr txBox="1"/>
          <p:nvPr/>
        </p:nvSpPr>
        <p:spPr>
          <a:xfrm>
            <a:off x="6949440" y="5111496"/>
            <a:ext cx="4434840" cy="914400"/>
          </a:xfrm>
          <a:prstGeom prst="rect">
            <a:avLst/>
          </a:prstGeom>
          <a:noFill/>
          <a:ln/>
        </p:spPr>
        <p:txBody>
          <a:bodyPr wrap="square" lIns="0" tIns="0" rIns="0" bIns="0" rtlCol="0" anchor="t"/>
          <a:lstStyle/>
          <a:p>
            <a:pPr indent="0" marL="0">
              <a:buNone/>
            </a:pPr>
            <a:r>
              <a:rPr lang="en-US" sz="1600" b="1" dirty="0">
                <a:solidFill>
                  <a:schemeClr val="tx1"/>
                </a:solidFill>
              </a:rPr>
              <a:t>Auto-Dispose</a:t>
            </a:r>
            <a:endParaRPr lang="en-US" sz="1600" dirty="0"/>
          </a:p>
          <a:p>
            <a:pPr indent="0" marL="0">
              <a:buNone/>
            </a:pPr>
            <a:r>
              <a:rPr lang="en-US" sz="1400" dirty="0">
                <a:solidFill>
                  <a:schemeClr val="tx2"/>
                </a:solidFill>
              </a:rPr>
              <a:t>Memori dibersihkan otomatis oleh sistem Binding saat layar ditinggalkan.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Fondasi GetX: Tiga Pilar yang Bekerja Harmonis</a:t>
            </a:r>
            <a:endParaRPr lang="en-US" sz="2800" dirty="0"/>
          </a:p>
        </p:txBody>
      </p:sp>
      <p:sp>
        <p:nvSpPr>
          <p:cNvPr id="4" name="txt-56"/>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600" dirty="0">
                <a:solidFill>
                  <a:schemeClr val="tx2"/>
                </a:solidFill>
              </a:rPr>
              <a:t>GetX bukan hanya state management, melainkan ekosistem lengkap dengan 3 pilar utama:</a:t>
            </a:r>
            <a:endParaRPr lang="en-US" sz="1600" dirty="0"/>
          </a:p>
        </p:txBody>
      </p:sp>
      <p:sp>
        <p:nvSpPr>
          <p:cNvPr id="5" name="card-57"/>
          <p:cNvSpPr/>
          <p:nvPr/>
        </p:nvSpPr>
        <p:spPr>
          <a:xfrm>
            <a:off x="548640" y="1783080"/>
            <a:ext cx="11064240" cy="1143000"/>
          </a:xfrm>
          <a:prstGeom prst="roundRect">
            <a:avLst>
              <a:gd name="adj" fmla="val 96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6" name="ic-bg-58"/>
          <p:cNvSpPr/>
          <p:nvPr/>
        </p:nvSpPr>
        <p:spPr>
          <a:xfrm>
            <a:off x="777240" y="2011680"/>
            <a:ext cx="685800" cy="685800"/>
          </a:xfrm>
          <a:prstGeom prst="ellipse">
            <a:avLst/>
          </a:prstGeom>
          <a:solidFill>
            <a:srgbClr val="4F46E5"/>
          </a:solidFill>
          <a:ln/>
        </p:spPr>
      </p:sp>
      <p:pic>
        <p:nvPicPr>
          <p:cNvPr id="7" name="ic-59" descr="FaSyncAlt">    </p:cNvPr>
          <p:cNvPicPr>
            <a:picLocks noChangeAspect="1"/>
          </p:cNvPicPr>
          <p:nvPr/>
        </p:nvPicPr>
        <p:blipFill>
          <a:blip r:embed="rId1"/>
          <a:stretch>
            <a:fillRect/>
          </a:stretch>
        </p:blipFill>
        <p:spPr>
          <a:xfrm>
            <a:off x="962406" y="2196846"/>
            <a:ext cx="315468" cy="315468"/>
          </a:xfrm>
          <a:prstGeom prst="rect">
            <a:avLst/>
          </a:prstGeom>
        </p:spPr>
      </p:pic>
      <p:sp>
        <p:nvSpPr>
          <p:cNvPr id="8" name="txt-60"/>
          <p:cNvSpPr txBox="1"/>
          <p:nvPr/>
        </p:nvSpPr>
        <p:spPr>
          <a:xfrm>
            <a:off x="1645920" y="2039112"/>
            <a:ext cx="292608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PILAR 1</a:t>
            </a:r>
            <a:endParaRPr lang="en-US" sz="1100" dirty="0"/>
          </a:p>
        </p:txBody>
      </p:sp>
      <p:sp>
        <p:nvSpPr>
          <p:cNvPr id="9" name="txt-61"/>
          <p:cNvSpPr txBox="1"/>
          <p:nvPr/>
        </p:nvSpPr>
        <p:spPr>
          <a:xfrm>
            <a:off x="1645920" y="2286000"/>
            <a:ext cx="3017520" cy="365760"/>
          </a:xfrm>
          <a:prstGeom prst="rect">
            <a:avLst/>
          </a:prstGeom>
          <a:noFill/>
          <a:ln/>
        </p:spPr>
        <p:txBody>
          <a:bodyPr wrap="square" lIns="0" tIns="0" rIns="0" bIns="0" rtlCol="0" anchor="t"/>
          <a:lstStyle/>
          <a:p>
            <a:pPr indent="0" marL="0">
              <a:buNone/>
            </a:pPr>
            <a:r>
              <a:rPr lang="en-US" sz="2000" b="1" dirty="0">
                <a:solidFill>
                  <a:schemeClr val="tx1"/>
                </a:solidFill>
              </a:rPr>
              <a:t>State Management</a:t>
            </a:r>
            <a:endParaRPr lang="en-US" sz="2000" dirty="0"/>
          </a:p>
        </p:txBody>
      </p:sp>
      <p:sp>
        <p:nvSpPr>
          <p:cNvPr id="10" name="txt-62"/>
          <p:cNvSpPr txBox="1"/>
          <p:nvPr/>
        </p:nvSpPr>
        <p:spPr>
          <a:xfrm>
            <a:off x="4754880" y="1938528"/>
            <a:ext cx="3108960" cy="868680"/>
          </a:xfrm>
          <a:prstGeom prst="rect">
            <a:avLst/>
          </a:prstGeom>
          <a:noFill/>
          <a:ln/>
        </p:spPr>
        <p:txBody>
          <a:bodyPr wrap="square" lIns="0" tIns="0" rIns="0" bIns="0" rtlCol="0" anchor="ctr"/>
          <a:lstStyle/>
          <a:p>
            <a:pPr indent="0" marL="0">
              <a:buNone/>
            </a:pPr>
            <a:r>
              <a:rPr lang="en-US" sz="1400" dirty="0">
                <a:solidFill>
                  <a:schemeClr val="tx2"/>
                </a:solidFill>
              </a:rPr>
              <a:t>Mengelola perubahan data secara reaktif dan real-time.</a:t>
            </a:r>
            <a:endParaRPr lang="en-US" sz="1400" dirty="0"/>
          </a:p>
        </p:txBody>
      </p:sp>
      <p:sp>
        <p:nvSpPr>
          <p:cNvPr id="11" name="card-63"/>
          <p:cNvSpPr/>
          <p:nvPr/>
        </p:nvSpPr>
        <p:spPr>
          <a:xfrm>
            <a:off x="8046720" y="1920240"/>
            <a:ext cx="3383280" cy="868680"/>
          </a:xfrm>
          <a:prstGeom prst="roundRect">
            <a:avLst>
              <a:gd name="adj" fmla="val 12632"/>
            </a:avLst>
          </a:prstGeom>
          <a:solidFill>
            <a:schemeClr val="bg1"/>
          </a:solidFill>
          <a:ln w="9525">
            <a:solidFill>
              <a:srgbClr val="E2E8F0"/>
            </a:solidFill>
            <a:prstDash val="solid"/>
          </a:ln>
        </p:spPr>
      </p:sp>
      <p:sp>
        <p:nvSpPr>
          <p:cNvPr id="12" name="code-64"/>
          <p:cNvSpPr txBox="1"/>
          <p:nvPr/>
        </p:nvSpPr>
        <p:spPr>
          <a:xfrm>
            <a:off x="8046720" y="1920240"/>
            <a:ext cx="3383280" cy="86868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var count = 0.obs;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Obx(() =&gt; Text(...))</a:t>
            </a:r>
            <a:endParaRPr lang="en-US" sz="1100" dirty="0"/>
          </a:p>
        </p:txBody>
      </p:sp>
      <p:sp>
        <p:nvSpPr>
          <p:cNvPr id="13" name="card-65"/>
          <p:cNvSpPr/>
          <p:nvPr/>
        </p:nvSpPr>
        <p:spPr>
          <a:xfrm>
            <a:off x="548640" y="3063240"/>
            <a:ext cx="11064240" cy="1143000"/>
          </a:xfrm>
          <a:prstGeom prst="roundRect">
            <a:avLst>
              <a:gd name="adj" fmla="val 96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4" name="ic-bg-66"/>
          <p:cNvSpPr/>
          <p:nvPr/>
        </p:nvSpPr>
        <p:spPr>
          <a:xfrm>
            <a:off x="777240" y="3291840"/>
            <a:ext cx="685800" cy="685800"/>
          </a:xfrm>
          <a:prstGeom prst="ellipse">
            <a:avLst/>
          </a:prstGeom>
          <a:solidFill>
            <a:srgbClr val="EA580C"/>
          </a:solidFill>
          <a:ln/>
        </p:spPr>
      </p:sp>
      <p:pic>
        <p:nvPicPr>
          <p:cNvPr id="15" name="ic-67" descr="FaRoute">    </p:cNvPr>
          <p:cNvPicPr>
            <a:picLocks noChangeAspect="1"/>
          </p:cNvPicPr>
          <p:nvPr/>
        </p:nvPicPr>
        <p:blipFill>
          <a:blip r:embed="rId2"/>
          <a:stretch>
            <a:fillRect/>
          </a:stretch>
        </p:blipFill>
        <p:spPr>
          <a:xfrm>
            <a:off x="962406" y="3477006"/>
            <a:ext cx="315468" cy="315468"/>
          </a:xfrm>
          <a:prstGeom prst="rect">
            <a:avLst/>
          </a:prstGeom>
        </p:spPr>
      </p:pic>
      <p:sp>
        <p:nvSpPr>
          <p:cNvPr id="16" name="txt-68"/>
          <p:cNvSpPr txBox="1"/>
          <p:nvPr/>
        </p:nvSpPr>
        <p:spPr>
          <a:xfrm>
            <a:off x="1645920" y="3319272"/>
            <a:ext cx="292608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PILAR 2</a:t>
            </a:r>
            <a:endParaRPr lang="en-US" sz="1100" dirty="0"/>
          </a:p>
        </p:txBody>
      </p:sp>
      <p:sp>
        <p:nvSpPr>
          <p:cNvPr id="17" name="txt-69"/>
          <p:cNvSpPr txBox="1"/>
          <p:nvPr/>
        </p:nvSpPr>
        <p:spPr>
          <a:xfrm>
            <a:off x="1645920" y="3566160"/>
            <a:ext cx="3017520" cy="365760"/>
          </a:xfrm>
          <a:prstGeom prst="rect">
            <a:avLst/>
          </a:prstGeom>
          <a:noFill/>
          <a:ln/>
        </p:spPr>
        <p:txBody>
          <a:bodyPr wrap="square" lIns="0" tIns="0" rIns="0" bIns="0" rtlCol="0" anchor="t"/>
          <a:lstStyle/>
          <a:p>
            <a:pPr indent="0" marL="0">
              <a:buNone/>
            </a:pPr>
            <a:r>
              <a:rPr lang="en-US" sz="2000" b="1" dirty="0">
                <a:solidFill>
                  <a:schemeClr val="tx1"/>
                </a:solidFill>
              </a:rPr>
              <a:t>Route Management</a:t>
            </a:r>
            <a:endParaRPr lang="en-US" sz="2000" dirty="0"/>
          </a:p>
        </p:txBody>
      </p:sp>
      <p:sp>
        <p:nvSpPr>
          <p:cNvPr id="18" name="txt-70"/>
          <p:cNvSpPr txBox="1"/>
          <p:nvPr/>
        </p:nvSpPr>
        <p:spPr>
          <a:xfrm>
            <a:off x="4754880" y="3218688"/>
            <a:ext cx="3108960" cy="868680"/>
          </a:xfrm>
          <a:prstGeom prst="rect">
            <a:avLst/>
          </a:prstGeom>
          <a:noFill/>
          <a:ln/>
        </p:spPr>
        <p:txBody>
          <a:bodyPr wrap="square" lIns="0" tIns="0" rIns="0" bIns="0" rtlCol="0" anchor="ctr"/>
          <a:lstStyle/>
          <a:p>
            <a:pPr indent="0" marL="0">
              <a:buNone/>
            </a:pPr>
            <a:r>
              <a:rPr lang="en-US" sz="1400" dirty="0">
                <a:solidFill>
                  <a:schemeClr val="tx2"/>
                </a:solidFill>
              </a:rPr>
              <a:t>Mengatur perpindahan antar halaman, animasi transisi, dan passing data tanpa BuildContext.</a:t>
            </a:r>
            <a:endParaRPr lang="en-US" sz="1400" dirty="0"/>
          </a:p>
        </p:txBody>
      </p:sp>
      <p:sp>
        <p:nvSpPr>
          <p:cNvPr id="19" name="card-71"/>
          <p:cNvSpPr/>
          <p:nvPr/>
        </p:nvSpPr>
        <p:spPr>
          <a:xfrm>
            <a:off x="8046720" y="3200400"/>
            <a:ext cx="3383280" cy="868680"/>
          </a:xfrm>
          <a:prstGeom prst="roundRect">
            <a:avLst>
              <a:gd name="adj" fmla="val 12632"/>
            </a:avLst>
          </a:prstGeom>
          <a:solidFill>
            <a:schemeClr val="bg1"/>
          </a:solidFill>
          <a:ln w="9525">
            <a:solidFill>
              <a:srgbClr val="E2E8F0"/>
            </a:solidFill>
            <a:prstDash val="solid"/>
          </a:ln>
        </p:spPr>
      </p:sp>
      <p:sp>
        <p:nvSpPr>
          <p:cNvPr id="20" name="code-72"/>
          <p:cNvSpPr txBox="1"/>
          <p:nvPr/>
        </p:nvSpPr>
        <p:spPr>
          <a:xfrm>
            <a:off x="8046720" y="3200400"/>
            <a:ext cx="3383280" cy="86868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Get.toNamed('/cart')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Get.back()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Get.offAllNamed('/login')</a:t>
            </a:r>
            <a:endParaRPr lang="en-US" sz="1100" dirty="0"/>
          </a:p>
        </p:txBody>
      </p:sp>
      <p:sp>
        <p:nvSpPr>
          <p:cNvPr id="21" name="card-73"/>
          <p:cNvSpPr/>
          <p:nvPr/>
        </p:nvSpPr>
        <p:spPr>
          <a:xfrm>
            <a:off x="548640" y="4343400"/>
            <a:ext cx="11064240" cy="1143000"/>
          </a:xfrm>
          <a:prstGeom prst="roundRect">
            <a:avLst>
              <a:gd name="adj" fmla="val 96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22" name="ic-bg-74"/>
          <p:cNvSpPr/>
          <p:nvPr/>
        </p:nvSpPr>
        <p:spPr>
          <a:xfrm>
            <a:off x="777240" y="4572000"/>
            <a:ext cx="685800" cy="685800"/>
          </a:xfrm>
          <a:prstGeom prst="ellipse">
            <a:avLst/>
          </a:prstGeom>
          <a:solidFill>
            <a:srgbClr val="16A34A"/>
          </a:solidFill>
          <a:ln/>
        </p:spPr>
      </p:sp>
      <p:pic>
        <p:nvPicPr>
          <p:cNvPr id="23" name="ic-75" descr="FaMemory">    </p:cNvPr>
          <p:cNvPicPr>
            <a:picLocks noChangeAspect="1"/>
          </p:cNvPicPr>
          <p:nvPr/>
        </p:nvPicPr>
        <p:blipFill>
          <a:blip r:embed="rId3"/>
          <a:stretch>
            <a:fillRect/>
          </a:stretch>
        </p:blipFill>
        <p:spPr>
          <a:xfrm>
            <a:off x="962406" y="4757166"/>
            <a:ext cx="315468" cy="315468"/>
          </a:xfrm>
          <a:prstGeom prst="rect">
            <a:avLst/>
          </a:prstGeom>
        </p:spPr>
      </p:pic>
      <p:sp>
        <p:nvSpPr>
          <p:cNvPr id="24" name="txt-76"/>
          <p:cNvSpPr txBox="1"/>
          <p:nvPr/>
        </p:nvSpPr>
        <p:spPr>
          <a:xfrm>
            <a:off x="1645920" y="4599432"/>
            <a:ext cx="292608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PILAR 3</a:t>
            </a:r>
            <a:endParaRPr lang="en-US" sz="1100" dirty="0"/>
          </a:p>
        </p:txBody>
      </p:sp>
      <p:sp>
        <p:nvSpPr>
          <p:cNvPr id="25" name="txt-77"/>
          <p:cNvSpPr txBox="1"/>
          <p:nvPr/>
        </p:nvSpPr>
        <p:spPr>
          <a:xfrm>
            <a:off x="1645920" y="4846320"/>
            <a:ext cx="3017520" cy="365760"/>
          </a:xfrm>
          <a:prstGeom prst="rect">
            <a:avLst/>
          </a:prstGeom>
          <a:noFill/>
          <a:ln/>
        </p:spPr>
        <p:txBody>
          <a:bodyPr wrap="square" lIns="0" tIns="0" rIns="0" bIns="0" rtlCol="0" anchor="t"/>
          <a:lstStyle/>
          <a:p>
            <a:pPr indent="0" marL="0">
              <a:buNone/>
            </a:pPr>
            <a:r>
              <a:rPr lang="en-US" sz="2000" b="1" dirty="0">
                <a:solidFill>
                  <a:schemeClr val="tx1"/>
                </a:solidFill>
              </a:rPr>
              <a:t>Dependency Management</a:t>
            </a:r>
            <a:endParaRPr lang="en-US" sz="2000" dirty="0"/>
          </a:p>
        </p:txBody>
      </p:sp>
      <p:sp>
        <p:nvSpPr>
          <p:cNvPr id="26" name="txt-78"/>
          <p:cNvSpPr txBox="1"/>
          <p:nvPr/>
        </p:nvSpPr>
        <p:spPr>
          <a:xfrm>
            <a:off x="4754880" y="4498848"/>
            <a:ext cx="3108960" cy="868680"/>
          </a:xfrm>
          <a:prstGeom prst="rect">
            <a:avLst/>
          </a:prstGeom>
          <a:noFill/>
          <a:ln/>
        </p:spPr>
        <p:txBody>
          <a:bodyPr wrap="square" lIns="0" tIns="0" rIns="0" bIns="0" rtlCol="0" anchor="ctr"/>
          <a:lstStyle/>
          <a:p>
            <a:pPr indent="0" marL="0">
              <a:buNone/>
            </a:pPr>
            <a:r>
              <a:rPr lang="en-US" sz="1400" dirty="0">
                <a:solidFill>
                  <a:schemeClr val="tx2"/>
                </a:solidFill>
              </a:rPr>
              <a:t>Menyediakan objek Controller ke widget yang membutuhkan secara efisien (Lazy Loading &amp; Auto Dispose).</a:t>
            </a:r>
            <a:endParaRPr lang="en-US" sz="1400" dirty="0"/>
          </a:p>
        </p:txBody>
      </p:sp>
      <p:sp>
        <p:nvSpPr>
          <p:cNvPr id="27" name="card-79"/>
          <p:cNvSpPr/>
          <p:nvPr/>
        </p:nvSpPr>
        <p:spPr>
          <a:xfrm>
            <a:off x="8046720" y="4480560"/>
            <a:ext cx="3383280" cy="868680"/>
          </a:xfrm>
          <a:prstGeom prst="roundRect">
            <a:avLst>
              <a:gd name="adj" fmla="val 12632"/>
            </a:avLst>
          </a:prstGeom>
          <a:solidFill>
            <a:schemeClr val="bg1"/>
          </a:solidFill>
          <a:ln w="9525">
            <a:solidFill>
              <a:srgbClr val="E2E8F0"/>
            </a:solidFill>
            <a:prstDash val="solid"/>
          </a:ln>
        </p:spPr>
      </p:sp>
      <p:sp>
        <p:nvSpPr>
          <p:cNvPr id="28" name="code-80"/>
          <p:cNvSpPr txBox="1"/>
          <p:nvPr/>
        </p:nvSpPr>
        <p:spPr>
          <a:xfrm>
            <a:off x="8046720" y="4480560"/>
            <a:ext cx="3383280" cy="86868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Get.lazyPut(() =&gt; CartController())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Get.find&lt;CartController&gt;()</a:t>
            </a:r>
            <a:endParaRPr lang="en-US" sz="1100" dirty="0"/>
          </a:p>
        </p:txBody>
      </p:sp>
      <p:sp>
        <p:nvSpPr>
          <p:cNvPr id="29" name="card-81"/>
          <p:cNvSpPr/>
          <p:nvPr/>
        </p:nvSpPr>
        <p:spPr>
          <a:xfrm>
            <a:off x="548640" y="5669280"/>
            <a:ext cx="11064240" cy="502920"/>
          </a:xfrm>
          <a:prstGeom prst="roundRect">
            <a:avLst>
              <a:gd name="adj" fmla="val 21818"/>
            </a:avLst>
          </a:prstGeom>
          <a:solidFill>
            <a:schemeClr val="accent5"/>
          </a:solidFill>
          <a:ln/>
        </p:spPr>
      </p:sp>
      <p:sp>
        <p:nvSpPr>
          <p:cNvPr id="30" name="txt-82"/>
          <p:cNvSpPr txBox="1"/>
          <p:nvPr/>
        </p:nvSpPr>
        <p:spPr>
          <a:xfrm>
            <a:off x="548640" y="5669280"/>
            <a:ext cx="11064240" cy="502920"/>
          </a:xfrm>
          <a:prstGeom prst="rect">
            <a:avLst/>
          </a:prstGeom>
          <a:noFill/>
          <a:ln/>
        </p:spPr>
        <p:txBody>
          <a:bodyPr wrap="square" lIns="0" tIns="0" rIns="0" bIns="0" rtlCol="0" anchor="ctr"/>
          <a:lstStyle/>
          <a:p>
            <a:pPr algn="ctr" indent="0" marL="0">
              <a:buNone/>
            </a:pPr>
            <a:r>
              <a:rPr lang="en-US" sz="1600" b="1" dirty="0">
                <a:solidFill>
                  <a:schemeClr val="accent1"/>
                </a:solidFill>
              </a:rPr>
              <a:t>State = DATA   •   Route = NAVIGASI   •   Dependency = MEMORI RAM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Memahami Arsitektur GetX Seperti Restoran Modern</a:t>
            </a:r>
            <a:endParaRPr lang="en-US" sz="2800" dirty="0"/>
          </a:p>
        </p:txBody>
      </p:sp>
      <p:sp>
        <p:nvSpPr>
          <p:cNvPr id="4" name="card-83"/>
          <p:cNvSpPr/>
          <p:nvPr/>
        </p:nvSpPr>
        <p:spPr>
          <a:xfrm>
            <a:off x="548640" y="1371600"/>
            <a:ext cx="2514600" cy="3611880"/>
          </a:xfrm>
          <a:prstGeom prst="roundRect">
            <a:avLst>
              <a:gd name="adj" fmla="val 4364"/>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5" name="ic-bg-84"/>
          <p:cNvSpPr/>
          <p:nvPr/>
        </p:nvSpPr>
        <p:spPr>
          <a:xfrm>
            <a:off x="731520" y="1645920"/>
            <a:ext cx="731520" cy="731520"/>
          </a:xfrm>
          <a:prstGeom prst="ellipse">
            <a:avLst/>
          </a:prstGeom>
          <a:solidFill>
            <a:srgbClr val="4F46E5"/>
          </a:solidFill>
          <a:ln/>
        </p:spPr>
      </p:sp>
      <p:pic>
        <p:nvPicPr>
          <p:cNvPr id="6" name="ic-85" descr="FaUser">    </p:cNvPr>
          <p:cNvPicPr>
            <a:picLocks noChangeAspect="1"/>
          </p:cNvPicPr>
          <p:nvPr/>
        </p:nvPicPr>
        <p:blipFill>
          <a:blip r:embed="rId1"/>
          <a:stretch>
            <a:fillRect/>
          </a:stretch>
        </p:blipFill>
        <p:spPr>
          <a:xfrm>
            <a:off x="929030" y="1843430"/>
            <a:ext cx="336499" cy="336499"/>
          </a:xfrm>
          <a:prstGeom prst="rect">
            <a:avLst/>
          </a:prstGeom>
        </p:spPr>
      </p:pic>
      <p:sp>
        <p:nvSpPr>
          <p:cNvPr id="7" name="txt-86"/>
          <p:cNvSpPr txBox="1"/>
          <p:nvPr/>
        </p:nvSpPr>
        <p:spPr>
          <a:xfrm>
            <a:off x="1600200" y="1874520"/>
            <a:ext cx="13716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LANGKAH 1</a:t>
            </a:r>
            <a:endParaRPr lang="en-US" sz="1100" dirty="0"/>
          </a:p>
        </p:txBody>
      </p:sp>
      <p:sp>
        <p:nvSpPr>
          <p:cNvPr id="8" name="txt-87"/>
          <p:cNvSpPr txBox="1"/>
          <p:nvPr/>
        </p:nvSpPr>
        <p:spPr>
          <a:xfrm>
            <a:off x="731520" y="2560320"/>
            <a:ext cx="2194560" cy="822960"/>
          </a:xfrm>
          <a:prstGeom prst="rect">
            <a:avLst/>
          </a:prstGeom>
          <a:noFill/>
          <a:ln/>
        </p:spPr>
        <p:txBody>
          <a:bodyPr wrap="square" lIns="0" tIns="0" rIns="0" bIns="0" rtlCol="0" anchor="t"/>
          <a:lstStyle/>
          <a:p>
            <a:pPr indent="0" marL="0">
              <a:buNone/>
            </a:pPr>
            <a:r>
              <a:rPr lang="en-US" sz="2000" b="1" dirty="0">
                <a:solidFill>
                  <a:schemeClr val="tx1"/>
                </a:solidFill>
              </a:rPr>
              <a:t>User</a:t>
            </a:r>
            <a:endParaRPr lang="en-US" sz="2000" dirty="0"/>
          </a:p>
          <a:p>
            <a:pPr indent="0" marL="0">
              <a:buNone/>
            </a:pPr>
            <a:r>
              <a:rPr lang="en-US" sz="1400" b="1" dirty="0">
                <a:solidFill>
                  <a:schemeClr val="accent2"/>
                </a:solidFill>
              </a:rPr>
              <a:t>Pelanggan</a:t>
            </a:r>
            <a:endParaRPr lang="en-US" sz="2000" dirty="0"/>
          </a:p>
        </p:txBody>
      </p:sp>
      <p:sp>
        <p:nvSpPr>
          <p:cNvPr id="9" name="txt-88"/>
          <p:cNvSpPr txBox="1"/>
          <p:nvPr/>
        </p:nvSpPr>
        <p:spPr>
          <a:xfrm>
            <a:off x="731520" y="3429000"/>
            <a:ext cx="2194560" cy="1463040"/>
          </a:xfrm>
          <a:prstGeom prst="rect">
            <a:avLst/>
          </a:prstGeom>
          <a:noFill/>
          <a:ln/>
        </p:spPr>
        <p:txBody>
          <a:bodyPr wrap="square" lIns="0" tIns="0" rIns="0" bIns="0" rtlCol="0" anchor="t"/>
          <a:lstStyle/>
          <a:p>
            <a:pPr indent="0" marL="0">
              <a:buNone/>
            </a:pPr>
            <a:r>
              <a:rPr lang="en-US" sz="1400" dirty="0">
                <a:solidFill>
                  <a:schemeClr val="tx2"/>
                </a:solidFill>
              </a:rPr>
              <a:t>Pembeli yang menekan tombol sepatu atau membuka keranjang di aplikasi.</a:t>
            </a:r>
            <a:endParaRPr lang="en-US" sz="1400" dirty="0"/>
          </a:p>
        </p:txBody>
      </p:sp>
      <p:sp>
        <p:nvSpPr>
          <p:cNvPr id="10" name="arrow-89"/>
          <p:cNvSpPr/>
          <p:nvPr/>
        </p:nvSpPr>
        <p:spPr>
          <a:xfrm>
            <a:off x="3131820" y="3017520"/>
            <a:ext cx="201168" cy="347472"/>
          </a:xfrm>
          <a:prstGeom prst="chevron">
            <a:avLst/>
          </a:prstGeom>
          <a:solidFill>
            <a:schemeClr val="accent6"/>
          </a:solidFill>
          <a:ln/>
        </p:spPr>
      </p:sp>
      <p:sp>
        <p:nvSpPr>
          <p:cNvPr id="11" name="card-90"/>
          <p:cNvSpPr/>
          <p:nvPr/>
        </p:nvSpPr>
        <p:spPr>
          <a:xfrm>
            <a:off x="3401568" y="1371600"/>
            <a:ext cx="2514600" cy="3611880"/>
          </a:xfrm>
          <a:prstGeom prst="roundRect">
            <a:avLst>
              <a:gd name="adj" fmla="val 4364"/>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2" name="ic-bg-91"/>
          <p:cNvSpPr/>
          <p:nvPr/>
        </p:nvSpPr>
        <p:spPr>
          <a:xfrm>
            <a:off x="3584448" y="1645920"/>
            <a:ext cx="731520" cy="731520"/>
          </a:xfrm>
          <a:prstGeom prst="ellipse">
            <a:avLst/>
          </a:prstGeom>
          <a:solidFill>
            <a:srgbClr val="4F46E5"/>
          </a:solidFill>
          <a:ln/>
        </p:spPr>
      </p:sp>
      <p:pic>
        <p:nvPicPr>
          <p:cNvPr id="13" name="ic-92" descr="FaBookOpen">    </p:cNvPr>
          <p:cNvPicPr>
            <a:picLocks noChangeAspect="1"/>
          </p:cNvPicPr>
          <p:nvPr/>
        </p:nvPicPr>
        <p:blipFill>
          <a:blip r:embed="rId2"/>
          <a:stretch>
            <a:fillRect/>
          </a:stretch>
        </p:blipFill>
        <p:spPr>
          <a:xfrm>
            <a:off x="3781958" y="1843430"/>
            <a:ext cx="336499" cy="336499"/>
          </a:xfrm>
          <a:prstGeom prst="rect">
            <a:avLst/>
          </a:prstGeom>
        </p:spPr>
      </p:pic>
      <p:sp>
        <p:nvSpPr>
          <p:cNvPr id="14" name="txt-93"/>
          <p:cNvSpPr txBox="1"/>
          <p:nvPr/>
        </p:nvSpPr>
        <p:spPr>
          <a:xfrm>
            <a:off x="4453128" y="1874520"/>
            <a:ext cx="13716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LANGKAH 2</a:t>
            </a:r>
            <a:endParaRPr lang="en-US" sz="1100" dirty="0"/>
          </a:p>
        </p:txBody>
      </p:sp>
      <p:sp>
        <p:nvSpPr>
          <p:cNvPr id="15" name="txt-94"/>
          <p:cNvSpPr txBox="1"/>
          <p:nvPr/>
        </p:nvSpPr>
        <p:spPr>
          <a:xfrm>
            <a:off x="3584448" y="2560320"/>
            <a:ext cx="2194560" cy="822960"/>
          </a:xfrm>
          <a:prstGeom prst="rect">
            <a:avLst/>
          </a:prstGeom>
          <a:noFill/>
          <a:ln/>
        </p:spPr>
        <p:txBody>
          <a:bodyPr wrap="square" lIns="0" tIns="0" rIns="0" bIns="0" rtlCol="0" anchor="t"/>
          <a:lstStyle/>
          <a:p>
            <a:pPr indent="0" marL="0">
              <a:buNone/>
            </a:pPr>
            <a:r>
              <a:rPr lang="en-US" sz="2000" b="1" dirty="0">
                <a:solidFill>
                  <a:schemeClr val="tx1"/>
                </a:solidFill>
              </a:rPr>
              <a:t>View</a:t>
            </a:r>
            <a:endParaRPr lang="en-US" sz="2000" dirty="0"/>
          </a:p>
          <a:p>
            <a:pPr indent="0" marL="0">
              <a:buNone/>
            </a:pPr>
            <a:r>
              <a:rPr lang="en-US" sz="1400" b="1" dirty="0">
                <a:solidFill>
                  <a:schemeClr val="accent2"/>
                </a:solidFill>
              </a:rPr>
              <a:t>Buku Menu &amp; Meja Makan</a:t>
            </a:r>
            <a:endParaRPr lang="en-US" sz="2000" dirty="0"/>
          </a:p>
        </p:txBody>
      </p:sp>
      <p:sp>
        <p:nvSpPr>
          <p:cNvPr id="16" name="txt-95"/>
          <p:cNvSpPr txBox="1"/>
          <p:nvPr/>
        </p:nvSpPr>
        <p:spPr>
          <a:xfrm>
            <a:off x="3584448" y="3429000"/>
            <a:ext cx="2194560" cy="1463040"/>
          </a:xfrm>
          <a:prstGeom prst="rect">
            <a:avLst/>
          </a:prstGeom>
          <a:noFill/>
          <a:ln/>
        </p:spPr>
        <p:txBody>
          <a:bodyPr wrap="square" lIns="0" tIns="0" rIns="0" bIns="0" rtlCol="0" anchor="t"/>
          <a:lstStyle/>
          <a:p>
            <a:pPr indent="0" marL="0">
              <a:buNone/>
            </a:pPr>
            <a:r>
              <a:rPr lang="en-US" sz="1400" dirty="0">
                <a:solidFill>
                  <a:schemeClr val="tx2"/>
                </a:solidFill>
              </a:rPr>
              <a:t>Antarmuka UI murni. Tugasnya HANYA menampilkan data visual dan menangkap interaksi klik.</a:t>
            </a:r>
            <a:endParaRPr lang="en-US" sz="1400" dirty="0"/>
          </a:p>
        </p:txBody>
      </p:sp>
      <p:sp>
        <p:nvSpPr>
          <p:cNvPr id="17" name="arrow-96"/>
          <p:cNvSpPr/>
          <p:nvPr/>
        </p:nvSpPr>
        <p:spPr>
          <a:xfrm>
            <a:off x="5984748" y="3017520"/>
            <a:ext cx="201168" cy="347472"/>
          </a:xfrm>
          <a:prstGeom prst="chevron">
            <a:avLst/>
          </a:prstGeom>
          <a:solidFill>
            <a:schemeClr val="accent6"/>
          </a:solidFill>
          <a:ln/>
        </p:spPr>
      </p:sp>
      <p:sp>
        <p:nvSpPr>
          <p:cNvPr id="18" name="card-97"/>
          <p:cNvSpPr/>
          <p:nvPr/>
        </p:nvSpPr>
        <p:spPr>
          <a:xfrm>
            <a:off x="6254496" y="1371600"/>
            <a:ext cx="2514600" cy="3611880"/>
          </a:xfrm>
          <a:prstGeom prst="roundRect">
            <a:avLst>
              <a:gd name="adj" fmla="val 4364"/>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9" name="ic-bg-98"/>
          <p:cNvSpPr/>
          <p:nvPr/>
        </p:nvSpPr>
        <p:spPr>
          <a:xfrm>
            <a:off x="6437376" y="1645920"/>
            <a:ext cx="731520" cy="731520"/>
          </a:xfrm>
          <a:prstGeom prst="ellipse">
            <a:avLst/>
          </a:prstGeom>
          <a:solidFill>
            <a:srgbClr val="EA580C"/>
          </a:solidFill>
          <a:ln/>
        </p:spPr>
      </p:sp>
      <p:pic>
        <p:nvPicPr>
          <p:cNvPr id="20" name="ic-99" descr="FaUtensils">    </p:cNvPr>
          <p:cNvPicPr>
            <a:picLocks noChangeAspect="1"/>
          </p:cNvPicPr>
          <p:nvPr/>
        </p:nvPicPr>
        <p:blipFill>
          <a:blip r:embed="rId3"/>
          <a:stretch>
            <a:fillRect/>
          </a:stretch>
        </p:blipFill>
        <p:spPr>
          <a:xfrm>
            <a:off x="6634886" y="1843430"/>
            <a:ext cx="336499" cy="336499"/>
          </a:xfrm>
          <a:prstGeom prst="rect">
            <a:avLst/>
          </a:prstGeom>
        </p:spPr>
      </p:pic>
      <p:sp>
        <p:nvSpPr>
          <p:cNvPr id="21" name="txt-100"/>
          <p:cNvSpPr txBox="1"/>
          <p:nvPr/>
        </p:nvSpPr>
        <p:spPr>
          <a:xfrm>
            <a:off x="7306056" y="1874520"/>
            <a:ext cx="13716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LANGKAH 3</a:t>
            </a:r>
            <a:endParaRPr lang="en-US" sz="1100" dirty="0"/>
          </a:p>
        </p:txBody>
      </p:sp>
      <p:sp>
        <p:nvSpPr>
          <p:cNvPr id="22" name="txt-101"/>
          <p:cNvSpPr txBox="1"/>
          <p:nvPr/>
        </p:nvSpPr>
        <p:spPr>
          <a:xfrm>
            <a:off x="6437376" y="2560320"/>
            <a:ext cx="2194560" cy="822960"/>
          </a:xfrm>
          <a:prstGeom prst="rect">
            <a:avLst/>
          </a:prstGeom>
          <a:noFill/>
          <a:ln/>
        </p:spPr>
        <p:txBody>
          <a:bodyPr wrap="square" lIns="0" tIns="0" rIns="0" bIns="0" rtlCol="0" anchor="t"/>
          <a:lstStyle/>
          <a:p>
            <a:pPr indent="0" marL="0">
              <a:buNone/>
            </a:pPr>
            <a:r>
              <a:rPr lang="en-US" sz="2000" b="1" dirty="0">
                <a:solidFill>
                  <a:schemeClr val="tx1"/>
                </a:solidFill>
              </a:rPr>
              <a:t>Controller</a:t>
            </a:r>
            <a:endParaRPr lang="en-US" sz="2000" dirty="0"/>
          </a:p>
          <a:p>
            <a:pPr indent="0" marL="0">
              <a:buNone/>
            </a:pPr>
            <a:r>
              <a:rPr lang="en-US" sz="1400" b="1" dirty="0">
                <a:solidFill>
                  <a:schemeClr val="accent2"/>
                </a:solidFill>
              </a:rPr>
              <a:t>Koki di Dapur</a:t>
            </a:r>
            <a:endParaRPr lang="en-US" sz="2000" dirty="0"/>
          </a:p>
        </p:txBody>
      </p:sp>
      <p:sp>
        <p:nvSpPr>
          <p:cNvPr id="23" name="txt-102"/>
          <p:cNvSpPr txBox="1"/>
          <p:nvPr/>
        </p:nvSpPr>
        <p:spPr>
          <a:xfrm>
            <a:off x="6437376" y="3429000"/>
            <a:ext cx="2194560" cy="1463040"/>
          </a:xfrm>
          <a:prstGeom prst="rect">
            <a:avLst/>
          </a:prstGeom>
          <a:noFill/>
          <a:ln/>
        </p:spPr>
        <p:txBody>
          <a:bodyPr wrap="square" lIns="0" tIns="0" rIns="0" bIns="0" rtlCol="0" anchor="t"/>
          <a:lstStyle/>
          <a:p>
            <a:pPr indent="0" marL="0">
              <a:buNone/>
            </a:pPr>
            <a:r>
              <a:rPr lang="en-US" sz="1400" dirty="0">
                <a:solidFill>
                  <a:schemeClr val="tx2"/>
                </a:solidFill>
              </a:rPr>
              <a:t>Otak logika aplikasi. Menghitung kuantitas, kalkulasi total diskon, dan mengambil data produk dari server.</a:t>
            </a:r>
            <a:endParaRPr lang="en-US" sz="1400" dirty="0"/>
          </a:p>
        </p:txBody>
      </p:sp>
      <p:sp>
        <p:nvSpPr>
          <p:cNvPr id="24" name="arrow-103"/>
          <p:cNvSpPr/>
          <p:nvPr/>
        </p:nvSpPr>
        <p:spPr>
          <a:xfrm>
            <a:off x="8837676" y="3017520"/>
            <a:ext cx="201168" cy="347472"/>
          </a:xfrm>
          <a:prstGeom prst="chevron">
            <a:avLst/>
          </a:prstGeom>
          <a:solidFill>
            <a:schemeClr val="accent6"/>
          </a:solidFill>
          <a:ln/>
        </p:spPr>
      </p:sp>
      <p:sp>
        <p:nvSpPr>
          <p:cNvPr id="25" name="card-104"/>
          <p:cNvSpPr/>
          <p:nvPr/>
        </p:nvSpPr>
        <p:spPr>
          <a:xfrm>
            <a:off x="9107424" y="1371600"/>
            <a:ext cx="2514600" cy="3611880"/>
          </a:xfrm>
          <a:prstGeom prst="roundRect">
            <a:avLst>
              <a:gd name="adj" fmla="val 4364"/>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26" name="ic-bg-105"/>
          <p:cNvSpPr/>
          <p:nvPr/>
        </p:nvSpPr>
        <p:spPr>
          <a:xfrm>
            <a:off x="9290304" y="1645920"/>
            <a:ext cx="731520" cy="731520"/>
          </a:xfrm>
          <a:prstGeom prst="ellipse">
            <a:avLst/>
          </a:prstGeom>
          <a:solidFill>
            <a:srgbClr val="16A34A"/>
          </a:solidFill>
          <a:ln/>
        </p:spPr>
      </p:sp>
      <p:pic>
        <p:nvPicPr>
          <p:cNvPr id="27" name="ic-106" descr="FaTruck">    </p:cNvPr>
          <p:cNvPicPr>
            <a:picLocks noChangeAspect="1"/>
          </p:cNvPicPr>
          <p:nvPr/>
        </p:nvPicPr>
        <p:blipFill>
          <a:blip r:embed="rId4"/>
          <a:stretch>
            <a:fillRect/>
          </a:stretch>
        </p:blipFill>
        <p:spPr>
          <a:xfrm>
            <a:off x="9487814" y="1843430"/>
            <a:ext cx="336499" cy="336499"/>
          </a:xfrm>
          <a:prstGeom prst="rect">
            <a:avLst/>
          </a:prstGeom>
        </p:spPr>
      </p:pic>
      <p:sp>
        <p:nvSpPr>
          <p:cNvPr id="28" name="txt-107"/>
          <p:cNvSpPr txBox="1"/>
          <p:nvPr/>
        </p:nvSpPr>
        <p:spPr>
          <a:xfrm>
            <a:off x="10158984" y="1874520"/>
            <a:ext cx="13716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LANGKAH 4</a:t>
            </a:r>
            <a:endParaRPr lang="en-US" sz="1100" dirty="0"/>
          </a:p>
        </p:txBody>
      </p:sp>
      <p:sp>
        <p:nvSpPr>
          <p:cNvPr id="29" name="txt-108"/>
          <p:cNvSpPr txBox="1"/>
          <p:nvPr/>
        </p:nvSpPr>
        <p:spPr>
          <a:xfrm>
            <a:off x="9290304" y="2560320"/>
            <a:ext cx="2194560" cy="822960"/>
          </a:xfrm>
          <a:prstGeom prst="rect">
            <a:avLst/>
          </a:prstGeom>
          <a:noFill/>
          <a:ln/>
        </p:spPr>
        <p:txBody>
          <a:bodyPr wrap="square" lIns="0" tIns="0" rIns="0" bIns="0" rtlCol="0" anchor="t"/>
          <a:lstStyle/>
          <a:p>
            <a:pPr indent="0" marL="0">
              <a:buNone/>
            </a:pPr>
            <a:r>
              <a:rPr lang="en-US" sz="2000" b="1" dirty="0">
                <a:solidFill>
                  <a:schemeClr val="tx1"/>
                </a:solidFill>
              </a:rPr>
              <a:t>Binding</a:t>
            </a:r>
            <a:endParaRPr lang="en-US" sz="2000" dirty="0"/>
          </a:p>
          <a:p>
            <a:pPr indent="0" marL="0">
              <a:buNone/>
            </a:pPr>
            <a:r>
              <a:rPr lang="en-US" sz="1400" b="1" dirty="0">
                <a:solidFill>
                  <a:schemeClr val="accent2"/>
                </a:solidFill>
              </a:rPr>
              <a:t>Distributor / Supplier Logistik</a:t>
            </a:r>
            <a:endParaRPr lang="en-US" sz="2000" dirty="0"/>
          </a:p>
        </p:txBody>
      </p:sp>
      <p:sp>
        <p:nvSpPr>
          <p:cNvPr id="30" name="txt-109"/>
          <p:cNvSpPr txBox="1"/>
          <p:nvPr/>
        </p:nvSpPr>
        <p:spPr>
          <a:xfrm>
            <a:off x="9290304" y="3429000"/>
            <a:ext cx="2194560" cy="1463040"/>
          </a:xfrm>
          <a:prstGeom prst="rect">
            <a:avLst/>
          </a:prstGeom>
          <a:noFill/>
          <a:ln/>
        </p:spPr>
        <p:txBody>
          <a:bodyPr wrap="square" lIns="0" tIns="0" rIns="0" bIns="0" rtlCol="0" anchor="t"/>
          <a:lstStyle/>
          <a:p>
            <a:pPr indent="0" marL="0">
              <a:buNone/>
            </a:pPr>
            <a:r>
              <a:rPr lang="en-US" sz="1400" dirty="0">
                <a:solidFill>
                  <a:schemeClr val="tx2"/>
                </a:solidFill>
              </a:rPr>
              <a:t>Mengirimkan koki dan bahan ke dapur tepat saat pesanan tiba, dan membersihkan dapur saat restoran tutup.</a:t>
            </a:r>
            <a:endParaRPr lang="en-US" sz="1400" dirty="0"/>
          </a:p>
        </p:txBody>
      </p:sp>
      <p:sp>
        <p:nvSpPr>
          <p:cNvPr id="31" name="card-110"/>
          <p:cNvSpPr/>
          <p:nvPr/>
        </p:nvSpPr>
        <p:spPr>
          <a:xfrm>
            <a:off x="548640" y="5212080"/>
            <a:ext cx="11064240" cy="960120"/>
          </a:xfrm>
          <a:prstGeom prst="roundRect">
            <a:avLst>
              <a:gd name="adj" fmla="val 11429"/>
            </a:avLst>
          </a:prstGeom>
          <a:solidFill>
            <a:schemeClr val="accent2">
              <a:alpha val="10000"/>
            </a:schemeClr>
          </a:solidFill>
          <a:ln/>
        </p:spPr>
      </p:sp>
      <p:sp>
        <p:nvSpPr>
          <p:cNvPr id="32" name="ic-bg-111"/>
          <p:cNvSpPr/>
          <p:nvPr/>
        </p:nvSpPr>
        <p:spPr>
          <a:xfrm>
            <a:off x="822960" y="5440680"/>
            <a:ext cx="502920" cy="502920"/>
          </a:xfrm>
          <a:prstGeom prst="ellipse">
            <a:avLst/>
          </a:prstGeom>
          <a:solidFill>
            <a:srgbClr val="EA580C"/>
          </a:solidFill>
          <a:ln/>
        </p:spPr>
      </p:sp>
      <p:pic>
        <p:nvPicPr>
          <p:cNvPr id="33" name="ic-112" descr="FaLightbulb">    </p:cNvPr>
          <p:cNvPicPr>
            <a:picLocks noChangeAspect="1"/>
          </p:cNvPicPr>
          <p:nvPr/>
        </p:nvPicPr>
        <p:blipFill>
          <a:blip r:embed="rId5"/>
          <a:stretch>
            <a:fillRect/>
          </a:stretch>
        </p:blipFill>
        <p:spPr>
          <a:xfrm>
            <a:off x="958748" y="5576468"/>
            <a:ext cx="231343" cy="231343"/>
          </a:xfrm>
          <a:prstGeom prst="rect">
            <a:avLst/>
          </a:prstGeom>
        </p:spPr>
      </p:pic>
      <p:sp>
        <p:nvSpPr>
          <p:cNvPr id="34" name="txt-113"/>
          <p:cNvSpPr txBox="1"/>
          <p:nvPr/>
        </p:nvSpPr>
        <p:spPr>
          <a:xfrm>
            <a:off x="1554480" y="5321808"/>
            <a:ext cx="9784080" cy="731520"/>
          </a:xfrm>
          <a:prstGeom prst="rect">
            <a:avLst/>
          </a:prstGeom>
          <a:noFill/>
          <a:ln/>
        </p:spPr>
        <p:txBody>
          <a:bodyPr wrap="square" lIns="0" tIns="0" rIns="0" bIns="0" rtlCol="0" anchor="ctr"/>
          <a:lstStyle/>
          <a:p>
            <a:pPr indent="0" marL="0">
              <a:buNone/>
            </a:pPr>
            <a:r>
              <a:rPr lang="en-US" sz="1400" b="1" dirty="0">
                <a:solidFill>
                  <a:schemeClr val="accent2"/>
                </a:solidFill>
              </a:rPr>
              <a:t>Aturan Emas Industri</a:t>
            </a:r>
            <a:endParaRPr lang="en-US" sz="1400" dirty="0"/>
          </a:p>
          <a:p>
            <a:pPr indent="0" marL="0">
              <a:buNone/>
            </a:pPr>
            <a:r>
              <a:rPr lang="en-US" sz="1600" b="1" dirty="0">
                <a:solidFill>
                  <a:schemeClr val="tx1"/>
                </a:solidFill>
              </a:rPr>
              <a:t>View tidak boleh menghitung logika bisnis atau rumus matematika! Semua logika wajib berada di Controller.</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Pilar 1 — Reaktivitas Presisi: setState() vs GetX</a:t>
            </a:r>
            <a:endParaRPr lang="en-US" sz="2800" dirty="0"/>
          </a:p>
        </p:txBody>
      </p:sp>
      <p:sp>
        <p:nvSpPr>
          <p:cNvPr id="4" name="card-114"/>
          <p:cNvSpPr/>
          <p:nvPr/>
        </p:nvSpPr>
        <p:spPr>
          <a:xfrm>
            <a:off x="548640" y="1325880"/>
            <a:ext cx="5029200" cy="4343400"/>
          </a:xfrm>
          <a:prstGeom prst="roundRect">
            <a:avLst>
              <a:gd name="adj" fmla="val 2526"/>
            </a:avLst>
          </a:prstGeom>
          <a:solidFill>
            <a:schemeClr val="accent4">
              <a:alpha val="7000"/>
            </a:schemeClr>
          </a:solidFill>
          <a:ln/>
        </p:spPr>
      </p:sp>
      <p:pic>
        <p:nvPicPr>
          <p:cNvPr id="5" name="ic-115" descr="FaTimesCircle">    </p:cNvPr>
          <p:cNvPicPr>
            <a:picLocks noChangeAspect="1"/>
          </p:cNvPicPr>
          <p:nvPr/>
        </p:nvPicPr>
        <p:blipFill>
          <a:blip r:embed="rId1"/>
          <a:stretch>
            <a:fillRect/>
          </a:stretch>
        </p:blipFill>
        <p:spPr>
          <a:xfrm>
            <a:off x="777240" y="1527048"/>
            <a:ext cx="292608" cy="292608"/>
          </a:xfrm>
          <a:prstGeom prst="rect">
            <a:avLst/>
          </a:prstGeom>
        </p:spPr>
      </p:pic>
      <p:sp>
        <p:nvSpPr>
          <p:cNvPr id="6" name="txt-116"/>
          <p:cNvSpPr txBox="1"/>
          <p:nvPr/>
        </p:nvSpPr>
        <p:spPr>
          <a:xfrm>
            <a:off x="1188720" y="1508760"/>
            <a:ext cx="4206240" cy="329184"/>
          </a:xfrm>
          <a:prstGeom prst="rect">
            <a:avLst/>
          </a:prstGeom>
          <a:noFill/>
          <a:ln/>
        </p:spPr>
        <p:txBody>
          <a:bodyPr wrap="square" lIns="0" tIns="0" rIns="0" bIns="0" rtlCol="0" anchor="ctr"/>
          <a:lstStyle/>
          <a:p>
            <a:pPr indent="0" marL="0">
              <a:buNone/>
            </a:pPr>
            <a:r>
              <a:rPr lang="en-US" sz="1700" b="1" dirty="0">
                <a:solidFill>
                  <a:schemeClr val="accent4"/>
                </a:solidFill>
              </a:rPr>
              <a:t>Flutter Standar — Boros Rebuild</a:t>
            </a:r>
            <a:endParaRPr lang="en-US" sz="1700" dirty="0"/>
          </a:p>
        </p:txBody>
      </p:sp>
      <p:sp>
        <p:nvSpPr>
          <p:cNvPr id="7" name="card-117"/>
          <p:cNvSpPr/>
          <p:nvPr/>
        </p:nvSpPr>
        <p:spPr>
          <a:xfrm>
            <a:off x="731520" y="2011680"/>
            <a:ext cx="4663440" cy="3520440"/>
          </a:xfrm>
          <a:prstGeom prst="roundRect">
            <a:avLst>
              <a:gd name="adj" fmla="val 3117"/>
            </a:avLst>
          </a:prstGeom>
          <a:solidFill>
            <a:schemeClr val="bg1"/>
          </a:solidFill>
          <a:ln w="9525">
            <a:solidFill>
              <a:srgbClr val="E2E8F0"/>
            </a:solidFill>
            <a:prstDash val="solid"/>
          </a:ln>
        </p:spPr>
      </p:sp>
      <p:sp>
        <p:nvSpPr>
          <p:cNvPr id="8" name="code-118"/>
          <p:cNvSpPr txBox="1"/>
          <p:nvPr/>
        </p:nvSpPr>
        <p:spPr>
          <a:xfrm>
            <a:off x="731520" y="2011680"/>
            <a:ext cx="4663440" cy="352044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class _CounterState extends State&lt;CounterView&gt;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int counter = 0;</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void add()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setState(()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counter++; // Scaffold dirender ulang!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@override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Widget build(BuildContext context)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return Scaffold(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body: Center(child: Text("$counter")),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floatingActionButton: FloatingActionButton(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onPressed: add,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sp>
        <p:nvSpPr>
          <p:cNvPr id="9" name="card-119"/>
          <p:cNvSpPr/>
          <p:nvPr/>
        </p:nvSpPr>
        <p:spPr>
          <a:xfrm>
            <a:off x="5760720" y="1325880"/>
            <a:ext cx="5852160" cy="4343400"/>
          </a:xfrm>
          <a:prstGeom prst="roundRect">
            <a:avLst>
              <a:gd name="adj" fmla="val 2526"/>
            </a:avLst>
          </a:prstGeom>
          <a:solidFill>
            <a:schemeClr val="accent3">
              <a:alpha val="7000"/>
            </a:schemeClr>
          </a:solidFill>
          <a:ln/>
        </p:spPr>
      </p:sp>
      <p:pic>
        <p:nvPicPr>
          <p:cNvPr id="10" name="ic-120" descr="FaCheckCircle">    </p:cNvPr>
          <p:cNvPicPr>
            <a:picLocks noChangeAspect="1"/>
          </p:cNvPicPr>
          <p:nvPr/>
        </p:nvPicPr>
        <p:blipFill>
          <a:blip r:embed="rId2"/>
          <a:stretch>
            <a:fillRect/>
          </a:stretch>
        </p:blipFill>
        <p:spPr>
          <a:xfrm>
            <a:off x="5989320" y="1527048"/>
            <a:ext cx="292608" cy="292608"/>
          </a:xfrm>
          <a:prstGeom prst="rect">
            <a:avLst/>
          </a:prstGeom>
        </p:spPr>
      </p:pic>
      <p:sp>
        <p:nvSpPr>
          <p:cNvPr id="11" name="txt-121"/>
          <p:cNvSpPr txBox="1"/>
          <p:nvPr/>
        </p:nvSpPr>
        <p:spPr>
          <a:xfrm>
            <a:off x="6400800" y="1508760"/>
            <a:ext cx="5029200" cy="329184"/>
          </a:xfrm>
          <a:prstGeom prst="rect">
            <a:avLst/>
          </a:prstGeom>
          <a:noFill/>
          <a:ln/>
        </p:spPr>
        <p:txBody>
          <a:bodyPr wrap="square" lIns="0" tIns="0" rIns="0" bIns="0" rtlCol="0" anchor="ctr"/>
          <a:lstStyle/>
          <a:p>
            <a:pPr indent="0" marL="0">
              <a:buNone/>
            </a:pPr>
            <a:r>
              <a:rPr lang="en-US" sz="1700" b="1" dirty="0">
                <a:solidFill>
                  <a:schemeClr val="accent3"/>
                </a:solidFill>
              </a:rPr>
              <a:t>GetX Pattern — Presisi Tinggi</a:t>
            </a:r>
            <a:endParaRPr lang="en-US" sz="1700" dirty="0"/>
          </a:p>
        </p:txBody>
      </p:sp>
      <p:sp>
        <p:nvSpPr>
          <p:cNvPr id="12" name="card-122"/>
          <p:cNvSpPr/>
          <p:nvPr/>
        </p:nvSpPr>
        <p:spPr>
          <a:xfrm>
            <a:off x="5943600" y="2011680"/>
            <a:ext cx="5486400" cy="3520440"/>
          </a:xfrm>
          <a:prstGeom prst="roundRect">
            <a:avLst>
              <a:gd name="adj" fmla="val 3117"/>
            </a:avLst>
          </a:prstGeom>
          <a:solidFill>
            <a:schemeClr val="bg1"/>
          </a:solidFill>
          <a:ln w="9525">
            <a:solidFill>
              <a:srgbClr val="E2E8F0"/>
            </a:solidFill>
            <a:prstDash val="solid"/>
          </a:ln>
        </p:spPr>
      </p:sp>
      <p:sp>
        <p:nvSpPr>
          <p:cNvPr id="13" name="code-123"/>
          <p:cNvSpPr txBox="1"/>
          <p:nvPr/>
        </p:nvSpPr>
        <p:spPr>
          <a:xfrm>
            <a:off x="5943600" y="2011680"/>
            <a:ext cx="5486400" cy="352044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class CartController extends GetxController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var counter = 0.obs; // .obs: bisa didengar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void add() =&gt; counter.value++;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class CartView extends GetView&lt;CartController&gt;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@override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Widget build(BuildContext context)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return Scaffold(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body: Center(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 Hanya Text ini yang di-update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child: Obx(() =&gt; Text("${controller.counter}")),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floatingActionButton: FloatingActionButton(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onPressed: controller.add,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sp>
        <p:nvSpPr>
          <p:cNvPr id="14" name="card-124"/>
          <p:cNvSpPr/>
          <p:nvPr/>
        </p:nvSpPr>
        <p:spPr>
          <a:xfrm>
            <a:off x="548640" y="5806440"/>
            <a:ext cx="11064240" cy="502920"/>
          </a:xfrm>
          <a:prstGeom prst="roundRect">
            <a:avLst>
              <a:gd name="adj" fmla="val 21818"/>
            </a:avLst>
          </a:prstGeom>
          <a:solidFill>
            <a:schemeClr val="accent5"/>
          </a:solidFill>
          <a:ln/>
        </p:spPr>
      </p:sp>
      <p:sp>
        <p:nvSpPr>
          <p:cNvPr id="15" name="txt-125"/>
          <p:cNvSpPr txBox="1"/>
          <p:nvPr/>
        </p:nvSpPr>
        <p:spPr>
          <a:xfrm>
            <a:off x="548640" y="5806440"/>
            <a:ext cx="11064240" cy="502920"/>
          </a:xfrm>
          <a:prstGeom prst="rect">
            <a:avLst/>
          </a:prstGeom>
          <a:noFill/>
          <a:ln/>
        </p:spPr>
        <p:txBody>
          <a:bodyPr wrap="square" lIns="0" tIns="0" rIns="0" bIns="0" rtlCol="0" anchor="ctr"/>
          <a:lstStyle/>
          <a:p>
            <a:pPr algn="ctr" indent="0" marL="0">
              <a:buNone/>
            </a:pPr>
            <a:r>
              <a:rPr lang="en-US" sz="1500" b="1" dirty="0">
                <a:solidFill>
                  <a:schemeClr val="accent1"/>
                </a:solidFill>
              </a:rPr>
              <a:t>Dengan Obx, hanya widget Text yang diperbarui — Scaffold, AppBar, dan tombol tidak disentuh.</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Tipe Data Reaktif yang Sering Digunakan di KicksStore</a:t>
            </a:r>
            <a:endParaRPr lang="en-US" sz="2800" dirty="0"/>
          </a:p>
        </p:txBody>
      </p:sp>
      <p:graphicFrame>
        <p:nvGraphicFramePr>
          <p:cNvPr id="8" name="tabel-tipe-reaktif"/>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2194560"/>
                <a:gridCol w="3383280"/>
                <a:gridCol w="3657600"/>
              </a:tblGrid>
              <a:tr h="530352">
                <a:tc>
                  <a:txBody>
                    <a:bodyPr/>
                    <a:lstStyle/>
                    <a:p>
                      <a:pPr indent="0" marL="0">
                        <a:buNone/>
                      </a:pPr>
                      <a:r>
                        <a:rPr lang="en-US" sz="1400" b="1" dirty="0">
                          <a:solidFill>
                            <a:schemeClr val="bg1"/>
                          </a:solidFill>
                        </a:rPr>
                        <a:t>Tipe Asli Dart</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Tipe Reaktif GetX</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Contoh Deklarasi</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Kasus Penggunaan di KicksStore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r>
              <a:tr h="530352">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int</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RxInt</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var quantity = 1.obs;</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Jumlah kuantitas checkout sepatu</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530352">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double</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RxDouble</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var totalPrice = 0.0.obs;</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Total tagihan belanja di keranjang</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30352">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String</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RxString</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var selectedSize = '42'.obs;</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Ukuran sepatu yang dipilih pembeli</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530352">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bool</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RxBool</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var isFavorite = false.obs;</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Status icon love / bookmark produk</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530352">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List&lt;T&gt;</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RxList&lt;T&gt;</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latin typeface="Courier New" pitchFamily="34" charset="0"/>
                          <a:ea typeface="Courier New" pitchFamily="34" charset="-122"/>
                          <a:cs typeface="Courier New" pitchFamily="34" charset="-120"/>
                        </a:rPr>
                        <a:t>var cartItems = &lt;Item&gt;[].obs;</a:t>
                      </a:r>
                      <a:endParaRPr lang="en-US" sz="1300" dirty="0">
                        <a:latin typeface="Courier New" charset="0"/>
                        <a:ea typeface="Courier New" charset="0"/>
                        <a:cs typeface="Courier New"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Daftar barang di dalam keranjang</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bl>
          </a:graphicData>
        </a:graphic>
      </p:graphicFrame>
      <p:sp>
        <p:nvSpPr>
          <p:cNvPr id="5" name="card-126"/>
          <p:cNvSpPr/>
          <p:nvPr/>
        </p:nvSpPr>
        <p:spPr>
          <a:xfrm>
            <a:off x="548640" y="4846320"/>
            <a:ext cx="11064240" cy="1234440"/>
          </a:xfrm>
          <a:prstGeom prst="roundRect">
            <a:avLst>
              <a:gd name="adj" fmla="val 8889"/>
            </a:avLst>
          </a:prstGeom>
          <a:solidFill>
            <a:schemeClr val="accent2">
              <a:alpha val="10000"/>
            </a:schemeClr>
          </a:solidFill>
          <a:ln/>
        </p:spPr>
      </p:sp>
      <p:sp>
        <p:nvSpPr>
          <p:cNvPr id="6" name="ic-bg-127"/>
          <p:cNvSpPr/>
          <p:nvPr/>
        </p:nvSpPr>
        <p:spPr>
          <a:xfrm>
            <a:off x="822960" y="5212080"/>
            <a:ext cx="502920" cy="502920"/>
          </a:xfrm>
          <a:prstGeom prst="ellipse">
            <a:avLst/>
          </a:prstGeom>
          <a:solidFill>
            <a:srgbClr val="EA580C"/>
          </a:solidFill>
          <a:ln/>
        </p:spPr>
      </p:sp>
      <p:pic>
        <p:nvPicPr>
          <p:cNvPr id="7" name="ic-128" descr="FaExclamationTriangle">    </p:cNvPr>
          <p:cNvPicPr>
            <a:picLocks noChangeAspect="1"/>
          </p:cNvPicPr>
          <p:nvPr/>
        </p:nvPicPr>
        <p:blipFill>
          <a:blip r:embed="rId1"/>
          <a:stretch>
            <a:fillRect/>
          </a:stretch>
        </p:blipFill>
        <p:spPr>
          <a:xfrm>
            <a:off x="958748" y="5347868"/>
            <a:ext cx="231343" cy="231343"/>
          </a:xfrm>
          <a:prstGeom prst="rect">
            <a:avLst/>
          </a:prstGeom>
        </p:spPr>
      </p:pic>
      <p:sp>
        <p:nvSpPr>
          <p:cNvPr id="8" name="txt-129"/>
          <p:cNvSpPr txBox="1"/>
          <p:nvPr/>
        </p:nvSpPr>
        <p:spPr>
          <a:xfrm>
            <a:off x="1554480" y="4937760"/>
            <a:ext cx="9784080" cy="1051560"/>
          </a:xfrm>
          <a:prstGeom prst="rect">
            <a:avLst/>
          </a:prstGeom>
          <a:noFill/>
          <a:ln/>
        </p:spPr>
        <p:txBody>
          <a:bodyPr wrap="square" lIns="0" tIns="0" rIns="0" bIns="0" rtlCol="0" anchor="ctr"/>
          <a:lstStyle/>
          <a:p>
            <a:pPr indent="0" marL="0">
              <a:buNone/>
            </a:pPr>
            <a:r>
              <a:rPr lang="en-US" sz="1500" b="1" dirty="0">
                <a:solidFill>
                  <a:schemeClr val="accent2"/>
                </a:solidFill>
              </a:rPr>
              <a:t>Common Pitfall</a:t>
            </a:r>
            <a:endParaRPr lang="en-US" sz="1500" dirty="0"/>
          </a:p>
          <a:p>
            <a:pPr indent="0" marL="0">
              <a:buNone/>
            </a:pPr>
            <a:r>
              <a:rPr lang="en-US" sz="1500" dirty="0">
                <a:solidFill>
                  <a:schemeClr val="tx1"/>
                </a:solidFill>
              </a:rPr>
              <a:t>Jangan pernah membungkus widget dengan Obx jika di dalamnya tidak ada variabel bertipe .obs, karena Flutter akan memunculkan error "Improper use of GetX / Obx".</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Pilar 2 — Navigasi Modern Tanpa Terikat BuildContext</a:t>
            </a:r>
            <a:endParaRPr lang="en-US" sz="2800" dirty="0"/>
          </a:p>
        </p:txBody>
      </p:sp>
      <p:sp>
        <p:nvSpPr>
          <p:cNvPr id="4" name="txt-130"/>
          <p:cNvSpPr txBox="1"/>
          <p:nvPr/>
        </p:nvSpPr>
        <p:spPr>
          <a:xfrm>
            <a:off x="548640" y="1325880"/>
            <a:ext cx="5120640" cy="365760"/>
          </a:xfrm>
          <a:prstGeom prst="rect">
            <a:avLst/>
          </a:prstGeom>
          <a:noFill/>
          <a:ln/>
        </p:spPr>
        <p:txBody>
          <a:bodyPr wrap="square" lIns="0" tIns="0" rIns="0" bIns="0" rtlCol="0" anchor="t"/>
          <a:lstStyle/>
          <a:p>
            <a:pPr indent="0" marL="0">
              <a:buNone/>
            </a:pPr>
            <a:r>
              <a:rPr lang="en-US" sz="1800" b="1" dirty="0">
                <a:solidFill>
                  <a:schemeClr val="tx1"/>
                </a:solidFill>
              </a:rPr>
              <a:t>Perintah Routing Kunci</a:t>
            </a:r>
            <a:endParaRPr lang="en-US" sz="1800" dirty="0"/>
          </a:p>
        </p:txBody>
      </p:sp>
      <p:sp>
        <p:nvSpPr>
          <p:cNvPr id="5" name="chip-131"/>
          <p:cNvSpPr/>
          <p:nvPr/>
        </p:nvSpPr>
        <p:spPr>
          <a:xfrm>
            <a:off x="548640" y="1828800"/>
            <a:ext cx="2893162" cy="384048"/>
          </a:xfrm>
          <a:prstGeom prst="roundRect">
            <a:avLst>
              <a:gd name="adj" fmla="val 19048"/>
            </a:avLst>
          </a:prstGeom>
          <a:solidFill>
            <a:schemeClr val="accent5"/>
          </a:solidFill>
          <a:ln/>
        </p:spPr>
      </p:sp>
      <p:sp>
        <p:nvSpPr>
          <p:cNvPr id="6" name="txt-132"/>
          <p:cNvSpPr txBox="1"/>
          <p:nvPr/>
        </p:nvSpPr>
        <p:spPr>
          <a:xfrm>
            <a:off x="548640" y="1828800"/>
            <a:ext cx="2893162" cy="384048"/>
          </a:xfrm>
          <a:prstGeom prst="rect">
            <a:avLst/>
          </a:prstGeom>
          <a:no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Get.toNamed('/detail');</a:t>
            </a:r>
            <a:endParaRPr lang="en-US" sz="1400" dirty="0"/>
          </a:p>
        </p:txBody>
      </p:sp>
      <p:sp>
        <p:nvSpPr>
          <p:cNvPr id="7" name="txt-133"/>
          <p:cNvSpPr txBox="1"/>
          <p:nvPr/>
        </p:nvSpPr>
        <p:spPr>
          <a:xfrm>
            <a:off x="548640" y="2304288"/>
            <a:ext cx="5120640" cy="502920"/>
          </a:xfrm>
          <a:prstGeom prst="rect">
            <a:avLst/>
          </a:prstGeom>
          <a:noFill/>
          <a:ln/>
        </p:spPr>
        <p:txBody>
          <a:bodyPr wrap="square" lIns="0" tIns="0" rIns="0" bIns="0" rtlCol="0" anchor="t"/>
          <a:lstStyle/>
          <a:p>
            <a:pPr indent="0" marL="0">
              <a:buNone/>
            </a:pPr>
            <a:r>
              <a:rPr lang="en-US" sz="1400" dirty="0">
                <a:solidFill>
                  <a:schemeClr val="tx2"/>
                </a:solidFill>
              </a:rPr>
              <a:t>Pindah ke halaman detail (menumpuk di navigation stack).</a:t>
            </a:r>
            <a:endParaRPr lang="en-US" sz="1400" dirty="0"/>
          </a:p>
        </p:txBody>
      </p:sp>
      <p:sp>
        <p:nvSpPr>
          <p:cNvPr id="8" name="chip-134"/>
          <p:cNvSpPr/>
          <p:nvPr/>
        </p:nvSpPr>
        <p:spPr>
          <a:xfrm>
            <a:off x="548640" y="2907792"/>
            <a:ext cx="1598371" cy="384048"/>
          </a:xfrm>
          <a:prstGeom prst="roundRect">
            <a:avLst>
              <a:gd name="adj" fmla="val 19048"/>
            </a:avLst>
          </a:prstGeom>
          <a:solidFill>
            <a:schemeClr val="accent5"/>
          </a:solidFill>
          <a:ln/>
        </p:spPr>
      </p:sp>
      <p:sp>
        <p:nvSpPr>
          <p:cNvPr id="9" name="txt-135"/>
          <p:cNvSpPr txBox="1"/>
          <p:nvPr/>
        </p:nvSpPr>
        <p:spPr>
          <a:xfrm>
            <a:off x="548640" y="2907792"/>
            <a:ext cx="1598371" cy="384048"/>
          </a:xfrm>
          <a:prstGeom prst="rect">
            <a:avLst/>
          </a:prstGeom>
          <a:no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Get.back();</a:t>
            </a:r>
            <a:endParaRPr lang="en-US" sz="1400" dirty="0"/>
          </a:p>
        </p:txBody>
      </p:sp>
      <p:sp>
        <p:nvSpPr>
          <p:cNvPr id="10" name="txt-136"/>
          <p:cNvSpPr txBox="1"/>
          <p:nvPr/>
        </p:nvSpPr>
        <p:spPr>
          <a:xfrm>
            <a:off x="548640" y="3383280"/>
            <a:ext cx="5120640" cy="502920"/>
          </a:xfrm>
          <a:prstGeom prst="rect">
            <a:avLst/>
          </a:prstGeom>
          <a:noFill/>
          <a:ln/>
        </p:spPr>
        <p:txBody>
          <a:bodyPr wrap="square" lIns="0" tIns="0" rIns="0" bIns="0" rtlCol="0" anchor="t"/>
          <a:lstStyle/>
          <a:p>
            <a:pPr indent="0" marL="0">
              <a:buNone/>
            </a:pPr>
            <a:r>
              <a:rPr lang="en-US" sz="1400" dirty="0">
                <a:solidFill>
                  <a:schemeClr val="tx2"/>
                </a:solidFill>
              </a:rPr>
              <a:t>Menutup halaman saat ini dan kembali ke sebelumnya (Pop).</a:t>
            </a:r>
            <a:endParaRPr lang="en-US" sz="1400" dirty="0"/>
          </a:p>
        </p:txBody>
      </p:sp>
      <p:sp>
        <p:nvSpPr>
          <p:cNvPr id="11" name="chip-137"/>
          <p:cNvSpPr/>
          <p:nvPr/>
        </p:nvSpPr>
        <p:spPr>
          <a:xfrm>
            <a:off x="548640" y="3986784"/>
            <a:ext cx="2785262" cy="384048"/>
          </a:xfrm>
          <a:prstGeom prst="roundRect">
            <a:avLst>
              <a:gd name="adj" fmla="val 19048"/>
            </a:avLst>
          </a:prstGeom>
          <a:solidFill>
            <a:schemeClr val="accent5"/>
          </a:solidFill>
          <a:ln/>
        </p:spPr>
      </p:sp>
      <p:sp>
        <p:nvSpPr>
          <p:cNvPr id="12" name="txt-138"/>
          <p:cNvSpPr txBox="1"/>
          <p:nvPr/>
        </p:nvSpPr>
        <p:spPr>
          <a:xfrm>
            <a:off x="548640" y="3986784"/>
            <a:ext cx="2785262" cy="384048"/>
          </a:xfrm>
          <a:prstGeom prst="rect">
            <a:avLst/>
          </a:prstGeom>
          <a:no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Get.offNamed('/home');</a:t>
            </a:r>
            <a:endParaRPr lang="en-US" sz="1400" dirty="0"/>
          </a:p>
        </p:txBody>
      </p:sp>
      <p:sp>
        <p:nvSpPr>
          <p:cNvPr id="13" name="txt-139"/>
          <p:cNvSpPr txBox="1"/>
          <p:nvPr/>
        </p:nvSpPr>
        <p:spPr>
          <a:xfrm>
            <a:off x="548640" y="4462272"/>
            <a:ext cx="5120640" cy="502920"/>
          </a:xfrm>
          <a:prstGeom prst="rect">
            <a:avLst/>
          </a:prstGeom>
          <a:noFill/>
          <a:ln/>
        </p:spPr>
        <p:txBody>
          <a:bodyPr wrap="square" lIns="0" tIns="0" rIns="0" bIns="0" rtlCol="0" anchor="t"/>
          <a:lstStyle/>
          <a:p>
            <a:pPr indent="0" marL="0">
              <a:buNone/>
            </a:pPr>
            <a:r>
              <a:rPr lang="en-US" sz="1400" dirty="0">
                <a:solidFill>
                  <a:schemeClr val="tx2"/>
                </a:solidFill>
              </a:rPr>
              <a:t>Pindah halaman dan menutup halaman saat ini (berguna setelah login).</a:t>
            </a:r>
            <a:endParaRPr lang="en-US" sz="1400" dirty="0"/>
          </a:p>
        </p:txBody>
      </p:sp>
      <p:sp>
        <p:nvSpPr>
          <p:cNvPr id="14" name="chip-140"/>
          <p:cNvSpPr/>
          <p:nvPr/>
        </p:nvSpPr>
        <p:spPr>
          <a:xfrm>
            <a:off x="548640" y="5065776"/>
            <a:ext cx="3216859" cy="384048"/>
          </a:xfrm>
          <a:prstGeom prst="roundRect">
            <a:avLst>
              <a:gd name="adj" fmla="val 19048"/>
            </a:avLst>
          </a:prstGeom>
          <a:solidFill>
            <a:schemeClr val="accent5"/>
          </a:solidFill>
          <a:ln/>
        </p:spPr>
      </p:sp>
      <p:sp>
        <p:nvSpPr>
          <p:cNvPr id="15" name="txt-141"/>
          <p:cNvSpPr txBox="1"/>
          <p:nvPr/>
        </p:nvSpPr>
        <p:spPr>
          <a:xfrm>
            <a:off x="548640" y="5065776"/>
            <a:ext cx="3216859" cy="384048"/>
          </a:xfrm>
          <a:prstGeom prst="rect">
            <a:avLst/>
          </a:prstGeom>
          <a:no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Get.offAllNamed('/login');</a:t>
            </a:r>
            <a:endParaRPr lang="en-US" sz="1400" dirty="0"/>
          </a:p>
        </p:txBody>
      </p:sp>
      <p:sp>
        <p:nvSpPr>
          <p:cNvPr id="16" name="txt-142"/>
          <p:cNvSpPr txBox="1"/>
          <p:nvPr/>
        </p:nvSpPr>
        <p:spPr>
          <a:xfrm>
            <a:off x="548640" y="5541264"/>
            <a:ext cx="5120640" cy="502920"/>
          </a:xfrm>
          <a:prstGeom prst="rect">
            <a:avLst/>
          </a:prstGeom>
          <a:noFill/>
          <a:ln/>
        </p:spPr>
        <p:txBody>
          <a:bodyPr wrap="square" lIns="0" tIns="0" rIns="0" bIns="0" rtlCol="0" anchor="t"/>
          <a:lstStyle/>
          <a:p>
            <a:pPr indent="0" marL="0">
              <a:buNone/>
            </a:pPr>
            <a:r>
              <a:rPr lang="en-US" sz="1400" dirty="0">
                <a:solidFill>
                  <a:schemeClr val="tx2"/>
                </a:solidFill>
              </a:rPr>
              <a:t>Menghapus seluruh history halaman (digunakan saat Logout).</a:t>
            </a:r>
            <a:endParaRPr lang="en-US" sz="1400" dirty="0"/>
          </a:p>
        </p:txBody>
      </p:sp>
      <p:sp>
        <p:nvSpPr>
          <p:cNvPr id="17" name="txt-143"/>
          <p:cNvSpPr txBox="1"/>
          <p:nvPr/>
        </p:nvSpPr>
        <p:spPr>
          <a:xfrm>
            <a:off x="6035040" y="1325880"/>
            <a:ext cx="5577840" cy="365760"/>
          </a:xfrm>
          <a:prstGeom prst="rect">
            <a:avLst/>
          </a:prstGeom>
          <a:noFill/>
          <a:ln/>
        </p:spPr>
        <p:txBody>
          <a:bodyPr wrap="square" lIns="0" tIns="0" rIns="0" bIns="0" rtlCol="0" anchor="t"/>
          <a:lstStyle/>
          <a:p>
            <a:pPr indent="0" marL="0">
              <a:buNone/>
            </a:pPr>
            <a:r>
              <a:rPr lang="en-US" sz="1800" b="1" dirty="0">
                <a:solidFill>
                  <a:schemeClr val="tx1"/>
                </a:solidFill>
              </a:rPr>
              <a:t>Mengirim &amp; Menangkap Data Antar Halaman</a:t>
            </a:r>
            <a:endParaRPr lang="en-US" sz="1800" dirty="0"/>
          </a:p>
        </p:txBody>
      </p:sp>
      <p:sp>
        <p:nvSpPr>
          <p:cNvPr id="18" name="card-144"/>
          <p:cNvSpPr/>
          <p:nvPr/>
        </p:nvSpPr>
        <p:spPr>
          <a:xfrm>
            <a:off x="6035040" y="1828800"/>
            <a:ext cx="5577840" cy="3840480"/>
          </a:xfrm>
          <a:prstGeom prst="roundRect">
            <a:avLst>
              <a:gd name="adj" fmla="val 2857"/>
            </a:avLst>
          </a:prstGeom>
          <a:solidFill>
            <a:schemeClr val="bg2"/>
          </a:solidFill>
          <a:ln w="9525">
            <a:solidFill>
              <a:srgbClr val="E2E8F0"/>
            </a:solidFill>
            <a:prstDash val="solid"/>
          </a:ln>
        </p:spPr>
      </p:sp>
      <p:sp>
        <p:nvSpPr>
          <p:cNvPr id="19" name="code-145"/>
          <p:cNvSpPr txBox="1"/>
          <p:nvPr/>
        </p:nvSpPr>
        <p:spPr>
          <a:xfrm>
            <a:off x="6035040" y="1828800"/>
            <a:ext cx="5577840" cy="3840480"/>
          </a:xfrm>
          <a:prstGeom prst="rect">
            <a:avLst/>
          </a:prstGeom>
          <a:noFill/>
          <a:ln/>
        </p:spPr>
        <p:txBody>
          <a:bodyPr wrap="square" lIns="127000" tIns="127000" rIns="127000" bIns="12700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1. Mengirim data dari katalog (HomeView)</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Get.toNamed('/detail', arguments: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'id': 'shoe-01',</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'name': 'Nike Air Jordan 1',</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'price': 2499000,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2. Menerima data di DetailController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class DetailController extends GetxController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late Map&lt;String, dynamic&gt; shoe;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@override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void onInit()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super.onInit();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shoe = Get.arguments; // siap dipakai!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Pilar 3 — Efisiensi Memori via Binding</a:t>
            </a:r>
            <a:endParaRPr lang="en-US" sz="2800" dirty="0"/>
          </a:p>
        </p:txBody>
      </p:sp>
      <p:sp>
        <p:nvSpPr>
          <p:cNvPr id="4" name="txt-146"/>
          <p:cNvSpPr txBox="1"/>
          <p:nvPr/>
        </p:nvSpPr>
        <p:spPr>
          <a:xfrm>
            <a:off x="548640" y="1325880"/>
            <a:ext cx="512064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PERTANYAAN INTI</a:t>
            </a:r>
            <a:endParaRPr lang="en-US" sz="1200" dirty="0"/>
          </a:p>
        </p:txBody>
      </p:sp>
      <p:sp>
        <p:nvSpPr>
          <p:cNvPr id="5" name="txt-147"/>
          <p:cNvSpPr txBox="1"/>
          <p:nvPr/>
        </p:nvSpPr>
        <p:spPr>
          <a:xfrm>
            <a:off x="548640" y="1645920"/>
            <a:ext cx="5120640" cy="1005840"/>
          </a:xfrm>
          <a:prstGeom prst="rect">
            <a:avLst/>
          </a:prstGeom>
          <a:noFill/>
          <a:ln/>
        </p:spPr>
        <p:txBody>
          <a:bodyPr wrap="square" lIns="0" tIns="0" rIns="0" bIns="0" rtlCol="0" anchor="t"/>
          <a:lstStyle/>
          <a:p>
            <a:pPr indent="0" marL="0">
              <a:buNone/>
            </a:pPr>
            <a:r>
              <a:rPr lang="en-US" sz="1800" b="1" dirty="0">
                <a:solidFill>
                  <a:schemeClr val="tx1"/>
                </a:solidFill>
              </a:rPr>
              <a:t>Mengapa kita tidak membuat controller langsung di dalam widget View (final c = CartController())?</a:t>
            </a:r>
            <a:endParaRPr lang="en-US" sz="1800" dirty="0"/>
          </a:p>
        </p:txBody>
      </p:sp>
      <p:sp>
        <p:nvSpPr>
          <p:cNvPr id="6" name="card-148"/>
          <p:cNvSpPr/>
          <p:nvPr/>
        </p:nvSpPr>
        <p:spPr>
          <a:xfrm>
            <a:off x="548640" y="2743200"/>
            <a:ext cx="5120640" cy="1188720"/>
          </a:xfrm>
          <a:prstGeom prst="roundRect">
            <a:avLst>
              <a:gd name="adj" fmla="val 9231"/>
            </a:avLst>
          </a:prstGeom>
          <a:solidFill>
            <a:schemeClr val="accent4">
              <a:alpha val="7000"/>
            </a:schemeClr>
          </a:solidFill>
          <a:ln/>
        </p:spPr>
      </p:sp>
      <p:sp>
        <p:nvSpPr>
          <p:cNvPr id="7" name="txt-149"/>
          <p:cNvSpPr txBox="1"/>
          <p:nvPr/>
        </p:nvSpPr>
        <p:spPr>
          <a:xfrm>
            <a:off x="777240" y="2834640"/>
            <a:ext cx="4663440" cy="1005840"/>
          </a:xfrm>
          <a:prstGeom prst="rect">
            <a:avLst/>
          </a:prstGeom>
          <a:noFill/>
          <a:ln/>
        </p:spPr>
        <p:txBody>
          <a:bodyPr wrap="square" lIns="0" tIns="0" rIns="0" bIns="0" rtlCol="0" anchor="ctr"/>
          <a:lstStyle/>
          <a:p>
            <a:pPr indent="0" marL="0">
              <a:buNone/>
            </a:pPr>
            <a:r>
              <a:rPr lang="en-US" sz="1400" b="1" dirty="0">
                <a:solidFill>
                  <a:schemeClr val="accent4"/>
                </a:solidFill>
              </a:rPr>
              <a:t>Jawaban</a:t>
            </a:r>
            <a:endParaRPr lang="en-US" sz="1400" dirty="0"/>
          </a:p>
          <a:p>
            <a:pPr indent="0" marL="0">
              <a:buNone/>
            </a:pPr>
            <a:r>
              <a:rPr lang="en-US" sz="1500" dirty="0">
                <a:solidFill>
                  <a:schemeClr val="tx1"/>
                </a:solidFill>
              </a:rPr>
              <a:t>Setiap kali widget di-rebuild, objek baru tercipta di RAM sehingga terjadi memory bloat.</a:t>
            </a:r>
            <a:endParaRPr lang="en-US" sz="1400" dirty="0"/>
          </a:p>
        </p:txBody>
      </p:sp>
      <p:sp>
        <p:nvSpPr>
          <p:cNvPr id="8" name="txt-150"/>
          <p:cNvSpPr txBox="1"/>
          <p:nvPr/>
        </p:nvSpPr>
        <p:spPr>
          <a:xfrm>
            <a:off x="6035040" y="1325880"/>
            <a:ext cx="5577840" cy="320040"/>
          </a:xfrm>
          <a:prstGeom prst="rect">
            <a:avLst/>
          </a:prstGeom>
          <a:noFill/>
          <a:ln/>
        </p:spPr>
        <p:txBody>
          <a:bodyPr wrap="square" lIns="0" tIns="0" rIns="0" bIns="0" rtlCol="0" anchor="t"/>
          <a:lstStyle/>
          <a:p>
            <a:pPr indent="0" marL="0">
              <a:buNone/>
            </a:pPr>
            <a:r>
              <a:rPr lang="en-US" sz="1800" b="1" dirty="0">
                <a:solidFill>
                  <a:schemeClr val="tx1"/>
                </a:solidFill>
              </a:rPr>
              <a:t>Solusi: GetX Binding</a:t>
            </a:r>
            <a:endParaRPr lang="en-US" sz="1800" dirty="0"/>
          </a:p>
        </p:txBody>
      </p:sp>
      <p:sp>
        <p:nvSpPr>
          <p:cNvPr id="9" name="card-151"/>
          <p:cNvSpPr/>
          <p:nvPr/>
        </p:nvSpPr>
        <p:spPr>
          <a:xfrm>
            <a:off x="6035040" y="1737360"/>
            <a:ext cx="5577840" cy="2194560"/>
          </a:xfrm>
          <a:prstGeom prst="roundRect">
            <a:avLst>
              <a:gd name="adj" fmla="val 5000"/>
            </a:avLst>
          </a:prstGeom>
          <a:solidFill>
            <a:schemeClr val="bg2"/>
          </a:solidFill>
          <a:ln w="9525">
            <a:solidFill>
              <a:srgbClr val="E2E8F0"/>
            </a:solidFill>
            <a:prstDash val="solid"/>
          </a:ln>
        </p:spPr>
      </p:sp>
      <p:sp>
        <p:nvSpPr>
          <p:cNvPr id="10" name="code-152"/>
          <p:cNvSpPr txBox="1"/>
          <p:nvPr/>
        </p:nvSpPr>
        <p:spPr>
          <a:xfrm>
            <a:off x="6035040" y="1737360"/>
            <a:ext cx="5577840" cy="219456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 lib/app/modules/cart/bindings/cart_binding.dart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class CartBinding extends Bindings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@override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void dependencies()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Get.lazyPut&lt;CartController&gt;(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 Dibuat HANYA saat halaman keranjang dibuka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 =&gt; CartController(),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p:txBody>
      </p:sp>
      <p:sp>
        <p:nvSpPr>
          <p:cNvPr id="11" name="txt-153"/>
          <p:cNvSpPr txBox="1"/>
          <p:nvPr/>
        </p:nvSpPr>
        <p:spPr>
          <a:xfrm>
            <a:off x="548640" y="4206240"/>
            <a:ext cx="7315200" cy="365760"/>
          </a:xfrm>
          <a:prstGeom prst="rect">
            <a:avLst/>
          </a:prstGeom>
          <a:noFill/>
          <a:ln/>
        </p:spPr>
        <p:txBody>
          <a:bodyPr wrap="square" lIns="0" tIns="0" rIns="0" bIns="0" rtlCol="0" anchor="t"/>
          <a:lstStyle/>
          <a:p>
            <a:pPr indent="0" marL="0">
              <a:buNone/>
            </a:pPr>
            <a:r>
              <a:rPr lang="en-US" sz="1800" b="1" dirty="0">
                <a:solidFill>
                  <a:schemeClr val="tx1"/>
                </a:solidFill>
              </a:rPr>
              <a:t>Siklus Hidup Memori Otomatis</a:t>
            </a:r>
            <a:endParaRPr lang="en-US" sz="1800" dirty="0"/>
          </a:p>
        </p:txBody>
      </p:sp>
      <p:sp>
        <p:nvSpPr>
          <p:cNvPr id="12" name="card-154"/>
          <p:cNvSpPr/>
          <p:nvPr/>
        </p:nvSpPr>
        <p:spPr>
          <a:xfrm>
            <a:off x="548640" y="4709160"/>
            <a:ext cx="5120640" cy="1371600"/>
          </a:xfrm>
          <a:prstGeom prst="roundRect">
            <a:avLst>
              <a:gd name="adj" fmla="val 8000"/>
            </a:avLst>
          </a:prstGeom>
          <a:solidFill>
            <a:schemeClr val="accent1">
              <a:alpha val="8000"/>
            </a:schemeClr>
          </a:solidFill>
          <a:ln/>
        </p:spPr>
      </p:sp>
      <p:sp>
        <p:nvSpPr>
          <p:cNvPr id="13" name="ic-bg-155"/>
          <p:cNvSpPr/>
          <p:nvPr/>
        </p:nvSpPr>
        <p:spPr>
          <a:xfrm>
            <a:off x="777240" y="5074920"/>
            <a:ext cx="640080" cy="640080"/>
          </a:xfrm>
          <a:prstGeom prst="ellipse">
            <a:avLst/>
          </a:prstGeom>
          <a:solidFill>
            <a:srgbClr val="4F46E5"/>
          </a:solidFill>
          <a:ln/>
        </p:spPr>
      </p:sp>
      <p:pic>
        <p:nvPicPr>
          <p:cNvPr id="14" name="ic-156" descr="FaShoppingCart">    </p:cNvPr>
          <p:cNvPicPr>
            <a:picLocks noChangeAspect="1"/>
          </p:cNvPicPr>
          <p:nvPr/>
        </p:nvPicPr>
        <p:blipFill>
          <a:blip r:embed="rId1"/>
          <a:stretch>
            <a:fillRect/>
          </a:stretch>
        </p:blipFill>
        <p:spPr>
          <a:xfrm>
            <a:off x="950062" y="5247742"/>
            <a:ext cx="294437" cy="294437"/>
          </a:xfrm>
          <a:prstGeom prst="rect">
            <a:avLst/>
          </a:prstGeom>
        </p:spPr>
      </p:pic>
      <p:sp>
        <p:nvSpPr>
          <p:cNvPr id="15" name="txt-157"/>
          <p:cNvSpPr txBox="1"/>
          <p:nvPr/>
        </p:nvSpPr>
        <p:spPr>
          <a:xfrm>
            <a:off x="1600200" y="4800600"/>
            <a:ext cx="3931920" cy="1188720"/>
          </a:xfrm>
          <a:prstGeom prst="rect">
            <a:avLst/>
          </a:prstGeom>
          <a:noFill/>
          <a:ln/>
        </p:spPr>
        <p:txBody>
          <a:bodyPr wrap="square" lIns="0" tIns="0" rIns="0" bIns="0" rtlCol="0" anchor="ctr"/>
          <a:lstStyle/>
          <a:p>
            <a:pPr indent="0" marL="0">
              <a:buNone/>
            </a:pPr>
            <a:r>
              <a:rPr lang="en-US" sz="1400" b="1" dirty="0">
                <a:solidFill>
                  <a:schemeClr val="accent1"/>
                </a:solidFill>
              </a:rPr>
              <a:t>1 · Halaman dibuka</a:t>
            </a:r>
            <a:endParaRPr lang="en-US" sz="1400" dirty="0"/>
          </a:p>
          <a:p>
            <a:pPr indent="0" marL="0">
              <a:buNone/>
            </a:pPr>
            <a:r>
              <a:rPr lang="en-US" sz="1400" dirty="0">
                <a:solidFill>
                  <a:schemeClr val="tx1"/>
                </a:solidFill>
              </a:rPr>
              <a:t>User klik ikon keranjang, lalu CartBinding memuat CartController ke RAM.</a:t>
            </a:r>
            <a:endParaRPr lang="en-US" sz="1400" dirty="0"/>
          </a:p>
        </p:txBody>
      </p:sp>
      <p:sp>
        <p:nvSpPr>
          <p:cNvPr id="16" name="arrow-158"/>
          <p:cNvSpPr/>
          <p:nvPr/>
        </p:nvSpPr>
        <p:spPr>
          <a:xfrm>
            <a:off x="5852160" y="5212080"/>
            <a:ext cx="228600" cy="365760"/>
          </a:xfrm>
          <a:prstGeom prst="chevron">
            <a:avLst/>
          </a:prstGeom>
          <a:solidFill>
            <a:schemeClr val="accent6"/>
          </a:solidFill>
          <a:ln/>
        </p:spPr>
      </p:sp>
      <p:sp>
        <p:nvSpPr>
          <p:cNvPr id="17" name="card-159"/>
          <p:cNvSpPr/>
          <p:nvPr/>
        </p:nvSpPr>
        <p:spPr>
          <a:xfrm>
            <a:off x="6263640" y="4709160"/>
            <a:ext cx="5349240" cy="1371600"/>
          </a:xfrm>
          <a:prstGeom prst="roundRect">
            <a:avLst>
              <a:gd name="adj" fmla="val 8000"/>
            </a:avLst>
          </a:prstGeom>
          <a:solidFill>
            <a:schemeClr val="accent3">
              <a:alpha val="8000"/>
            </a:schemeClr>
          </a:solidFill>
          <a:ln/>
        </p:spPr>
      </p:sp>
      <p:sp>
        <p:nvSpPr>
          <p:cNvPr id="18" name="ic-bg-160"/>
          <p:cNvSpPr/>
          <p:nvPr/>
        </p:nvSpPr>
        <p:spPr>
          <a:xfrm>
            <a:off x="6492240" y="5074920"/>
            <a:ext cx="640080" cy="640080"/>
          </a:xfrm>
          <a:prstGeom prst="ellipse">
            <a:avLst/>
          </a:prstGeom>
          <a:solidFill>
            <a:srgbClr val="16A34A"/>
          </a:solidFill>
          <a:ln/>
        </p:spPr>
      </p:sp>
      <p:pic>
        <p:nvPicPr>
          <p:cNvPr id="19" name="ic-161" descr="FaTrashAlt">    </p:cNvPr>
          <p:cNvPicPr>
            <a:picLocks noChangeAspect="1"/>
          </p:cNvPicPr>
          <p:nvPr/>
        </p:nvPicPr>
        <p:blipFill>
          <a:blip r:embed="rId2"/>
          <a:stretch>
            <a:fillRect/>
          </a:stretch>
        </p:blipFill>
        <p:spPr>
          <a:xfrm>
            <a:off x="6665062" y="5247742"/>
            <a:ext cx="294437" cy="294437"/>
          </a:xfrm>
          <a:prstGeom prst="rect">
            <a:avLst/>
          </a:prstGeom>
        </p:spPr>
      </p:pic>
      <p:sp>
        <p:nvSpPr>
          <p:cNvPr id="20" name="txt-162"/>
          <p:cNvSpPr txBox="1"/>
          <p:nvPr/>
        </p:nvSpPr>
        <p:spPr>
          <a:xfrm>
            <a:off x="7315200" y="4800600"/>
            <a:ext cx="4160520" cy="1188720"/>
          </a:xfrm>
          <a:prstGeom prst="rect">
            <a:avLst/>
          </a:prstGeom>
          <a:noFill/>
          <a:ln/>
        </p:spPr>
        <p:txBody>
          <a:bodyPr wrap="square" lIns="0" tIns="0" rIns="0" bIns="0" rtlCol="0" anchor="ctr"/>
          <a:lstStyle/>
          <a:p>
            <a:pPr indent="0" marL="0">
              <a:buNone/>
            </a:pPr>
            <a:r>
              <a:rPr lang="en-US" sz="1400" b="1" dirty="0">
                <a:solidFill>
                  <a:schemeClr val="accent3"/>
                </a:solidFill>
              </a:rPr>
              <a:t>2 · Halaman ditutup</a:t>
            </a:r>
            <a:endParaRPr lang="en-US" sz="1400" dirty="0"/>
          </a:p>
          <a:p>
            <a:pPr indent="0" marL="0">
              <a:buNone/>
            </a:pPr>
            <a:r>
              <a:rPr lang="en-US" sz="1400" dirty="0">
                <a:solidFill>
                  <a:schemeClr val="tx1"/>
                </a:solidFill>
              </a:rPr>
              <a:t>Checkout / Back, lalu CartController otomatis dihapus (auto-disposed) dari RAM. Bebas kebocoran memori!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GetX CLI: Alat Wajib Standarisasi Industri</a:t>
            </a:r>
            <a:endParaRPr lang="en-US" sz="2800" dirty="0"/>
          </a:p>
        </p:txBody>
      </p:sp>
      <p:sp>
        <p:nvSpPr>
          <p:cNvPr id="4" name="card-163"/>
          <p:cNvSpPr/>
          <p:nvPr/>
        </p:nvSpPr>
        <p:spPr>
          <a:xfrm>
            <a:off x="548640" y="1371600"/>
            <a:ext cx="5760720" cy="1371600"/>
          </a:xfrm>
          <a:prstGeom prst="roundRect">
            <a:avLst>
              <a:gd name="adj" fmla="val 80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5" name="ic-bg-164"/>
          <p:cNvSpPr/>
          <p:nvPr/>
        </p:nvSpPr>
        <p:spPr>
          <a:xfrm>
            <a:off x="777240" y="1719072"/>
            <a:ext cx="685800" cy="685800"/>
          </a:xfrm>
          <a:prstGeom prst="ellipse">
            <a:avLst/>
          </a:prstGeom>
          <a:solidFill>
            <a:srgbClr val="EA580C"/>
          </a:solidFill>
          <a:ln/>
        </p:spPr>
      </p:sp>
      <p:pic>
        <p:nvPicPr>
          <p:cNvPr id="6" name="ic-165" descr="FaBolt">    </p:cNvPr>
          <p:cNvPicPr>
            <a:picLocks noChangeAspect="1"/>
          </p:cNvPicPr>
          <p:nvPr/>
        </p:nvPicPr>
        <p:blipFill>
          <a:blip r:embed="rId1"/>
          <a:stretch>
            <a:fillRect/>
          </a:stretch>
        </p:blipFill>
        <p:spPr>
          <a:xfrm>
            <a:off x="962406" y="1904238"/>
            <a:ext cx="315468" cy="315468"/>
          </a:xfrm>
          <a:prstGeom prst="rect">
            <a:avLst/>
          </a:prstGeom>
        </p:spPr>
      </p:pic>
      <p:sp>
        <p:nvSpPr>
          <p:cNvPr id="7" name="txt-166"/>
          <p:cNvSpPr txBox="1"/>
          <p:nvPr/>
        </p:nvSpPr>
        <p:spPr>
          <a:xfrm>
            <a:off x="1691640" y="1463040"/>
            <a:ext cx="4434840" cy="1188720"/>
          </a:xfrm>
          <a:prstGeom prst="rect">
            <a:avLst/>
          </a:prstGeom>
          <a:noFill/>
          <a:ln/>
        </p:spPr>
        <p:txBody>
          <a:bodyPr wrap="square" lIns="0" tIns="0" rIns="0" bIns="0" rtlCol="0" anchor="ctr"/>
          <a:lstStyle/>
          <a:p>
            <a:pPr indent="0" marL="0">
              <a:buNone/>
            </a:pPr>
            <a:r>
              <a:rPr lang="en-US" sz="1700" b="1" dirty="0">
                <a:solidFill>
                  <a:schemeClr val="tx1"/>
                </a:solidFill>
              </a:rPr>
              <a:t>Kecepatan Tinggi (Fast Scaffolding)</a:t>
            </a:r>
            <a:endParaRPr lang="en-US" sz="1700" dirty="0"/>
          </a:p>
          <a:p>
            <a:pPr indent="0" marL="0">
              <a:buNone/>
            </a:pPr>
            <a:r>
              <a:rPr lang="en-US" sz="1400" dirty="0">
                <a:solidFill>
                  <a:schemeClr val="tx2"/>
                </a:solidFill>
              </a:rPr>
              <a:t>Membuat 1 fitur lengkap (View, Controller, Binding, dan Route) hanya dalam 2 detik.</a:t>
            </a:r>
            <a:endParaRPr lang="en-US" sz="1700" dirty="0"/>
          </a:p>
        </p:txBody>
      </p:sp>
      <p:sp>
        <p:nvSpPr>
          <p:cNvPr id="8" name="card-167"/>
          <p:cNvSpPr/>
          <p:nvPr/>
        </p:nvSpPr>
        <p:spPr>
          <a:xfrm>
            <a:off x="548640" y="2880360"/>
            <a:ext cx="5760720" cy="1371600"/>
          </a:xfrm>
          <a:prstGeom prst="roundRect">
            <a:avLst>
              <a:gd name="adj" fmla="val 80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9" name="ic-bg-168"/>
          <p:cNvSpPr/>
          <p:nvPr/>
        </p:nvSpPr>
        <p:spPr>
          <a:xfrm>
            <a:off x="777240" y="3227832"/>
            <a:ext cx="685800" cy="685800"/>
          </a:xfrm>
          <a:prstGeom prst="ellipse">
            <a:avLst/>
          </a:prstGeom>
          <a:solidFill>
            <a:srgbClr val="16A34A"/>
          </a:solidFill>
          <a:ln/>
        </p:spPr>
      </p:sp>
      <p:pic>
        <p:nvPicPr>
          <p:cNvPr id="10" name="ic-169" descr="FaCheckDouble">    </p:cNvPr>
          <p:cNvPicPr>
            <a:picLocks noChangeAspect="1"/>
          </p:cNvPicPr>
          <p:nvPr/>
        </p:nvPicPr>
        <p:blipFill>
          <a:blip r:embed="rId2"/>
          <a:stretch>
            <a:fillRect/>
          </a:stretch>
        </p:blipFill>
        <p:spPr>
          <a:xfrm>
            <a:off x="962406" y="3412998"/>
            <a:ext cx="315468" cy="315468"/>
          </a:xfrm>
          <a:prstGeom prst="rect">
            <a:avLst/>
          </a:prstGeom>
        </p:spPr>
      </p:pic>
      <p:sp>
        <p:nvSpPr>
          <p:cNvPr id="11" name="txt-170"/>
          <p:cNvSpPr txBox="1"/>
          <p:nvPr/>
        </p:nvSpPr>
        <p:spPr>
          <a:xfrm>
            <a:off x="1691640" y="2971800"/>
            <a:ext cx="4434840" cy="1188720"/>
          </a:xfrm>
          <a:prstGeom prst="rect">
            <a:avLst/>
          </a:prstGeom>
          <a:noFill/>
          <a:ln/>
        </p:spPr>
        <p:txBody>
          <a:bodyPr wrap="square" lIns="0" tIns="0" rIns="0" bIns="0" rtlCol="0" anchor="ctr"/>
          <a:lstStyle/>
          <a:p>
            <a:pPr indent="0" marL="0">
              <a:buNone/>
            </a:pPr>
            <a:r>
              <a:rPr lang="en-US" sz="1700" b="1" dirty="0">
                <a:solidFill>
                  <a:schemeClr val="tx1"/>
                </a:solidFill>
              </a:rPr>
              <a:t>Bebas Kesalahan (Zero Typo)</a:t>
            </a:r>
            <a:endParaRPr lang="en-US" sz="1700" dirty="0"/>
          </a:p>
          <a:p>
            <a:pPr indent="0" marL="0">
              <a:buNone/>
            </a:pPr>
            <a:r>
              <a:rPr lang="en-US" sz="1400" dirty="0">
                <a:solidFill>
                  <a:schemeClr val="tx2"/>
                </a:solidFill>
              </a:rPr>
              <a:t>Mencegah siswa salah menamai rute navigasi atau lupa mendaftarkan binding.</a:t>
            </a:r>
            <a:endParaRPr lang="en-US" sz="1700" dirty="0"/>
          </a:p>
        </p:txBody>
      </p:sp>
      <p:sp>
        <p:nvSpPr>
          <p:cNvPr id="12" name="card-171"/>
          <p:cNvSpPr/>
          <p:nvPr/>
        </p:nvSpPr>
        <p:spPr>
          <a:xfrm>
            <a:off x="548640" y="4389120"/>
            <a:ext cx="5760720" cy="1371600"/>
          </a:xfrm>
          <a:prstGeom prst="roundRect">
            <a:avLst>
              <a:gd name="adj" fmla="val 8000"/>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3" name="ic-bg-172"/>
          <p:cNvSpPr/>
          <p:nvPr/>
        </p:nvSpPr>
        <p:spPr>
          <a:xfrm>
            <a:off x="777240" y="4736592"/>
            <a:ext cx="685800" cy="685800"/>
          </a:xfrm>
          <a:prstGeom prst="ellipse">
            <a:avLst/>
          </a:prstGeom>
          <a:solidFill>
            <a:srgbClr val="4F46E5"/>
          </a:solidFill>
          <a:ln/>
        </p:spPr>
      </p:sp>
      <p:pic>
        <p:nvPicPr>
          <p:cNvPr id="14" name="ic-173" descr="FaSitemap">    </p:cNvPr>
          <p:cNvPicPr>
            <a:picLocks noChangeAspect="1"/>
          </p:cNvPicPr>
          <p:nvPr/>
        </p:nvPicPr>
        <p:blipFill>
          <a:blip r:embed="rId3"/>
          <a:stretch>
            <a:fillRect/>
          </a:stretch>
        </p:blipFill>
        <p:spPr>
          <a:xfrm>
            <a:off x="962406" y="4921758"/>
            <a:ext cx="315468" cy="315468"/>
          </a:xfrm>
          <a:prstGeom prst="rect">
            <a:avLst/>
          </a:prstGeom>
        </p:spPr>
      </p:pic>
      <p:sp>
        <p:nvSpPr>
          <p:cNvPr id="15" name="txt-174"/>
          <p:cNvSpPr txBox="1"/>
          <p:nvPr/>
        </p:nvSpPr>
        <p:spPr>
          <a:xfrm>
            <a:off x="1691640" y="4480560"/>
            <a:ext cx="4434840" cy="1188720"/>
          </a:xfrm>
          <a:prstGeom prst="rect">
            <a:avLst/>
          </a:prstGeom>
          <a:noFill/>
          <a:ln/>
        </p:spPr>
        <p:txBody>
          <a:bodyPr wrap="square" lIns="0" tIns="0" rIns="0" bIns="0" rtlCol="0" anchor="ctr"/>
          <a:lstStyle/>
          <a:p>
            <a:pPr indent="0" marL="0">
              <a:buNone/>
            </a:pPr>
            <a:r>
              <a:rPr lang="en-US" sz="1700" b="1" dirty="0">
                <a:solidFill>
                  <a:schemeClr val="tx1"/>
                </a:solidFill>
              </a:rPr>
              <a:t>Standarisasi Seragam</a:t>
            </a:r>
            <a:endParaRPr lang="en-US" sz="1700" dirty="0"/>
          </a:p>
          <a:p>
            <a:pPr indent="0" marL="0">
              <a:buNone/>
            </a:pPr>
            <a:r>
              <a:rPr lang="en-US" sz="1400" dirty="0">
                <a:solidFill>
                  <a:schemeClr val="tx2"/>
                </a:solidFill>
              </a:rPr>
              <a:t>Seluruh 30+ siswa di kelas memiliki pola folder yang 100% konsisten sehingga guru mudah memeriksa tugas.</a:t>
            </a:r>
            <a:endParaRPr lang="en-US" sz="1700" dirty="0"/>
          </a:p>
        </p:txBody>
      </p:sp>
      <p:sp>
        <p:nvSpPr>
          <p:cNvPr id="16" name="terminal-175"/>
          <p:cNvSpPr/>
          <p:nvPr/>
        </p:nvSpPr>
        <p:spPr>
          <a:xfrm>
            <a:off x="6583680" y="1371600"/>
            <a:ext cx="5029200" cy="4389120"/>
          </a:xfrm>
          <a:prstGeom prst="roundRect">
            <a:avLst>
              <a:gd name="adj" fmla="val 2500"/>
            </a:avLst>
          </a:prstGeom>
          <a:solidFill>
            <a:schemeClr val="tx1"/>
          </a:solidFill>
          <a:ln/>
          <a:effectLst>
            <a:outerShdw sx="100000" sy="100000" kx="0" ky="0" algn="bl" rotWithShape="0" blurRad="101600" dist="25400" dir="5400000">
              <a:srgbClr val="0F172A">
                <a:alpha val="10000"/>
              </a:srgbClr>
            </a:outerShdw>
          </a:effectLst>
        </p:spPr>
      </p:sp>
      <p:sp>
        <p:nvSpPr>
          <p:cNvPr id="17" name="dot-176"/>
          <p:cNvSpPr/>
          <p:nvPr/>
        </p:nvSpPr>
        <p:spPr>
          <a:xfrm>
            <a:off x="6812280" y="1572768"/>
            <a:ext cx="146304" cy="146304"/>
          </a:xfrm>
          <a:prstGeom prst="ellipse">
            <a:avLst/>
          </a:prstGeom>
          <a:solidFill>
            <a:schemeClr val="accent4"/>
          </a:solidFill>
          <a:ln/>
        </p:spPr>
      </p:sp>
      <p:sp>
        <p:nvSpPr>
          <p:cNvPr id="18" name="dot-177"/>
          <p:cNvSpPr/>
          <p:nvPr/>
        </p:nvSpPr>
        <p:spPr>
          <a:xfrm>
            <a:off x="7068312" y="1572768"/>
            <a:ext cx="146304" cy="146304"/>
          </a:xfrm>
          <a:prstGeom prst="ellipse">
            <a:avLst/>
          </a:prstGeom>
          <a:solidFill>
            <a:schemeClr val="accent2"/>
          </a:solidFill>
          <a:ln/>
        </p:spPr>
      </p:sp>
      <p:sp>
        <p:nvSpPr>
          <p:cNvPr id="19" name="dot-178"/>
          <p:cNvSpPr/>
          <p:nvPr/>
        </p:nvSpPr>
        <p:spPr>
          <a:xfrm>
            <a:off x="7324344" y="1572768"/>
            <a:ext cx="146304" cy="146304"/>
          </a:xfrm>
          <a:prstGeom prst="ellipse">
            <a:avLst/>
          </a:prstGeom>
          <a:solidFill>
            <a:schemeClr val="accent3"/>
          </a:solidFill>
          <a:ln/>
        </p:spPr>
      </p:sp>
      <p:sp>
        <p:nvSpPr>
          <p:cNvPr id="20" name="txt-179"/>
          <p:cNvSpPr txBox="1"/>
          <p:nvPr/>
        </p:nvSpPr>
        <p:spPr>
          <a:xfrm>
            <a:off x="8229600" y="1517904"/>
            <a:ext cx="1645920" cy="256032"/>
          </a:xfrm>
          <a:prstGeom prst="rect">
            <a:avLst/>
          </a:prstGeom>
          <a:noFill/>
          <a:ln/>
        </p:spPr>
        <p:txBody>
          <a:bodyPr wrap="square" lIns="0" tIns="0" rIns="0" bIns="0" rtlCol="0" anchor="t"/>
          <a:lstStyle/>
          <a:p>
            <a:pPr algn="ctr" indent="0" marL="0">
              <a:buNone/>
            </a:pPr>
            <a:r>
              <a:rPr lang="en-US" sz="1100" dirty="0">
                <a:solidFill>
                  <a:schemeClr val="accent6"/>
                </a:solidFill>
              </a:rPr>
              <a:t>terminal</a:t>
            </a:r>
            <a:endParaRPr lang="en-US" sz="1100" dirty="0"/>
          </a:p>
        </p:txBody>
      </p:sp>
      <p:sp>
        <p:nvSpPr>
          <p:cNvPr id="21" name="terminal-text-180"/>
          <p:cNvSpPr txBox="1"/>
          <p:nvPr/>
        </p:nvSpPr>
        <p:spPr>
          <a:xfrm>
            <a:off x="6583680" y="2011680"/>
            <a:ext cx="5029200" cy="3566160"/>
          </a:xfrm>
          <a:prstGeom prst="rect">
            <a:avLst/>
          </a:prstGeom>
          <a:noFill/>
          <a:ln/>
        </p:spPr>
        <p:txBody>
          <a:bodyPr wrap="square" lIns="228600" tIns="228600" rIns="228600" bIns="228600" rtlCol="0" anchor="t"/>
          <a:lstStyle/>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 1. Inisialisasi proyek baru</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get create project:e_commerce</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 2. Membuat modul fitur baru</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get create page:home</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get create page:detail</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get create page:cart</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get create page:checkout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Anatomi Folder Standar Industri (lib/app/)</a:t>
            </a:r>
            <a:endParaRPr lang="en-US" sz="2800" dirty="0"/>
          </a:p>
        </p:txBody>
      </p:sp>
      <p:sp>
        <p:nvSpPr>
          <p:cNvPr id="4" name="card-181"/>
          <p:cNvSpPr/>
          <p:nvPr/>
        </p:nvSpPr>
        <p:spPr>
          <a:xfrm>
            <a:off x="548640" y="1371600"/>
            <a:ext cx="7223760" cy="4754880"/>
          </a:xfrm>
          <a:prstGeom prst="roundRect">
            <a:avLst>
              <a:gd name="adj" fmla="val 2308"/>
            </a:avLst>
          </a:prstGeom>
          <a:solidFill>
            <a:schemeClr val="bg2"/>
          </a:solidFill>
          <a:ln w="9525">
            <a:solidFill>
              <a:srgbClr val="E2E8F0"/>
            </a:solidFill>
            <a:prstDash val="solid"/>
          </a:ln>
        </p:spPr>
      </p:sp>
      <p:sp>
        <p:nvSpPr>
          <p:cNvPr id="5" name="code-182"/>
          <p:cNvSpPr txBox="1"/>
          <p:nvPr/>
        </p:nvSpPr>
        <p:spPr>
          <a:xfrm>
            <a:off x="548640" y="1371600"/>
            <a:ext cx="7223760" cy="4754880"/>
          </a:xfrm>
          <a:prstGeom prst="rect">
            <a:avLst/>
          </a:prstGeom>
          <a:noFill/>
          <a:ln/>
        </p:spPr>
        <p:txBody>
          <a:bodyPr wrap="square" lIns="127000" tIns="127000" rIns="127000" bIns="12700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lib/</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app/</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core/theme/         --&gt; AppColors &amp; AppTheme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data/               --&gt; Models, Dio, Hive Storage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modules/            --&gt; Fitur modular mandiri</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home/           --&gt; bindings/, controllers/, views/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detail/         --&gt; Detail produk &amp; size selector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cart/           --&gt; Keranjang &amp; quantity stepper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wishlist/       --&gt; Daftar produk favorit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checkout/       --&gt; Kurir, alamat, metode bayar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login/          --&gt; Autentikasi pengguna</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register/       --&gt; Formulir pendaftaran akun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 orders/         --&gt; Riwayat &amp; status pengiriman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routes/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app_pages.dart  --&gt; Registry rute + Binding</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 app_routes.dart --&gt; Konstanta path (/home, /cart)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main.dart               --&gt; Entrypoint GetMaterialApp</a:t>
            </a:r>
            <a:endParaRPr lang="en-US" sz="1300" dirty="0"/>
          </a:p>
        </p:txBody>
      </p:sp>
      <p:sp>
        <p:nvSpPr>
          <p:cNvPr id="6" name="card-183"/>
          <p:cNvSpPr/>
          <p:nvPr/>
        </p:nvSpPr>
        <p:spPr>
          <a:xfrm>
            <a:off x="8046720" y="1371600"/>
            <a:ext cx="3566160" cy="1078992"/>
          </a:xfrm>
          <a:prstGeom prst="roundRect">
            <a:avLst>
              <a:gd name="adj" fmla="val 10169"/>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7" name="ic-bg-184"/>
          <p:cNvSpPr/>
          <p:nvPr/>
        </p:nvSpPr>
        <p:spPr>
          <a:xfrm>
            <a:off x="8229600" y="1645920"/>
            <a:ext cx="530352" cy="530352"/>
          </a:xfrm>
          <a:prstGeom prst="ellipse">
            <a:avLst/>
          </a:prstGeom>
          <a:solidFill>
            <a:srgbClr val="4F46E5"/>
          </a:solidFill>
          <a:ln/>
        </p:spPr>
      </p:sp>
      <p:pic>
        <p:nvPicPr>
          <p:cNvPr id="8" name="ic-185" descr="FaPalette">    </p:cNvPr>
          <p:cNvPicPr>
            <a:picLocks noChangeAspect="1"/>
          </p:cNvPicPr>
          <p:nvPr/>
        </p:nvPicPr>
        <p:blipFill>
          <a:blip r:embed="rId1"/>
          <a:stretch>
            <a:fillRect/>
          </a:stretch>
        </p:blipFill>
        <p:spPr>
          <a:xfrm>
            <a:off x="8372795" y="1789115"/>
            <a:ext cx="243962" cy="243962"/>
          </a:xfrm>
          <a:prstGeom prst="rect">
            <a:avLst/>
          </a:prstGeom>
        </p:spPr>
      </p:pic>
      <p:sp>
        <p:nvSpPr>
          <p:cNvPr id="9" name="txt-186"/>
          <p:cNvSpPr txBox="1"/>
          <p:nvPr/>
        </p:nvSpPr>
        <p:spPr>
          <a:xfrm>
            <a:off x="8961120" y="1435608"/>
            <a:ext cx="2514600" cy="96012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core/</a:t>
            </a:r>
            <a:endParaRPr lang="en-US" sz="1600" dirty="0"/>
          </a:p>
          <a:p>
            <a:pPr indent="0" marL="0">
              <a:buNone/>
            </a:pPr>
            <a:r>
              <a:rPr lang="en-US" sz="1400" dirty="0">
                <a:solidFill>
                  <a:schemeClr val="tx2"/>
                </a:solidFill>
              </a:rPr>
              <a:t>Tema aplikasi: AppColors &amp; AppTheme (Light &amp; Dark).</a:t>
            </a:r>
            <a:endParaRPr lang="en-US" sz="1600" dirty="0"/>
          </a:p>
        </p:txBody>
      </p:sp>
      <p:sp>
        <p:nvSpPr>
          <p:cNvPr id="10" name="card-187"/>
          <p:cNvSpPr/>
          <p:nvPr/>
        </p:nvSpPr>
        <p:spPr>
          <a:xfrm>
            <a:off x="8046720" y="2578608"/>
            <a:ext cx="3566160" cy="1078992"/>
          </a:xfrm>
          <a:prstGeom prst="roundRect">
            <a:avLst>
              <a:gd name="adj" fmla="val 10169"/>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1" name="ic-bg-188"/>
          <p:cNvSpPr/>
          <p:nvPr/>
        </p:nvSpPr>
        <p:spPr>
          <a:xfrm>
            <a:off x="8229600" y="2852928"/>
            <a:ext cx="530352" cy="530352"/>
          </a:xfrm>
          <a:prstGeom prst="ellipse">
            <a:avLst/>
          </a:prstGeom>
          <a:solidFill>
            <a:srgbClr val="EA580C"/>
          </a:solidFill>
          <a:ln/>
        </p:spPr>
      </p:sp>
      <p:pic>
        <p:nvPicPr>
          <p:cNvPr id="12" name="ic-189" descr="FaDatabase">    </p:cNvPr>
          <p:cNvPicPr>
            <a:picLocks noChangeAspect="1"/>
          </p:cNvPicPr>
          <p:nvPr/>
        </p:nvPicPr>
        <p:blipFill>
          <a:blip r:embed="rId2"/>
          <a:stretch>
            <a:fillRect/>
          </a:stretch>
        </p:blipFill>
        <p:spPr>
          <a:xfrm>
            <a:off x="8372795" y="2996123"/>
            <a:ext cx="243962" cy="243962"/>
          </a:xfrm>
          <a:prstGeom prst="rect">
            <a:avLst/>
          </a:prstGeom>
        </p:spPr>
      </p:pic>
      <p:sp>
        <p:nvSpPr>
          <p:cNvPr id="13" name="txt-190"/>
          <p:cNvSpPr txBox="1"/>
          <p:nvPr/>
        </p:nvSpPr>
        <p:spPr>
          <a:xfrm>
            <a:off x="8961120" y="2642616"/>
            <a:ext cx="2514600" cy="96012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data/</a:t>
            </a:r>
            <a:endParaRPr lang="en-US" sz="1600" dirty="0"/>
          </a:p>
          <a:p>
            <a:pPr indent="0" marL="0">
              <a:buNone/>
            </a:pPr>
            <a:r>
              <a:rPr lang="en-US" sz="1400" dirty="0">
                <a:solidFill>
                  <a:schemeClr val="tx2"/>
                </a:solidFill>
              </a:rPr>
              <a:t>Models, Dio ApiService, dan Hive Storage.</a:t>
            </a:r>
            <a:endParaRPr lang="en-US" sz="1600" dirty="0"/>
          </a:p>
        </p:txBody>
      </p:sp>
      <p:sp>
        <p:nvSpPr>
          <p:cNvPr id="14" name="card-191"/>
          <p:cNvSpPr/>
          <p:nvPr/>
        </p:nvSpPr>
        <p:spPr>
          <a:xfrm>
            <a:off x="8046720" y="3785616"/>
            <a:ext cx="3566160" cy="1078992"/>
          </a:xfrm>
          <a:prstGeom prst="roundRect">
            <a:avLst>
              <a:gd name="adj" fmla="val 10169"/>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5" name="ic-bg-192"/>
          <p:cNvSpPr/>
          <p:nvPr/>
        </p:nvSpPr>
        <p:spPr>
          <a:xfrm>
            <a:off x="8229600" y="4059936"/>
            <a:ext cx="530352" cy="530352"/>
          </a:xfrm>
          <a:prstGeom prst="ellipse">
            <a:avLst/>
          </a:prstGeom>
          <a:solidFill>
            <a:srgbClr val="16A34A"/>
          </a:solidFill>
          <a:ln/>
        </p:spPr>
      </p:sp>
      <p:pic>
        <p:nvPicPr>
          <p:cNvPr id="16" name="ic-193" descr="FaCubes">    </p:cNvPr>
          <p:cNvPicPr>
            <a:picLocks noChangeAspect="1"/>
          </p:cNvPicPr>
          <p:nvPr/>
        </p:nvPicPr>
        <p:blipFill>
          <a:blip r:embed="rId3"/>
          <a:stretch>
            <a:fillRect/>
          </a:stretch>
        </p:blipFill>
        <p:spPr>
          <a:xfrm>
            <a:off x="8372795" y="4203131"/>
            <a:ext cx="243962" cy="243962"/>
          </a:xfrm>
          <a:prstGeom prst="rect">
            <a:avLst/>
          </a:prstGeom>
        </p:spPr>
      </p:pic>
      <p:sp>
        <p:nvSpPr>
          <p:cNvPr id="17" name="txt-194"/>
          <p:cNvSpPr txBox="1"/>
          <p:nvPr/>
        </p:nvSpPr>
        <p:spPr>
          <a:xfrm>
            <a:off x="8961120" y="3849624"/>
            <a:ext cx="2514600" cy="96012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modules/</a:t>
            </a:r>
            <a:endParaRPr lang="en-US" sz="1600" dirty="0"/>
          </a:p>
          <a:p>
            <a:pPr indent="0" marL="0">
              <a:buNone/>
            </a:pPr>
            <a:r>
              <a:rPr lang="en-US" sz="1400" dirty="0">
                <a:solidFill>
                  <a:schemeClr val="tx2"/>
                </a:solidFill>
              </a:rPr>
              <a:t>Fitur mandiri, masing-masing berisi bindings, controllers, dan views.</a:t>
            </a:r>
            <a:endParaRPr lang="en-US" sz="1600" dirty="0"/>
          </a:p>
        </p:txBody>
      </p:sp>
      <p:sp>
        <p:nvSpPr>
          <p:cNvPr id="18" name="card-195"/>
          <p:cNvSpPr/>
          <p:nvPr/>
        </p:nvSpPr>
        <p:spPr>
          <a:xfrm>
            <a:off x="8046720" y="4992624"/>
            <a:ext cx="3566160" cy="1078992"/>
          </a:xfrm>
          <a:prstGeom prst="roundRect">
            <a:avLst>
              <a:gd name="adj" fmla="val 10169"/>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9" name="ic-bg-196"/>
          <p:cNvSpPr/>
          <p:nvPr/>
        </p:nvSpPr>
        <p:spPr>
          <a:xfrm>
            <a:off x="8229600" y="5266944"/>
            <a:ext cx="530352" cy="530352"/>
          </a:xfrm>
          <a:prstGeom prst="ellipse">
            <a:avLst/>
          </a:prstGeom>
          <a:solidFill>
            <a:srgbClr val="4F46E5"/>
          </a:solidFill>
          <a:ln/>
        </p:spPr>
      </p:sp>
      <p:pic>
        <p:nvPicPr>
          <p:cNvPr id="20" name="ic-197" descr="FaRoute">    </p:cNvPr>
          <p:cNvPicPr>
            <a:picLocks noChangeAspect="1"/>
          </p:cNvPicPr>
          <p:nvPr/>
        </p:nvPicPr>
        <p:blipFill>
          <a:blip r:embed="rId4"/>
          <a:stretch>
            <a:fillRect/>
          </a:stretch>
        </p:blipFill>
        <p:spPr>
          <a:xfrm>
            <a:off x="8372795" y="5410139"/>
            <a:ext cx="243962" cy="243962"/>
          </a:xfrm>
          <a:prstGeom prst="rect">
            <a:avLst/>
          </a:prstGeom>
        </p:spPr>
      </p:pic>
      <p:sp>
        <p:nvSpPr>
          <p:cNvPr id="21" name="txt-198"/>
          <p:cNvSpPr txBox="1"/>
          <p:nvPr/>
        </p:nvSpPr>
        <p:spPr>
          <a:xfrm>
            <a:off x="8961120" y="5056632"/>
            <a:ext cx="2514600" cy="960120"/>
          </a:xfrm>
          <a:prstGeom prst="rect">
            <a:avLst/>
          </a:prstGeom>
          <a:noFill/>
          <a:ln/>
        </p:spPr>
        <p:txBody>
          <a:bodyPr wrap="square" lIns="0" tIns="0" rIns="0" bIns="0" rtlCol="0" anchor="ctr"/>
          <a:lstStyle/>
          <a:p>
            <a:pPr indent="0" marL="0">
              <a:buNone/>
            </a:pPr>
            <a:r>
              <a:rPr lang="en-US" sz="1600" b="1" dirty="0">
                <a:solidFill>
                  <a:schemeClr val="tx1"/>
                </a:solidFill>
                <a:latin typeface="Courier New" pitchFamily="34" charset="0"/>
                <a:ea typeface="Courier New" pitchFamily="34" charset="-122"/>
                <a:cs typeface="Courier New" pitchFamily="34" charset="-120"/>
              </a:rPr>
              <a:t>routes/</a:t>
            </a:r>
            <a:endParaRPr lang="en-US" sz="1600" dirty="0"/>
          </a:p>
          <a:p>
            <a:pPr indent="0" marL="0">
              <a:buNone/>
            </a:pPr>
            <a:r>
              <a:rPr lang="en-US" sz="1400" dirty="0">
                <a:solidFill>
                  <a:schemeClr val="tx2"/>
                </a:solidFill>
              </a:rPr>
              <a:t>Registry rute + Binding dan konstanta path string.</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Mengapa UI Disiapkan Penuh di Branch starter-kit?</a:t>
            </a:r>
            <a:endParaRPr lang="en-US" sz="2800" dirty="0"/>
          </a:p>
        </p:txBody>
      </p:sp>
      <p:sp>
        <p:nvSpPr>
          <p:cNvPr id="4" name="txt-199"/>
          <p:cNvSpPr txBox="1"/>
          <p:nvPr/>
        </p:nvSpPr>
        <p:spPr>
          <a:xfrm>
            <a:off x="548640" y="1325880"/>
            <a:ext cx="5303520" cy="365760"/>
          </a:xfrm>
          <a:prstGeom prst="rect">
            <a:avLst/>
          </a:prstGeom>
          <a:noFill/>
          <a:ln/>
        </p:spPr>
        <p:txBody>
          <a:bodyPr wrap="square" lIns="0" tIns="0" rIns="0" bIns="0" rtlCol="0" anchor="t"/>
          <a:lstStyle/>
          <a:p>
            <a:pPr indent="0" marL="0">
              <a:buNone/>
            </a:pPr>
            <a:r>
              <a:rPr lang="en-US" sz="1800" b="1" dirty="0">
                <a:solidFill>
                  <a:schemeClr val="tx1"/>
                </a:solidFill>
              </a:rPr>
              <a:t>Filosofi Belajar: Kenapa Full UI First?</a:t>
            </a:r>
            <a:endParaRPr lang="en-US" sz="1800" dirty="0"/>
          </a:p>
        </p:txBody>
      </p:sp>
      <p:sp>
        <p:nvSpPr>
          <p:cNvPr id="5" name="card-200"/>
          <p:cNvSpPr/>
          <p:nvPr/>
        </p:nvSpPr>
        <p:spPr>
          <a:xfrm>
            <a:off x="548640" y="1920240"/>
            <a:ext cx="5303520" cy="1280160"/>
          </a:xfrm>
          <a:prstGeom prst="roundRect">
            <a:avLst>
              <a:gd name="adj" fmla="val 8571"/>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6" name="ic-bg-201"/>
          <p:cNvSpPr/>
          <p:nvPr/>
        </p:nvSpPr>
        <p:spPr>
          <a:xfrm>
            <a:off x="777240" y="2267712"/>
            <a:ext cx="594360" cy="594360"/>
          </a:xfrm>
          <a:prstGeom prst="ellipse">
            <a:avLst/>
          </a:prstGeom>
          <a:solidFill>
            <a:srgbClr val="EA580C"/>
          </a:solidFill>
          <a:ln/>
        </p:spPr>
      </p:sp>
      <p:pic>
        <p:nvPicPr>
          <p:cNvPr id="7" name="ic-202" descr="FaPuzzlePiece">    </p:cNvPr>
          <p:cNvPicPr>
            <a:picLocks noChangeAspect="1"/>
          </p:cNvPicPr>
          <p:nvPr/>
        </p:nvPicPr>
        <p:blipFill>
          <a:blip r:embed="rId1"/>
          <a:stretch>
            <a:fillRect/>
          </a:stretch>
        </p:blipFill>
        <p:spPr>
          <a:xfrm>
            <a:off x="937717" y="2428189"/>
            <a:ext cx="273406" cy="273406"/>
          </a:xfrm>
          <a:prstGeom prst="rect">
            <a:avLst/>
          </a:prstGeom>
        </p:spPr>
      </p:pic>
      <p:sp>
        <p:nvSpPr>
          <p:cNvPr id="8" name="txt-203"/>
          <p:cNvSpPr txBox="1"/>
          <p:nvPr/>
        </p:nvSpPr>
        <p:spPr>
          <a:xfrm>
            <a:off x="1600200" y="2011680"/>
            <a:ext cx="4114800" cy="1097280"/>
          </a:xfrm>
          <a:prstGeom prst="rect">
            <a:avLst/>
          </a:prstGeom>
          <a:noFill/>
          <a:ln/>
        </p:spPr>
        <p:txBody>
          <a:bodyPr wrap="square" lIns="0" tIns="0" rIns="0" bIns="0" rtlCol="0" anchor="ctr"/>
          <a:lstStyle/>
          <a:p>
            <a:pPr indent="0" marL="0">
              <a:buNone/>
            </a:pPr>
            <a:r>
              <a:rPr lang="en-US" sz="1500" dirty="0">
                <a:solidFill>
                  <a:schemeClr val="tx1"/>
                </a:solidFill>
              </a:rPr>
              <a:t>Menghilangkan frustrasi siswa menghabiskan waktu berjam-jam hanya untuk memperbaiki layout overflow.</a:t>
            </a:r>
            <a:endParaRPr lang="en-US" sz="1500" dirty="0"/>
          </a:p>
        </p:txBody>
      </p:sp>
      <p:sp>
        <p:nvSpPr>
          <p:cNvPr id="9" name="card-204"/>
          <p:cNvSpPr/>
          <p:nvPr/>
        </p:nvSpPr>
        <p:spPr>
          <a:xfrm>
            <a:off x="548640" y="3337560"/>
            <a:ext cx="5303520" cy="1280160"/>
          </a:xfrm>
          <a:prstGeom prst="roundRect">
            <a:avLst>
              <a:gd name="adj" fmla="val 8571"/>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0" name="ic-bg-205"/>
          <p:cNvSpPr/>
          <p:nvPr/>
        </p:nvSpPr>
        <p:spPr>
          <a:xfrm>
            <a:off x="777240" y="3685032"/>
            <a:ext cx="594360" cy="594360"/>
          </a:xfrm>
          <a:prstGeom prst="ellipse">
            <a:avLst/>
          </a:prstGeom>
          <a:solidFill>
            <a:srgbClr val="4F46E5"/>
          </a:solidFill>
          <a:ln/>
        </p:spPr>
      </p:sp>
      <p:pic>
        <p:nvPicPr>
          <p:cNvPr id="11" name="ic-206" descr="FaMoon">    </p:cNvPr>
          <p:cNvPicPr>
            <a:picLocks noChangeAspect="1"/>
          </p:cNvPicPr>
          <p:nvPr/>
        </p:nvPicPr>
        <p:blipFill>
          <a:blip r:embed="rId2"/>
          <a:stretch>
            <a:fillRect/>
          </a:stretch>
        </p:blipFill>
        <p:spPr>
          <a:xfrm>
            <a:off x="937717" y="3845509"/>
            <a:ext cx="273406" cy="273406"/>
          </a:xfrm>
          <a:prstGeom prst="rect">
            <a:avLst/>
          </a:prstGeom>
        </p:spPr>
      </p:pic>
      <p:sp>
        <p:nvSpPr>
          <p:cNvPr id="12" name="txt-207"/>
          <p:cNvSpPr txBox="1"/>
          <p:nvPr/>
        </p:nvSpPr>
        <p:spPr>
          <a:xfrm>
            <a:off x="1600200" y="3429000"/>
            <a:ext cx="4114800" cy="1097280"/>
          </a:xfrm>
          <a:prstGeom prst="rect">
            <a:avLst/>
          </a:prstGeom>
          <a:noFill/>
          <a:ln/>
        </p:spPr>
        <p:txBody>
          <a:bodyPr wrap="square" lIns="0" tIns="0" rIns="0" bIns="0" rtlCol="0" anchor="ctr"/>
          <a:lstStyle/>
          <a:p>
            <a:pPr indent="0" marL="0">
              <a:buNone/>
            </a:pPr>
            <a:r>
              <a:rPr lang="en-US" sz="1500" dirty="0">
                <a:solidFill>
                  <a:schemeClr val="tx1"/>
                </a:solidFill>
              </a:rPr>
              <a:t>Tampilan antarmuka sudah estetik, responsif, dan mendukung Dark Mode secara otomatis.</a:t>
            </a:r>
            <a:endParaRPr lang="en-US" sz="1500" dirty="0"/>
          </a:p>
        </p:txBody>
      </p:sp>
      <p:sp>
        <p:nvSpPr>
          <p:cNvPr id="13" name="card-208"/>
          <p:cNvSpPr/>
          <p:nvPr/>
        </p:nvSpPr>
        <p:spPr>
          <a:xfrm>
            <a:off x="548640" y="4754880"/>
            <a:ext cx="5303520" cy="1280160"/>
          </a:xfrm>
          <a:prstGeom prst="roundRect">
            <a:avLst>
              <a:gd name="adj" fmla="val 8571"/>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4" name="ic-bg-209"/>
          <p:cNvSpPr/>
          <p:nvPr/>
        </p:nvSpPr>
        <p:spPr>
          <a:xfrm>
            <a:off x="777240" y="5102352"/>
            <a:ext cx="594360" cy="594360"/>
          </a:xfrm>
          <a:prstGeom prst="ellipse">
            <a:avLst/>
          </a:prstGeom>
          <a:solidFill>
            <a:srgbClr val="16A34A"/>
          </a:solidFill>
          <a:ln/>
        </p:spPr>
      </p:sp>
      <p:pic>
        <p:nvPicPr>
          <p:cNvPr id="15" name="ic-210" descr="FaBriefcase">    </p:cNvPr>
          <p:cNvPicPr>
            <a:picLocks noChangeAspect="1"/>
          </p:cNvPicPr>
          <p:nvPr/>
        </p:nvPicPr>
        <p:blipFill>
          <a:blip r:embed="rId3"/>
          <a:stretch>
            <a:fillRect/>
          </a:stretch>
        </p:blipFill>
        <p:spPr>
          <a:xfrm>
            <a:off x="937717" y="5262829"/>
            <a:ext cx="273406" cy="273406"/>
          </a:xfrm>
          <a:prstGeom prst="rect">
            <a:avLst/>
          </a:prstGeom>
        </p:spPr>
      </p:pic>
      <p:sp>
        <p:nvSpPr>
          <p:cNvPr id="16" name="txt-211"/>
          <p:cNvSpPr txBox="1"/>
          <p:nvPr/>
        </p:nvSpPr>
        <p:spPr>
          <a:xfrm>
            <a:off x="1600200" y="4846320"/>
            <a:ext cx="4114800" cy="1097280"/>
          </a:xfrm>
          <a:prstGeom prst="rect">
            <a:avLst/>
          </a:prstGeom>
          <a:noFill/>
          <a:ln/>
        </p:spPr>
        <p:txBody>
          <a:bodyPr wrap="square" lIns="0" tIns="0" rIns="0" bIns="0" rtlCol="0" anchor="ctr"/>
          <a:lstStyle/>
          <a:p>
            <a:pPr indent="0" marL="0">
              <a:buNone/>
            </a:pPr>
            <a:r>
              <a:rPr lang="en-US" sz="1500" dirty="0">
                <a:solidFill>
                  <a:schemeClr val="tx1"/>
                </a:solidFill>
              </a:rPr>
              <a:t>Siswa mensimulasikan pekerjaan nyata: "Menghubungkan logika bisnis dan API ke UI yang sudah jadi".</a:t>
            </a:r>
            <a:endParaRPr lang="en-US" sz="1500" dirty="0"/>
          </a:p>
        </p:txBody>
      </p:sp>
      <p:sp>
        <p:nvSpPr>
          <p:cNvPr id="17" name="txt-212"/>
          <p:cNvSpPr txBox="1"/>
          <p:nvPr/>
        </p:nvSpPr>
        <p:spPr>
          <a:xfrm>
            <a:off x="6309360" y="1325880"/>
            <a:ext cx="5303520" cy="365760"/>
          </a:xfrm>
          <a:prstGeom prst="rect">
            <a:avLst/>
          </a:prstGeom>
          <a:noFill/>
          <a:ln/>
        </p:spPr>
        <p:txBody>
          <a:bodyPr wrap="square" lIns="0" tIns="0" rIns="0" bIns="0" rtlCol="0" anchor="t"/>
          <a:lstStyle/>
          <a:p>
            <a:pPr indent="0" marL="0">
              <a:buNone/>
            </a:pPr>
            <a:r>
              <a:rPr lang="en-US" sz="1800" b="1" dirty="0">
                <a:solidFill>
                  <a:schemeClr val="tx1"/>
                </a:solidFill>
              </a:rPr>
              <a:t>Roadmap Pembelajaran Sesi Berikutnya</a:t>
            </a:r>
            <a:endParaRPr lang="en-US" sz="1800" dirty="0"/>
          </a:p>
        </p:txBody>
      </p:sp>
      <p:sp>
        <p:nvSpPr>
          <p:cNvPr id="18" name="card-213"/>
          <p:cNvSpPr/>
          <p:nvPr/>
        </p:nvSpPr>
        <p:spPr>
          <a:xfrm>
            <a:off x="6309360" y="1920240"/>
            <a:ext cx="5303520" cy="731520"/>
          </a:xfrm>
          <a:prstGeom prst="roundRect">
            <a:avLst>
              <a:gd name="adj" fmla="val 15000"/>
            </a:avLst>
          </a:prstGeom>
          <a:solidFill>
            <a:schemeClr val="bg2"/>
          </a:solidFill>
          <a:ln w="9525">
            <a:solidFill>
              <a:srgbClr val="E2E8F0"/>
            </a:solidFill>
            <a:prstDash val="solid"/>
          </a:ln>
        </p:spPr>
      </p:sp>
      <p:sp>
        <p:nvSpPr>
          <p:cNvPr id="19" name="chip-214"/>
          <p:cNvSpPr/>
          <p:nvPr/>
        </p:nvSpPr>
        <p:spPr>
          <a:xfrm>
            <a:off x="6446520" y="2075688"/>
            <a:ext cx="1371600" cy="420624"/>
          </a:xfrm>
          <a:prstGeom prst="roundRect">
            <a:avLst>
              <a:gd name="adj" fmla="val 50000"/>
            </a:avLst>
          </a:prstGeom>
          <a:solidFill>
            <a:schemeClr val="accent1"/>
          </a:solidFill>
          <a:ln/>
        </p:spPr>
      </p:sp>
      <p:sp>
        <p:nvSpPr>
          <p:cNvPr id="20" name="txt-215"/>
          <p:cNvSpPr txBox="1"/>
          <p:nvPr/>
        </p:nvSpPr>
        <p:spPr>
          <a:xfrm>
            <a:off x="6446520" y="2075688"/>
            <a:ext cx="1371600" cy="420624"/>
          </a:xfrm>
          <a:prstGeom prst="rect">
            <a:avLst/>
          </a:prstGeom>
          <a:noFill/>
          <a:ln/>
        </p:spPr>
        <p:txBody>
          <a:bodyPr wrap="square" lIns="0" tIns="0" rIns="0" bIns="0" rtlCol="0" anchor="ctr"/>
          <a:lstStyle/>
          <a:p>
            <a:pPr algn="ctr" indent="0" marL="0">
              <a:buNone/>
            </a:pPr>
            <a:r>
              <a:rPr lang="en-US" sz="1300" b="1" dirty="0">
                <a:solidFill>
                  <a:schemeClr val="bg1"/>
                </a:solidFill>
              </a:rPr>
              <a:t>Sesi 02–03</a:t>
            </a:r>
            <a:endParaRPr lang="en-US" sz="1300" dirty="0"/>
          </a:p>
        </p:txBody>
      </p:sp>
      <p:sp>
        <p:nvSpPr>
          <p:cNvPr id="21" name="txt-216"/>
          <p:cNvSpPr txBox="1"/>
          <p:nvPr/>
        </p:nvSpPr>
        <p:spPr>
          <a:xfrm>
            <a:off x="8001000" y="1965960"/>
            <a:ext cx="3474720" cy="640080"/>
          </a:xfrm>
          <a:prstGeom prst="rect">
            <a:avLst/>
          </a:prstGeom>
          <a:noFill/>
          <a:ln/>
        </p:spPr>
        <p:txBody>
          <a:bodyPr wrap="square" lIns="0" tIns="0" rIns="0" bIns="0" rtlCol="0" anchor="ctr"/>
          <a:lstStyle/>
          <a:p>
            <a:pPr indent="0" marL="0">
              <a:buNone/>
            </a:pPr>
            <a:r>
              <a:rPr lang="en-US" sz="1400" dirty="0">
                <a:solidFill>
                  <a:schemeClr val="tx1"/>
                </a:solidFill>
              </a:rPr>
              <a:t>State Reaktif, Cart Counter, Badge Update, &amp; Detail Navigation</a:t>
            </a:r>
            <a:endParaRPr lang="en-US" sz="1400" dirty="0"/>
          </a:p>
        </p:txBody>
      </p:sp>
      <p:sp>
        <p:nvSpPr>
          <p:cNvPr id="22" name="card-217"/>
          <p:cNvSpPr/>
          <p:nvPr/>
        </p:nvSpPr>
        <p:spPr>
          <a:xfrm>
            <a:off x="6309360" y="2770632"/>
            <a:ext cx="5303520" cy="731520"/>
          </a:xfrm>
          <a:prstGeom prst="roundRect">
            <a:avLst>
              <a:gd name="adj" fmla="val 15000"/>
            </a:avLst>
          </a:prstGeom>
          <a:solidFill>
            <a:schemeClr val="bg2"/>
          </a:solidFill>
          <a:ln w="9525">
            <a:solidFill>
              <a:srgbClr val="E2E8F0"/>
            </a:solidFill>
            <a:prstDash val="solid"/>
          </a:ln>
        </p:spPr>
      </p:sp>
      <p:sp>
        <p:nvSpPr>
          <p:cNvPr id="23" name="chip-218"/>
          <p:cNvSpPr/>
          <p:nvPr/>
        </p:nvSpPr>
        <p:spPr>
          <a:xfrm>
            <a:off x="6446520" y="2926080"/>
            <a:ext cx="1371600" cy="420624"/>
          </a:xfrm>
          <a:prstGeom prst="roundRect">
            <a:avLst>
              <a:gd name="adj" fmla="val 50000"/>
            </a:avLst>
          </a:prstGeom>
          <a:solidFill>
            <a:schemeClr val="accent1"/>
          </a:solidFill>
          <a:ln/>
        </p:spPr>
      </p:sp>
      <p:sp>
        <p:nvSpPr>
          <p:cNvPr id="24" name="txt-219"/>
          <p:cNvSpPr txBox="1"/>
          <p:nvPr/>
        </p:nvSpPr>
        <p:spPr>
          <a:xfrm>
            <a:off x="6446520" y="2926080"/>
            <a:ext cx="1371600" cy="420624"/>
          </a:xfrm>
          <a:prstGeom prst="rect">
            <a:avLst/>
          </a:prstGeom>
          <a:noFill/>
          <a:ln/>
        </p:spPr>
        <p:txBody>
          <a:bodyPr wrap="square" lIns="0" tIns="0" rIns="0" bIns="0" rtlCol="0" anchor="ctr"/>
          <a:lstStyle/>
          <a:p>
            <a:pPr algn="ctr" indent="0" marL="0">
              <a:buNone/>
            </a:pPr>
            <a:r>
              <a:rPr lang="en-US" sz="1300" b="1" dirty="0">
                <a:solidFill>
                  <a:schemeClr val="bg1"/>
                </a:solidFill>
              </a:rPr>
              <a:t>Sesi 04</a:t>
            </a:r>
            <a:endParaRPr lang="en-US" sz="1300" dirty="0"/>
          </a:p>
        </p:txBody>
      </p:sp>
      <p:sp>
        <p:nvSpPr>
          <p:cNvPr id="25" name="txt-220"/>
          <p:cNvSpPr txBox="1"/>
          <p:nvPr/>
        </p:nvSpPr>
        <p:spPr>
          <a:xfrm>
            <a:off x="8001000" y="2816352"/>
            <a:ext cx="3474720" cy="640080"/>
          </a:xfrm>
          <a:prstGeom prst="rect">
            <a:avLst/>
          </a:prstGeom>
          <a:noFill/>
          <a:ln/>
        </p:spPr>
        <p:txBody>
          <a:bodyPr wrap="square" lIns="0" tIns="0" rIns="0" bIns="0" rtlCol="0" anchor="ctr"/>
          <a:lstStyle/>
          <a:p>
            <a:pPr indent="0" marL="0">
              <a:buNone/>
            </a:pPr>
            <a:r>
              <a:rPr lang="en-US" sz="1400" dirty="0">
                <a:solidFill>
                  <a:schemeClr val="tx1"/>
                </a:solidFill>
              </a:rPr>
              <a:t>Validasi Form Input &amp; Regex</a:t>
            </a:r>
            <a:endParaRPr lang="en-US" sz="1400" dirty="0"/>
          </a:p>
        </p:txBody>
      </p:sp>
      <p:sp>
        <p:nvSpPr>
          <p:cNvPr id="26" name="card-221"/>
          <p:cNvSpPr/>
          <p:nvPr/>
        </p:nvSpPr>
        <p:spPr>
          <a:xfrm>
            <a:off x="6309360" y="3621024"/>
            <a:ext cx="5303520" cy="731520"/>
          </a:xfrm>
          <a:prstGeom prst="roundRect">
            <a:avLst>
              <a:gd name="adj" fmla="val 15000"/>
            </a:avLst>
          </a:prstGeom>
          <a:solidFill>
            <a:schemeClr val="bg2"/>
          </a:solidFill>
          <a:ln w="9525">
            <a:solidFill>
              <a:srgbClr val="E2E8F0"/>
            </a:solidFill>
            <a:prstDash val="solid"/>
          </a:ln>
        </p:spPr>
      </p:sp>
      <p:sp>
        <p:nvSpPr>
          <p:cNvPr id="27" name="chip-222"/>
          <p:cNvSpPr/>
          <p:nvPr/>
        </p:nvSpPr>
        <p:spPr>
          <a:xfrm>
            <a:off x="6446520" y="3776472"/>
            <a:ext cx="1371600" cy="420624"/>
          </a:xfrm>
          <a:prstGeom prst="roundRect">
            <a:avLst>
              <a:gd name="adj" fmla="val 50000"/>
            </a:avLst>
          </a:prstGeom>
          <a:solidFill>
            <a:schemeClr val="accent1"/>
          </a:solidFill>
          <a:ln/>
        </p:spPr>
      </p:sp>
      <p:sp>
        <p:nvSpPr>
          <p:cNvPr id="28" name="txt-223"/>
          <p:cNvSpPr txBox="1"/>
          <p:nvPr/>
        </p:nvSpPr>
        <p:spPr>
          <a:xfrm>
            <a:off x="6446520" y="3776472"/>
            <a:ext cx="1371600" cy="420624"/>
          </a:xfrm>
          <a:prstGeom prst="rect">
            <a:avLst/>
          </a:prstGeom>
          <a:noFill/>
          <a:ln/>
        </p:spPr>
        <p:txBody>
          <a:bodyPr wrap="square" lIns="0" tIns="0" rIns="0" bIns="0" rtlCol="0" anchor="ctr"/>
          <a:lstStyle/>
          <a:p>
            <a:pPr algn="ctr" indent="0" marL="0">
              <a:buNone/>
            </a:pPr>
            <a:r>
              <a:rPr lang="en-US" sz="1300" b="1" dirty="0">
                <a:solidFill>
                  <a:schemeClr val="bg1"/>
                </a:solidFill>
              </a:rPr>
              <a:t>Sesi 05–06</a:t>
            </a:r>
            <a:endParaRPr lang="en-US" sz="1300" dirty="0"/>
          </a:p>
        </p:txBody>
      </p:sp>
      <p:sp>
        <p:nvSpPr>
          <p:cNvPr id="29" name="txt-224"/>
          <p:cNvSpPr txBox="1"/>
          <p:nvPr/>
        </p:nvSpPr>
        <p:spPr>
          <a:xfrm>
            <a:off x="8001000" y="3666744"/>
            <a:ext cx="3474720" cy="640080"/>
          </a:xfrm>
          <a:prstGeom prst="rect">
            <a:avLst/>
          </a:prstGeom>
          <a:noFill/>
          <a:ln/>
        </p:spPr>
        <p:txBody>
          <a:bodyPr wrap="square" lIns="0" tIns="0" rIns="0" bIns="0" rtlCol="0" anchor="ctr"/>
          <a:lstStyle/>
          <a:p>
            <a:pPr indent="0" marL="0">
              <a:buNone/>
            </a:pPr>
            <a:r>
              <a:rPr lang="en-US" sz="1400" dirty="0">
                <a:solidFill>
                  <a:schemeClr val="tx1"/>
                </a:solidFill>
              </a:rPr>
              <a:t>Networking REST API via Dio &amp; Shimmer Skeleton</a:t>
            </a:r>
            <a:endParaRPr lang="en-US" sz="1400" dirty="0"/>
          </a:p>
        </p:txBody>
      </p:sp>
      <p:sp>
        <p:nvSpPr>
          <p:cNvPr id="30" name="card-225"/>
          <p:cNvSpPr/>
          <p:nvPr/>
        </p:nvSpPr>
        <p:spPr>
          <a:xfrm>
            <a:off x="6309360" y="4471416"/>
            <a:ext cx="5303520" cy="731520"/>
          </a:xfrm>
          <a:prstGeom prst="roundRect">
            <a:avLst>
              <a:gd name="adj" fmla="val 15000"/>
            </a:avLst>
          </a:prstGeom>
          <a:solidFill>
            <a:schemeClr val="bg2"/>
          </a:solidFill>
          <a:ln w="9525">
            <a:solidFill>
              <a:srgbClr val="E2E8F0"/>
            </a:solidFill>
            <a:prstDash val="solid"/>
          </a:ln>
        </p:spPr>
      </p:sp>
      <p:sp>
        <p:nvSpPr>
          <p:cNvPr id="31" name="chip-226"/>
          <p:cNvSpPr/>
          <p:nvPr/>
        </p:nvSpPr>
        <p:spPr>
          <a:xfrm>
            <a:off x="6446520" y="4626864"/>
            <a:ext cx="1371600" cy="420624"/>
          </a:xfrm>
          <a:prstGeom prst="roundRect">
            <a:avLst>
              <a:gd name="adj" fmla="val 50000"/>
            </a:avLst>
          </a:prstGeom>
          <a:solidFill>
            <a:schemeClr val="accent1"/>
          </a:solidFill>
          <a:ln/>
        </p:spPr>
      </p:sp>
      <p:sp>
        <p:nvSpPr>
          <p:cNvPr id="32" name="txt-227"/>
          <p:cNvSpPr txBox="1"/>
          <p:nvPr/>
        </p:nvSpPr>
        <p:spPr>
          <a:xfrm>
            <a:off x="6446520" y="4626864"/>
            <a:ext cx="1371600" cy="420624"/>
          </a:xfrm>
          <a:prstGeom prst="rect">
            <a:avLst/>
          </a:prstGeom>
          <a:noFill/>
          <a:ln/>
        </p:spPr>
        <p:txBody>
          <a:bodyPr wrap="square" lIns="0" tIns="0" rIns="0" bIns="0" rtlCol="0" anchor="ctr"/>
          <a:lstStyle/>
          <a:p>
            <a:pPr algn="ctr" indent="0" marL="0">
              <a:buNone/>
            </a:pPr>
            <a:r>
              <a:rPr lang="en-US" sz="1300" b="1" dirty="0">
                <a:solidFill>
                  <a:schemeClr val="bg1"/>
                </a:solidFill>
              </a:rPr>
              <a:t>Sesi 07–08</a:t>
            </a:r>
            <a:endParaRPr lang="en-US" sz="1300" dirty="0"/>
          </a:p>
        </p:txBody>
      </p:sp>
      <p:sp>
        <p:nvSpPr>
          <p:cNvPr id="33" name="txt-228"/>
          <p:cNvSpPr txBox="1"/>
          <p:nvPr/>
        </p:nvSpPr>
        <p:spPr>
          <a:xfrm>
            <a:off x="8001000" y="4517136"/>
            <a:ext cx="3474720" cy="640080"/>
          </a:xfrm>
          <a:prstGeom prst="rect">
            <a:avLst/>
          </a:prstGeom>
          <a:noFill/>
          <a:ln/>
        </p:spPr>
        <p:txBody>
          <a:bodyPr wrap="square" lIns="0" tIns="0" rIns="0" bIns="0" rtlCol="0" anchor="ctr"/>
          <a:lstStyle/>
          <a:p>
            <a:pPr indent="0" marL="0">
              <a:buNone/>
            </a:pPr>
            <a:r>
              <a:rPr lang="en-US" sz="1400" dirty="0">
                <a:solidFill>
                  <a:schemeClr val="tx1"/>
                </a:solidFill>
              </a:rPr>
              <a:t>Local Caching via SharedPreferences &amp; NoSQL Hive CE</a:t>
            </a:r>
            <a:endParaRPr lang="en-US" sz="1400" dirty="0"/>
          </a:p>
        </p:txBody>
      </p:sp>
      <p:sp>
        <p:nvSpPr>
          <p:cNvPr id="34" name="card-229"/>
          <p:cNvSpPr/>
          <p:nvPr/>
        </p:nvSpPr>
        <p:spPr>
          <a:xfrm>
            <a:off x="6309360" y="5321808"/>
            <a:ext cx="5303520" cy="731520"/>
          </a:xfrm>
          <a:prstGeom prst="roundRect">
            <a:avLst>
              <a:gd name="adj" fmla="val 15000"/>
            </a:avLst>
          </a:prstGeom>
          <a:solidFill>
            <a:schemeClr val="bg2"/>
          </a:solidFill>
          <a:ln w="9525">
            <a:solidFill>
              <a:srgbClr val="E2E8F0"/>
            </a:solidFill>
            <a:prstDash val="solid"/>
          </a:ln>
        </p:spPr>
      </p:sp>
      <p:sp>
        <p:nvSpPr>
          <p:cNvPr id="35" name="chip-230"/>
          <p:cNvSpPr/>
          <p:nvPr/>
        </p:nvSpPr>
        <p:spPr>
          <a:xfrm>
            <a:off x="6446520" y="5477256"/>
            <a:ext cx="1371600" cy="420624"/>
          </a:xfrm>
          <a:prstGeom prst="roundRect">
            <a:avLst>
              <a:gd name="adj" fmla="val 50000"/>
            </a:avLst>
          </a:prstGeom>
          <a:solidFill>
            <a:schemeClr val="accent1"/>
          </a:solidFill>
          <a:ln/>
        </p:spPr>
      </p:sp>
      <p:sp>
        <p:nvSpPr>
          <p:cNvPr id="36" name="txt-231"/>
          <p:cNvSpPr txBox="1"/>
          <p:nvPr/>
        </p:nvSpPr>
        <p:spPr>
          <a:xfrm>
            <a:off x="6446520" y="5477256"/>
            <a:ext cx="1371600" cy="420624"/>
          </a:xfrm>
          <a:prstGeom prst="rect">
            <a:avLst/>
          </a:prstGeom>
          <a:noFill/>
          <a:ln/>
        </p:spPr>
        <p:txBody>
          <a:bodyPr wrap="square" lIns="0" tIns="0" rIns="0" bIns="0" rtlCol="0" anchor="ctr"/>
          <a:lstStyle/>
          <a:p>
            <a:pPr algn="ctr" indent="0" marL="0">
              <a:buNone/>
            </a:pPr>
            <a:r>
              <a:rPr lang="en-US" sz="1300" b="1" dirty="0">
                <a:solidFill>
                  <a:schemeClr val="bg1"/>
                </a:solidFill>
              </a:rPr>
              <a:t>Sesi 09–10</a:t>
            </a:r>
            <a:endParaRPr lang="en-US" sz="1300" dirty="0"/>
          </a:p>
        </p:txBody>
      </p:sp>
      <p:sp>
        <p:nvSpPr>
          <p:cNvPr id="37" name="txt-232"/>
          <p:cNvSpPr txBox="1"/>
          <p:nvPr/>
        </p:nvSpPr>
        <p:spPr>
          <a:xfrm>
            <a:off x="8001000" y="5367528"/>
            <a:ext cx="3474720" cy="640080"/>
          </a:xfrm>
          <a:prstGeom prst="rect">
            <a:avLst/>
          </a:prstGeom>
          <a:noFill/>
          <a:ln/>
        </p:spPr>
        <p:txBody>
          <a:bodyPr wrap="square" lIns="0" tIns="0" rIns="0" bIns="0" rtlCol="0" anchor="ctr"/>
          <a:lstStyle/>
          <a:p>
            <a:pPr indent="0" marL="0">
              <a:buNone/>
            </a:pPr>
            <a:r>
              <a:rPr lang="en-US" sz="1400" dirty="0">
                <a:solidFill>
                  <a:schemeClr val="tx1"/>
                </a:solidFill>
              </a:rPr>
              <a:t>Firebase Auth &amp; Cloud Firestore Realtime Orders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Kuis Cek Pemahaman Konsep</a:t>
            </a:r>
            <a:endParaRPr lang="en-US" sz="2800" dirty="0"/>
          </a:p>
        </p:txBody>
      </p:sp>
      <p:sp>
        <p:nvSpPr>
          <p:cNvPr id="4" name="card-233"/>
          <p:cNvSpPr/>
          <p:nvPr/>
        </p:nvSpPr>
        <p:spPr>
          <a:xfrm>
            <a:off x="548640" y="1371600"/>
            <a:ext cx="3520440" cy="470916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5" name="chip-234"/>
          <p:cNvSpPr/>
          <p:nvPr/>
        </p:nvSpPr>
        <p:spPr>
          <a:xfrm>
            <a:off x="777240" y="1600200"/>
            <a:ext cx="1005840" cy="365760"/>
          </a:xfrm>
          <a:prstGeom prst="roundRect">
            <a:avLst>
              <a:gd name="adj" fmla="val 50000"/>
            </a:avLst>
          </a:prstGeom>
          <a:solidFill>
            <a:schemeClr val="accent1"/>
          </a:solidFill>
          <a:ln/>
        </p:spPr>
      </p:sp>
      <p:sp>
        <p:nvSpPr>
          <p:cNvPr id="6" name="txt-235"/>
          <p:cNvSpPr txBox="1"/>
          <p:nvPr/>
        </p:nvSpPr>
        <p:spPr>
          <a:xfrm>
            <a:off x="777240" y="160020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KUIS 1</a:t>
            </a:r>
            <a:endParaRPr lang="en-US" sz="1200" dirty="0"/>
          </a:p>
        </p:txBody>
      </p:sp>
      <p:sp>
        <p:nvSpPr>
          <p:cNvPr id="7" name="txt-236"/>
          <p:cNvSpPr txBox="1"/>
          <p:nvPr/>
        </p:nvSpPr>
        <p:spPr>
          <a:xfrm>
            <a:off x="777240" y="2103120"/>
            <a:ext cx="3063240" cy="1051560"/>
          </a:xfrm>
          <a:prstGeom prst="rect">
            <a:avLst/>
          </a:prstGeom>
          <a:noFill/>
          <a:ln/>
        </p:spPr>
        <p:txBody>
          <a:bodyPr wrap="square" lIns="0" tIns="0" rIns="0" bIns="0" rtlCol="0" anchor="t"/>
          <a:lstStyle/>
          <a:p>
            <a:pPr indent="0" marL="0">
              <a:buNone/>
            </a:pPr>
            <a:r>
              <a:rPr lang="en-US" sz="1600" b="1" dirty="0">
                <a:solidFill>
                  <a:schemeClr val="tx1"/>
                </a:solidFill>
              </a:rPr>
              <a:t>Apa yang terjadi saat nilai variabel bertipe .obs diubah?</a:t>
            </a:r>
            <a:endParaRPr lang="en-US" sz="1600" dirty="0"/>
          </a:p>
        </p:txBody>
      </p:sp>
      <p:sp>
        <p:nvSpPr>
          <p:cNvPr id="8" name="opt-237"/>
          <p:cNvSpPr/>
          <p:nvPr/>
        </p:nvSpPr>
        <p:spPr>
          <a:xfrm>
            <a:off x="731520" y="3246120"/>
            <a:ext cx="3154680" cy="841248"/>
          </a:xfrm>
          <a:prstGeom prst="roundRect">
            <a:avLst>
              <a:gd name="adj" fmla="val 10870"/>
            </a:avLst>
          </a:prstGeom>
          <a:solidFill>
            <a:schemeClr val="bg1"/>
          </a:solidFill>
          <a:ln w="9525">
            <a:solidFill>
              <a:srgbClr val="E2E8F0"/>
            </a:solidFill>
            <a:prstDash val="solid"/>
          </a:ln>
        </p:spPr>
      </p:sp>
      <p:sp>
        <p:nvSpPr>
          <p:cNvPr id="9" name="opt-badge-238"/>
          <p:cNvSpPr/>
          <p:nvPr/>
        </p:nvSpPr>
        <p:spPr>
          <a:xfrm>
            <a:off x="868680" y="3474720"/>
            <a:ext cx="384048" cy="384048"/>
          </a:xfrm>
          <a:prstGeom prst="ellipse">
            <a:avLst/>
          </a:prstGeom>
          <a:solidFill>
            <a:schemeClr val="accent5"/>
          </a:solidFill>
          <a:ln/>
        </p:spPr>
      </p:sp>
      <p:sp>
        <p:nvSpPr>
          <p:cNvPr id="10" name="txt-239"/>
          <p:cNvSpPr txBox="1"/>
          <p:nvPr/>
        </p:nvSpPr>
        <p:spPr>
          <a:xfrm>
            <a:off x="868680" y="34747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11" name="txt-240"/>
          <p:cNvSpPr txBox="1"/>
          <p:nvPr/>
        </p:nvSpPr>
        <p:spPr>
          <a:xfrm>
            <a:off x="1389888" y="3300984"/>
            <a:ext cx="2423160" cy="731520"/>
          </a:xfrm>
          <a:prstGeom prst="rect">
            <a:avLst/>
          </a:prstGeom>
          <a:noFill/>
          <a:ln/>
        </p:spPr>
        <p:txBody>
          <a:bodyPr wrap="square" lIns="0" tIns="0" rIns="0" bIns="0" rtlCol="0" anchor="ctr"/>
          <a:lstStyle/>
          <a:p>
            <a:pPr indent="0" marL="0">
              <a:buNone/>
            </a:pPr>
            <a:r>
              <a:rPr lang="en-US" sz="1400" dirty="0">
                <a:solidFill>
                  <a:schemeClr val="tx1"/>
                </a:solidFill>
              </a:rPr>
              <a:t>Seluruh layar Scaffold dirender ulang.</a:t>
            </a:r>
            <a:endParaRPr lang="en-US" sz="1400" dirty="0"/>
          </a:p>
        </p:txBody>
      </p:sp>
      <p:sp>
        <p:nvSpPr>
          <p:cNvPr id="12" name="opt-241"/>
          <p:cNvSpPr/>
          <p:nvPr/>
        </p:nvSpPr>
        <p:spPr>
          <a:xfrm>
            <a:off x="731520" y="4187952"/>
            <a:ext cx="3154680" cy="841248"/>
          </a:xfrm>
          <a:prstGeom prst="roundRect">
            <a:avLst>
              <a:gd name="adj" fmla="val 10870"/>
            </a:avLst>
          </a:prstGeom>
          <a:solidFill>
            <a:schemeClr val="accent3">
              <a:alpha val="12000"/>
            </a:schemeClr>
          </a:solidFill>
          <a:ln w="19050">
            <a:solidFill>
              <a:schemeClr val="accent3"/>
            </a:solidFill>
            <a:prstDash val="solid"/>
          </a:ln>
        </p:spPr>
      </p:sp>
      <p:sp>
        <p:nvSpPr>
          <p:cNvPr id="13" name="opt-badge-242"/>
          <p:cNvSpPr/>
          <p:nvPr/>
        </p:nvSpPr>
        <p:spPr>
          <a:xfrm>
            <a:off x="868680" y="4416552"/>
            <a:ext cx="384048" cy="384048"/>
          </a:xfrm>
          <a:prstGeom prst="ellipse">
            <a:avLst/>
          </a:prstGeom>
          <a:solidFill>
            <a:schemeClr val="accent3"/>
          </a:solidFill>
          <a:ln/>
        </p:spPr>
      </p:sp>
      <p:sp>
        <p:nvSpPr>
          <p:cNvPr id="14" name="txt-243"/>
          <p:cNvSpPr txBox="1"/>
          <p:nvPr/>
        </p:nvSpPr>
        <p:spPr>
          <a:xfrm>
            <a:off x="868680" y="4416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5" name="txt-244"/>
          <p:cNvSpPr txBox="1"/>
          <p:nvPr/>
        </p:nvSpPr>
        <p:spPr>
          <a:xfrm>
            <a:off x="1389888" y="4242816"/>
            <a:ext cx="2423160" cy="731520"/>
          </a:xfrm>
          <a:prstGeom prst="rect">
            <a:avLst/>
          </a:prstGeom>
          <a:noFill/>
          <a:ln/>
        </p:spPr>
        <p:txBody>
          <a:bodyPr wrap="square" lIns="0" tIns="0" rIns="0" bIns="0" rtlCol="0" anchor="ctr"/>
          <a:lstStyle/>
          <a:p>
            <a:pPr indent="0" marL="0">
              <a:buNone/>
            </a:pPr>
            <a:r>
              <a:rPr lang="en-US" sz="1400" b="1" dirty="0">
                <a:solidFill>
                  <a:schemeClr val="tx1"/>
                </a:solidFill>
              </a:rPr>
              <a:t>Hanya widget spesifik di dalam Obx yang diperbarui nilainya.</a:t>
            </a:r>
            <a:endParaRPr lang="en-US" sz="1400" dirty="0"/>
          </a:p>
        </p:txBody>
      </p:sp>
      <p:sp>
        <p:nvSpPr>
          <p:cNvPr id="16" name="opt-245"/>
          <p:cNvSpPr/>
          <p:nvPr/>
        </p:nvSpPr>
        <p:spPr>
          <a:xfrm>
            <a:off x="731520" y="5129784"/>
            <a:ext cx="3154680" cy="841248"/>
          </a:xfrm>
          <a:prstGeom prst="roundRect">
            <a:avLst>
              <a:gd name="adj" fmla="val 10870"/>
            </a:avLst>
          </a:prstGeom>
          <a:solidFill>
            <a:schemeClr val="bg1"/>
          </a:solidFill>
          <a:ln w="9525">
            <a:solidFill>
              <a:srgbClr val="E2E8F0"/>
            </a:solidFill>
            <a:prstDash val="solid"/>
          </a:ln>
        </p:spPr>
      </p:sp>
      <p:sp>
        <p:nvSpPr>
          <p:cNvPr id="17" name="opt-badge-246"/>
          <p:cNvSpPr/>
          <p:nvPr/>
        </p:nvSpPr>
        <p:spPr>
          <a:xfrm>
            <a:off x="868680" y="5358384"/>
            <a:ext cx="384048" cy="384048"/>
          </a:xfrm>
          <a:prstGeom prst="ellipse">
            <a:avLst/>
          </a:prstGeom>
          <a:solidFill>
            <a:schemeClr val="accent5"/>
          </a:solidFill>
          <a:ln/>
        </p:spPr>
      </p:sp>
      <p:sp>
        <p:nvSpPr>
          <p:cNvPr id="18" name="txt-247"/>
          <p:cNvSpPr txBox="1"/>
          <p:nvPr/>
        </p:nvSpPr>
        <p:spPr>
          <a:xfrm>
            <a:off x="868680" y="535838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9" name="txt-248"/>
          <p:cNvSpPr txBox="1"/>
          <p:nvPr/>
        </p:nvSpPr>
        <p:spPr>
          <a:xfrm>
            <a:off x="1389888" y="5184648"/>
            <a:ext cx="2423160" cy="731520"/>
          </a:xfrm>
          <a:prstGeom prst="rect">
            <a:avLst/>
          </a:prstGeom>
          <a:noFill/>
          <a:ln/>
        </p:spPr>
        <p:txBody>
          <a:bodyPr wrap="square" lIns="0" tIns="0" rIns="0" bIns="0" rtlCol="0" anchor="ctr"/>
          <a:lstStyle/>
          <a:p>
            <a:pPr indent="0" marL="0">
              <a:buNone/>
            </a:pPr>
            <a:r>
              <a:rPr lang="en-US" sz="1400" dirty="0">
                <a:solidFill>
                  <a:schemeClr val="tx1"/>
                </a:solidFill>
              </a:rPr>
              <a:t>Aplikasi otomatis restart.</a:t>
            </a:r>
            <a:endParaRPr lang="en-US" sz="1400" dirty="0"/>
          </a:p>
        </p:txBody>
      </p:sp>
      <p:sp>
        <p:nvSpPr>
          <p:cNvPr id="20" name="card-249"/>
          <p:cNvSpPr/>
          <p:nvPr/>
        </p:nvSpPr>
        <p:spPr>
          <a:xfrm>
            <a:off x="4320540" y="1371600"/>
            <a:ext cx="3520440" cy="470916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21" name="chip-250"/>
          <p:cNvSpPr/>
          <p:nvPr/>
        </p:nvSpPr>
        <p:spPr>
          <a:xfrm>
            <a:off x="4549140" y="1600200"/>
            <a:ext cx="1005840" cy="365760"/>
          </a:xfrm>
          <a:prstGeom prst="roundRect">
            <a:avLst>
              <a:gd name="adj" fmla="val 50000"/>
            </a:avLst>
          </a:prstGeom>
          <a:solidFill>
            <a:schemeClr val="accent1"/>
          </a:solidFill>
          <a:ln/>
        </p:spPr>
      </p:sp>
      <p:sp>
        <p:nvSpPr>
          <p:cNvPr id="22" name="txt-251"/>
          <p:cNvSpPr txBox="1"/>
          <p:nvPr/>
        </p:nvSpPr>
        <p:spPr>
          <a:xfrm>
            <a:off x="4549140" y="160020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KUIS 2</a:t>
            </a:r>
            <a:endParaRPr lang="en-US" sz="1200" dirty="0"/>
          </a:p>
        </p:txBody>
      </p:sp>
      <p:sp>
        <p:nvSpPr>
          <p:cNvPr id="23" name="txt-252"/>
          <p:cNvSpPr txBox="1"/>
          <p:nvPr/>
        </p:nvSpPr>
        <p:spPr>
          <a:xfrm>
            <a:off x="4549140" y="2103120"/>
            <a:ext cx="3063240" cy="1051560"/>
          </a:xfrm>
          <a:prstGeom prst="rect">
            <a:avLst/>
          </a:prstGeom>
          <a:noFill/>
          <a:ln/>
        </p:spPr>
        <p:txBody>
          <a:bodyPr wrap="square" lIns="0" tIns="0" rIns="0" bIns="0" rtlCol="0" anchor="t"/>
          <a:lstStyle/>
          <a:p>
            <a:pPr indent="0" marL="0">
              <a:buNone/>
            </a:pPr>
            <a:r>
              <a:rPr lang="en-US" sz="1600" b="1" dirty="0">
                <a:solidFill>
                  <a:schemeClr val="tx1"/>
                </a:solidFill>
              </a:rPr>
              <a:t>Perintah apa yang digunakan untuk berpindah ke halaman keranjang belanja tanpa BuildContext?</a:t>
            </a:r>
            <a:endParaRPr lang="en-US" sz="1600" dirty="0"/>
          </a:p>
        </p:txBody>
      </p:sp>
      <p:sp>
        <p:nvSpPr>
          <p:cNvPr id="24" name="opt-253"/>
          <p:cNvSpPr/>
          <p:nvPr/>
        </p:nvSpPr>
        <p:spPr>
          <a:xfrm>
            <a:off x="4503420" y="3246120"/>
            <a:ext cx="3154680" cy="841248"/>
          </a:xfrm>
          <a:prstGeom prst="roundRect">
            <a:avLst>
              <a:gd name="adj" fmla="val 10870"/>
            </a:avLst>
          </a:prstGeom>
          <a:solidFill>
            <a:schemeClr val="bg1"/>
          </a:solidFill>
          <a:ln w="9525">
            <a:solidFill>
              <a:srgbClr val="E2E8F0"/>
            </a:solidFill>
            <a:prstDash val="solid"/>
          </a:ln>
        </p:spPr>
      </p:sp>
      <p:sp>
        <p:nvSpPr>
          <p:cNvPr id="25" name="opt-badge-254"/>
          <p:cNvSpPr/>
          <p:nvPr/>
        </p:nvSpPr>
        <p:spPr>
          <a:xfrm>
            <a:off x="4640580" y="3474720"/>
            <a:ext cx="384048" cy="384048"/>
          </a:xfrm>
          <a:prstGeom prst="ellipse">
            <a:avLst/>
          </a:prstGeom>
          <a:solidFill>
            <a:schemeClr val="accent5"/>
          </a:solidFill>
          <a:ln/>
        </p:spPr>
      </p:sp>
      <p:sp>
        <p:nvSpPr>
          <p:cNvPr id="26" name="txt-255"/>
          <p:cNvSpPr txBox="1"/>
          <p:nvPr/>
        </p:nvSpPr>
        <p:spPr>
          <a:xfrm>
            <a:off x="4640580" y="34747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27" name="txt-256"/>
          <p:cNvSpPr txBox="1"/>
          <p:nvPr/>
        </p:nvSpPr>
        <p:spPr>
          <a:xfrm>
            <a:off x="5161788" y="3300984"/>
            <a:ext cx="2423160" cy="73152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Navigator.jump('/cart');</a:t>
            </a:r>
            <a:endParaRPr lang="en-US" sz="1200" dirty="0"/>
          </a:p>
        </p:txBody>
      </p:sp>
      <p:sp>
        <p:nvSpPr>
          <p:cNvPr id="28" name="opt-257"/>
          <p:cNvSpPr/>
          <p:nvPr/>
        </p:nvSpPr>
        <p:spPr>
          <a:xfrm>
            <a:off x="4503420" y="4187952"/>
            <a:ext cx="3154680" cy="841248"/>
          </a:xfrm>
          <a:prstGeom prst="roundRect">
            <a:avLst>
              <a:gd name="adj" fmla="val 10870"/>
            </a:avLst>
          </a:prstGeom>
          <a:solidFill>
            <a:schemeClr val="accent3">
              <a:alpha val="12000"/>
            </a:schemeClr>
          </a:solidFill>
          <a:ln w="19050">
            <a:solidFill>
              <a:schemeClr val="accent3"/>
            </a:solidFill>
            <a:prstDash val="solid"/>
          </a:ln>
        </p:spPr>
      </p:sp>
      <p:sp>
        <p:nvSpPr>
          <p:cNvPr id="29" name="opt-badge-258"/>
          <p:cNvSpPr/>
          <p:nvPr/>
        </p:nvSpPr>
        <p:spPr>
          <a:xfrm>
            <a:off x="4640580" y="4416552"/>
            <a:ext cx="384048" cy="384048"/>
          </a:xfrm>
          <a:prstGeom prst="ellipse">
            <a:avLst/>
          </a:prstGeom>
          <a:solidFill>
            <a:schemeClr val="accent3"/>
          </a:solidFill>
          <a:ln/>
        </p:spPr>
      </p:sp>
      <p:sp>
        <p:nvSpPr>
          <p:cNvPr id="30" name="txt-259"/>
          <p:cNvSpPr txBox="1"/>
          <p:nvPr/>
        </p:nvSpPr>
        <p:spPr>
          <a:xfrm>
            <a:off x="4640580" y="4416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31" name="txt-260"/>
          <p:cNvSpPr txBox="1"/>
          <p:nvPr/>
        </p:nvSpPr>
        <p:spPr>
          <a:xfrm>
            <a:off x="5161788" y="4242816"/>
            <a:ext cx="2423160" cy="73152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Get.toNamed('/cart');</a:t>
            </a:r>
            <a:endParaRPr lang="en-US" sz="1200" dirty="0"/>
          </a:p>
        </p:txBody>
      </p:sp>
      <p:sp>
        <p:nvSpPr>
          <p:cNvPr id="32" name="opt-261"/>
          <p:cNvSpPr/>
          <p:nvPr/>
        </p:nvSpPr>
        <p:spPr>
          <a:xfrm>
            <a:off x="4503420" y="5129784"/>
            <a:ext cx="3154680" cy="841248"/>
          </a:xfrm>
          <a:prstGeom prst="roundRect">
            <a:avLst>
              <a:gd name="adj" fmla="val 10870"/>
            </a:avLst>
          </a:prstGeom>
          <a:solidFill>
            <a:schemeClr val="bg1"/>
          </a:solidFill>
          <a:ln w="9525">
            <a:solidFill>
              <a:srgbClr val="E2E8F0"/>
            </a:solidFill>
            <a:prstDash val="solid"/>
          </a:ln>
        </p:spPr>
      </p:sp>
      <p:sp>
        <p:nvSpPr>
          <p:cNvPr id="33" name="opt-badge-262"/>
          <p:cNvSpPr/>
          <p:nvPr/>
        </p:nvSpPr>
        <p:spPr>
          <a:xfrm>
            <a:off x="4640580" y="5358384"/>
            <a:ext cx="384048" cy="384048"/>
          </a:xfrm>
          <a:prstGeom prst="ellipse">
            <a:avLst/>
          </a:prstGeom>
          <a:solidFill>
            <a:schemeClr val="accent5"/>
          </a:solidFill>
          <a:ln/>
        </p:spPr>
      </p:sp>
      <p:sp>
        <p:nvSpPr>
          <p:cNvPr id="34" name="txt-263"/>
          <p:cNvSpPr txBox="1"/>
          <p:nvPr/>
        </p:nvSpPr>
        <p:spPr>
          <a:xfrm>
            <a:off x="4640580" y="535838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35" name="txt-264"/>
          <p:cNvSpPr txBox="1"/>
          <p:nvPr/>
        </p:nvSpPr>
        <p:spPr>
          <a:xfrm>
            <a:off x="5161788" y="5184648"/>
            <a:ext cx="2423160" cy="73152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Screen.open('/cart');</a:t>
            </a:r>
            <a:endParaRPr lang="en-US" sz="1200" dirty="0"/>
          </a:p>
        </p:txBody>
      </p:sp>
      <p:sp>
        <p:nvSpPr>
          <p:cNvPr id="36" name="card-265"/>
          <p:cNvSpPr/>
          <p:nvPr/>
        </p:nvSpPr>
        <p:spPr>
          <a:xfrm>
            <a:off x="8092440" y="1371600"/>
            <a:ext cx="3520440" cy="4709160"/>
          </a:xfrm>
          <a:prstGeom prst="roundRect">
            <a:avLst>
              <a:gd name="adj" fmla="val 311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37" name="chip-266"/>
          <p:cNvSpPr/>
          <p:nvPr/>
        </p:nvSpPr>
        <p:spPr>
          <a:xfrm>
            <a:off x="8321040" y="1600200"/>
            <a:ext cx="1005840" cy="365760"/>
          </a:xfrm>
          <a:prstGeom prst="roundRect">
            <a:avLst>
              <a:gd name="adj" fmla="val 50000"/>
            </a:avLst>
          </a:prstGeom>
          <a:solidFill>
            <a:schemeClr val="accent1"/>
          </a:solidFill>
          <a:ln/>
        </p:spPr>
      </p:sp>
      <p:sp>
        <p:nvSpPr>
          <p:cNvPr id="38" name="txt-267"/>
          <p:cNvSpPr txBox="1"/>
          <p:nvPr/>
        </p:nvSpPr>
        <p:spPr>
          <a:xfrm>
            <a:off x="8321040" y="160020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KUIS 3</a:t>
            </a:r>
            <a:endParaRPr lang="en-US" sz="1200" dirty="0"/>
          </a:p>
        </p:txBody>
      </p:sp>
      <p:sp>
        <p:nvSpPr>
          <p:cNvPr id="39" name="txt-268"/>
          <p:cNvSpPr txBox="1"/>
          <p:nvPr/>
        </p:nvSpPr>
        <p:spPr>
          <a:xfrm>
            <a:off x="8321040" y="2103120"/>
            <a:ext cx="3063240" cy="1051560"/>
          </a:xfrm>
          <a:prstGeom prst="rect">
            <a:avLst/>
          </a:prstGeom>
          <a:noFill/>
          <a:ln/>
        </p:spPr>
        <p:txBody>
          <a:bodyPr wrap="square" lIns="0" tIns="0" rIns="0" bIns="0" rtlCol="0" anchor="t"/>
          <a:lstStyle/>
          <a:p>
            <a:pPr indent="0" marL="0">
              <a:buNone/>
            </a:pPr>
            <a:r>
              <a:rPr lang="en-US" sz="1600" b="1" dirty="0">
                <a:solidFill>
                  <a:schemeClr val="tx1"/>
                </a:solidFill>
              </a:rPr>
              <a:t>Apa peran utama dari file Binding pada GetX?</a:t>
            </a:r>
            <a:endParaRPr lang="en-US" sz="1600" dirty="0"/>
          </a:p>
        </p:txBody>
      </p:sp>
      <p:sp>
        <p:nvSpPr>
          <p:cNvPr id="40" name="opt-269"/>
          <p:cNvSpPr/>
          <p:nvPr/>
        </p:nvSpPr>
        <p:spPr>
          <a:xfrm>
            <a:off x="8275320" y="3246120"/>
            <a:ext cx="3154680" cy="841248"/>
          </a:xfrm>
          <a:prstGeom prst="roundRect">
            <a:avLst>
              <a:gd name="adj" fmla="val 10870"/>
            </a:avLst>
          </a:prstGeom>
          <a:solidFill>
            <a:schemeClr val="bg1"/>
          </a:solidFill>
          <a:ln w="9525">
            <a:solidFill>
              <a:srgbClr val="E2E8F0"/>
            </a:solidFill>
            <a:prstDash val="solid"/>
          </a:ln>
        </p:spPr>
      </p:sp>
      <p:sp>
        <p:nvSpPr>
          <p:cNvPr id="41" name="opt-badge-270"/>
          <p:cNvSpPr/>
          <p:nvPr/>
        </p:nvSpPr>
        <p:spPr>
          <a:xfrm>
            <a:off x="8412480" y="3474720"/>
            <a:ext cx="384048" cy="384048"/>
          </a:xfrm>
          <a:prstGeom prst="ellipse">
            <a:avLst/>
          </a:prstGeom>
          <a:solidFill>
            <a:schemeClr val="accent5"/>
          </a:solidFill>
          <a:ln/>
        </p:spPr>
      </p:sp>
      <p:sp>
        <p:nvSpPr>
          <p:cNvPr id="42" name="txt-271"/>
          <p:cNvSpPr txBox="1"/>
          <p:nvPr/>
        </p:nvSpPr>
        <p:spPr>
          <a:xfrm>
            <a:off x="8412480" y="34747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43" name="txt-272"/>
          <p:cNvSpPr txBox="1"/>
          <p:nvPr/>
        </p:nvSpPr>
        <p:spPr>
          <a:xfrm>
            <a:off x="8933688" y="3300984"/>
            <a:ext cx="2423160" cy="731520"/>
          </a:xfrm>
          <a:prstGeom prst="rect">
            <a:avLst/>
          </a:prstGeom>
          <a:noFill/>
          <a:ln/>
        </p:spPr>
        <p:txBody>
          <a:bodyPr wrap="square" lIns="0" tIns="0" rIns="0" bIns="0" rtlCol="0" anchor="ctr"/>
          <a:lstStyle/>
          <a:p>
            <a:pPr indent="0" marL="0">
              <a:buNone/>
            </a:pPr>
            <a:r>
              <a:rPr lang="en-US" sz="1400" dirty="0">
                <a:solidFill>
                  <a:schemeClr val="tx1"/>
                </a:solidFill>
              </a:rPr>
              <a:t>Memberi warna pada tombol aplikasi.</a:t>
            </a:r>
            <a:endParaRPr lang="en-US" sz="1400" dirty="0"/>
          </a:p>
        </p:txBody>
      </p:sp>
      <p:sp>
        <p:nvSpPr>
          <p:cNvPr id="44" name="opt-273"/>
          <p:cNvSpPr/>
          <p:nvPr/>
        </p:nvSpPr>
        <p:spPr>
          <a:xfrm>
            <a:off x="8275320" y="4187952"/>
            <a:ext cx="3154680" cy="841248"/>
          </a:xfrm>
          <a:prstGeom prst="roundRect">
            <a:avLst>
              <a:gd name="adj" fmla="val 10870"/>
            </a:avLst>
          </a:prstGeom>
          <a:solidFill>
            <a:schemeClr val="accent3">
              <a:alpha val="12000"/>
            </a:schemeClr>
          </a:solidFill>
          <a:ln w="19050">
            <a:solidFill>
              <a:schemeClr val="accent3"/>
            </a:solidFill>
            <a:prstDash val="solid"/>
          </a:ln>
        </p:spPr>
      </p:sp>
      <p:sp>
        <p:nvSpPr>
          <p:cNvPr id="45" name="opt-badge-274"/>
          <p:cNvSpPr/>
          <p:nvPr/>
        </p:nvSpPr>
        <p:spPr>
          <a:xfrm>
            <a:off x="8412480" y="4416552"/>
            <a:ext cx="384048" cy="384048"/>
          </a:xfrm>
          <a:prstGeom prst="ellipse">
            <a:avLst/>
          </a:prstGeom>
          <a:solidFill>
            <a:schemeClr val="accent3"/>
          </a:solidFill>
          <a:ln/>
        </p:spPr>
      </p:sp>
      <p:sp>
        <p:nvSpPr>
          <p:cNvPr id="46" name="txt-275"/>
          <p:cNvSpPr txBox="1"/>
          <p:nvPr/>
        </p:nvSpPr>
        <p:spPr>
          <a:xfrm>
            <a:off x="8412480" y="4416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7" name="txt-276"/>
          <p:cNvSpPr txBox="1"/>
          <p:nvPr/>
        </p:nvSpPr>
        <p:spPr>
          <a:xfrm>
            <a:off x="8933688" y="4242816"/>
            <a:ext cx="2423160" cy="731520"/>
          </a:xfrm>
          <a:prstGeom prst="rect">
            <a:avLst/>
          </a:prstGeom>
          <a:noFill/>
          <a:ln/>
        </p:spPr>
        <p:txBody>
          <a:bodyPr wrap="square" lIns="0" tIns="0" rIns="0" bIns="0" rtlCol="0" anchor="ctr"/>
          <a:lstStyle/>
          <a:p>
            <a:pPr indent="0" marL="0">
              <a:buNone/>
            </a:pPr>
            <a:r>
              <a:rPr lang="en-US" sz="1400" b="1" dirty="0">
                <a:solidFill>
                  <a:schemeClr val="tx1"/>
                </a:solidFill>
              </a:rPr>
              <a:t>Menyuntikkan Controller ke memori via Dependency Injection.</a:t>
            </a:r>
            <a:endParaRPr lang="en-US" sz="1400" dirty="0"/>
          </a:p>
        </p:txBody>
      </p:sp>
      <p:sp>
        <p:nvSpPr>
          <p:cNvPr id="48" name="opt-277"/>
          <p:cNvSpPr/>
          <p:nvPr/>
        </p:nvSpPr>
        <p:spPr>
          <a:xfrm>
            <a:off x="8275320" y="5129784"/>
            <a:ext cx="3154680" cy="841248"/>
          </a:xfrm>
          <a:prstGeom prst="roundRect">
            <a:avLst>
              <a:gd name="adj" fmla="val 10870"/>
            </a:avLst>
          </a:prstGeom>
          <a:solidFill>
            <a:schemeClr val="bg1"/>
          </a:solidFill>
          <a:ln w="9525">
            <a:solidFill>
              <a:srgbClr val="E2E8F0"/>
            </a:solidFill>
            <a:prstDash val="solid"/>
          </a:ln>
        </p:spPr>
      </p:sp>
      <p:sp>
        <p:nvSpPr>
          <p:cNvPr id="49" name="opt-badge-278"/>
          <p:cNvSpPr/>
          <p:nvPr/>
        </p:nvSpPr>
        <p:spPr>
          <a:xfrm>
            <a:off x="8412480" y="5358384"/>
            <a:ext cx="384048" cy="384048"/>
          </a:xfrm>
          <a:prstGeom prst="ellipse">
            <a:avLst/>
          </a:prstGeom>
          <a:solidFill>
            <a:schemeClr val="accent5"/>
          </a:solidFill>
          <a:ln/>
        </p:spPr>
      </p:sp>
      <p:sp>
        <p:nvSpPr>
          <p:cNvPr id="50" name="txt-279"/>
          <p:cNvSpPr txBox="1"/>
          <p:nvPr/>
        </p:nvSpPr>
        <p:spPr>
          <a:xfrm>
            <a:off x="8412480" y="535838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51" name="txt-280"/>
          <p:cNvSpPr txBox="1"/>
          <p:nvPr/>
        </p:nvSpPr>
        <p:spPr>
          <a:xfrm>
            <a:off x="8933688" y="5184648"/>
            <a:ext cx="2423160" cy="731520"/>
          </a:xfrm>
          <a:prstGeom prst="rect">
            <a:avLst/>
          </a:prstGeom>
          <a:noFill/>
          <a:ln/>
        </p:spPr>
        <p:txBody>
          <a:bodyPr wrap="square" lIns="0" tIns="0" rIns="0" bIns="0" rtlCol="0" anchor="ctr"/>
          <a:lstStyle/>
          <a:p>
            <a:pPr indent="0" marL="0">
              <a:buNone/>
            </a:pPr>
            <a:r>
              <a:rPr lang="en-US" sz="1400" dirty="0">
                <a:solidFill>
                  <a:schemeClr val="tx1"/>
                </a:solidFill>
              </a:rPr>
              <a:t>Menyimpan file database gambar.</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t"/>
          <a:lstStyle/>
          <a:p>
            <a:pPr algn="l" indent="0" marL="0">
              <a:buNone/>
            </a:pPr>
            <a:r>
              <a:rPr lang="en-US" sz="2800" b="1" dirty="0">
                <a:solidFill>
                  <a:schemeClr val="tx1"/>
                </a:solidFill>
              </a:rPr>
              <a:t>Rangkuman Sesi 01 &amp; Checklist Persiapan Sesi 02</a:t>
            </a:r>
            <a:endParaRPr lang="en-US" sz="2800" dirty="0"/>
          </a:p>
        </p:txBody>
      </p:sp>
      <p:sp>
        <p:nvSpPr>
          <p:cNvPr id="4" name="txt-281"/>
          <p:cNvSpPr txBox="1"/>
          <p:nvPr/>
        </p:nvSpPr>
        <p:spPr>
          <a:xfrm>
            <a:off x="548640" y="1325880"/>
            <a:ext cx="4572000" cy="365760"/>
          </a:xfrm>
          <a:prstGeom prst="rect">
            <a:avLst/>
          </a:prstGeom>
          <a:noFill/>
          <a:ln/>
        </p:spPr>
        <p:txBody>
          <a:bodyPr wrap="square" lIns="0" tIns="0" rIns="0" bIns="0" rtlCol="0" anchor="t"/>
          <a:lstStyle/>
          <a:p>
            <a:pPr indent="0" marL="0">
              <a:buNone/>
            </a:pPr>
            <a:r>
              <a:rPr lang="en-US" sz="1800" b="1" dirty="0">
                <a:solidFill>
                  <a:schemeClr val="tx1"/>
                </a:solidFill>
              </a:rPr>
              <a:t>Pencapaian Sesi 01 Hari Ini</a:t>
            </a:r>
            <a:endParaRPr lang="en-US" sz="1800" dirty="0"/>
          </a:p>
        </p:txBody>
      </p:sp>
      <p:sp>
        <p:nvSpPr>
          <p:cNvPr id="5" name="card-282"/>
          <p:cNvSpPr/>
          <p:nvPr/>
        </p:nvSpPr>
        <p:spPr>
          <a:xfrm>
            <a:off x="548640" y="1828800"/>
            <a:ext cx="4572000" cy="1051560"/>
          </a:xfrm>
          <a:prstGeom prst="roundRect">
            <a:avLst>
              <a:gd name="adj" fmla="val 10435"/>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6" name="ic-bg-283"/>
          <p:cNvSpPr/>
          <p:nvPr/>
        </p:nvSpPr>
        <p:spPr>
          <a:xfrm>
            <a:off x="731520" y="2103120"/>
            <a:ext cx="502920" cy="502920"/>
          </a:xfrm>
          <a:prstGeom prst="ellipse">
            <a:avLst/>
          </a:prstGeom>
          <a:solidFill>
            <a:srgbClr val="16A34A"/>
          </a:solidFill>
          <a:ln/>
        </p:spPr>
      </p:sp>
      <p:pic>
        <p:nvPicPr>
          <p:cNvPr id="7" name="ic-284" descr="FaCheck">    </p:cNvPr>
          <p:cNvPicPr>
            <a:picLocks noChangeAspect="1"/>
          </p:cNvPicPr>
          <p:nvPr/>
        </p:nvPicPr>
        <p:blipFill>
          <a:blip r:embed="rId1"/>
          <a:stretch>
            <a:fillRect/>
          </a:stretch>
        </p:blipFill>
        <p:spPr>
          <a:xfrm>
            <a:off x="867308" y="2238908"/>
            <a:ext cx="231343" cy="231343"/>
          </a:xfrm>
          <a:prstGeom prst="rect">
            <a:avLst/>
          </a:prstGeom>
        </p:spPr>
      </p:pic>
      <p:sp>
        <p:nvSpPr>
          <p:cNvPr id="8" name="txt-285"/>
          <p:cNvSpPr txBox="1"/>
          <p:nvPr/>
        </p:nvSpPr>
        <p:spPr>
          <a:xfrm>
            <a:off x="1417320" y="1901952"/>
            <a:ext cx="3566160" cy="914400"/>
          </a:xfrm>
          <a:prstGeom prst="rect">
            <a:avLst/>
          </a:prstGeom>
          <a:noFill/>
          <a:ln/>
        </p:spPr>
        <p:txBody>
          <a:bodyPr wrap="square" lIns="0" tIns="0" rIns="0" bIns="0" rtlCol="0" anchor="ctr"/>
          <a:lstStyle/>
          <a:p>
            <a:pPr indent="0" marL="0">
              <a:buNone/>
            </a:pPr>
            <a:r>
              <a:rPr lang="en-US" sz="1500" dirty="0">
                <a:solidFill>
                  <a:schemeClr val="tx1"/>
                </a:solidFill>
              </a:rPr>
              <a:t>Menguasai pemahaman 3 Pilar GetX: State, Route, dan Dependency Management.</a:t>
            </a:r>
            <a:endParaRPr lang="en-US" sz="1500" dirty="0"/>
          </a:p>
        </p:txBody>
      </p:sp>
      <p:sp>
        <p:nvSpPr>
          <p:cNvPr id="9" name="card-286"/>
          <p:cNvSpPr/>
          <p:nvPr/>
        </p:nvSpPr>
        <p:spPr>
          <a:xfrm>
            <a:off x="548640" y="3017520"/>
            <a:ext cx="4572000" cy="1051560"/>
          </a:xfrm>
          <a:prstGeom prst="roundRect">
            <a:avLst>
              <a:gd name="adj" fmla="val 10435"/>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0" name="ic-bg-287"/>
          <p:cNvSpPr/>
          <p:nvPr/>
        </p:nvSpPr>
        <p:spPr>
          <a:xfrm>
            <a:off x="731520" y="3291840"/>
            <a:ext cx="502920" cy="502920"/>
          </a:xfrm>
          <a:prstGeom prst="ellipse">
            <a:avLst/>
          </a:prstGeom>
          <a:solidFill>
            <a:srgbClr val="16A34A"/>
          </a:solidFill>
          <a:ln/>
        </p:spPr>
      </p:sp>
      <p:pic>
        <p:nvPicPr>
          <p:cNvPr id="11" name="ic-288" descr="FaCheck">    </p:cNvPr>
          <p:cNvPicPr>
            <a:picLocks noChangeAspect="1"/>
          </p:cNvPicPr>
          <p:nvPr/>
        </p:nvPicPr>
        <p:blipFill>
          <a:blip r:embed="rId2"/>
          <a:stretch>
            <a:fillRect/>
          </a:stretch>
        </p:blipFill>
        <p:spPr>
          <a:xfrm>
            <a:off x="867308" y="3427628"/>
            <a:ext cx="231343" cy="231343"/>
          </a:xfrm>
          <a:prstGeom prst="rect">
            <a:avLst/>
          </a:prstGeom>
        </p:spPr>
      </p:pic>
      <p:sp>
        <p:nvSpPr>
          <p:cNvPr id="12" name="txt-289"/>
          <p:cNvSpPr txBox="1"/>
          <p:nvPr/>
        </p:nvSpPr>
        <p:spPr>
          <a:xfrm>
            <a:off x="1417320" y="3090672"/>
            <a:ext cx="3566160" cy="914400"/>
          </a:xfrm>
          <a:prstGeom prst="rect">
            <a:avLst/>
          </a:prstGeom>
          <a:noFill/>
          <a:ln/>
        </p:spPr>
        <p:txBody>
          <a:bodyPr wrap="square" lIns="0" tIns="0" rIns="0" bIns="0" rtlCol="0" anchor="ctr"/>
          <a:lstStyle/>
          <a:p>
            <a:pPr indent="0" marL="0">
              <a:buNone/>
            </a:pPr>
            <a:r>
              <a:rPr lang="en-US" sz="1500" dirty="0">
                <a:solidFill>
                  <a:schemeClr val="tx1"/>
                </a:solidFill>
              </a:rPr>
              <a:t>Mengetahui keunggulan reaktivitas .obs/Obx dibanding setState().</a:t>
            </a:r>
            <a:endParaRPr lang="en-US" sz="1500" dirty="0"/>
          </a:p>
        </p:txBody>
      </p:sp>
      <p:sp>
        <p:nvSpPr>
          <p:cNvPr id="13" name="card-290"/>
          <p:cNvSpPr/>
          <p:nvPr/>
        </p:nvSpPr>
        <p:spPr>
          <a:xfrm>
            <a:off x="548640" y="4206240"/>
            <a:ext cx="4572000" cy="1051560"/>
          </a:xfrm>
          <a:prstGeom prst="roundRect">
            <a:avLst>
              <a:gd name="adj" fmla="val 10435"/>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sp>
        <p:nvSpPr>
          <p:cNvPr id="14" name="ic-bg-291"/>
          <p:cNvSpPr/>
          <p:nvPr/>
        </p:nvSpPr>
        <p:spPr>
          <a:xfrm>
            <a:off x="731520" y="4480560"/>
            <a:ext cx="502920" cy="502920"/>
          </a:xfrm>
          <a:prstGeom prst="ellipse">
            <a:avLst/>
          </a:prstGeom>
          <a:solidFill>
            <a:srgbClr val="16A34A"/>
          </a:solidFill>
          <a:ln/>
        </p:spPr>
      </p:sp>
      <p:pic>
        <p:nvPicPr>
          <p:cNvPr id="15" name="ic-292" descr="FaCheck">    </p:cNvPr>
          <p:cNvPicPr>
            <a:picLocks noChangeAspect="1"/>
          </p:cNvPicPr>
          <p:nvPr/>
        </p:nvPicPr>
        <p:blipFill>
          <a:blip r:embed="rId3"/>
          <a:stretch>
            <a:fillRect/>
          </a:stretch>
        </p:blipFill>
        <p:spPr>
          <a:xfrm>
            <a:off x="867308" y="4616348"/>
            <a:ext cx="231343" cy="231343"/>
          </a:xfrm>
          <a:prstGeom prst="rect">
            <a:avLst/>
          </a:prstGeom>
        </p:spPr>
      </p:pic>
      <p:sp>
        <p:nvSpPr>
          <p:cNvPr id="16" name="txt-293"/>
          <p:cNvSpPr txBox="1"/>
          <p:nvPr/>
        </p:nvSpPr>
        <p:spPr>
          <a:xfrm>
            <a:off x="1417320" y="4279392"/>
            <a:ext cx="3566160" cy="914400"/>
          </a:xfrm>
          <a:prstGeom prst="rect">
            <a:avLst/>
          </a:prstGeom>
          <a:noFill/>
          <a:ln/>
        </p:spPr>
        <p:txBody>
          <a:bodyPr wrap="square" lIns="0" tIns="0" rIns="0" bIns="0" rtlCol="0" anchor="ctr"/>
          <a:lstStyle/>
          <a:p>
            <a:pPr indent="0" marL="0">
              <a:buNone/>
            </a:pPr>
            <a:r>
              <a:rPr lang="en-US" sz="1500" dirty="0">
                <a:solidFill>
                  <a:schemeClr val="tx1"/>
                </a:solidFill>
              </a:rPr>
              <a:t>Memahami struktur modular yang dihasilkan oleh GetX CLI.</a:t>
            </a:r>
            <a:endParaRPr lang="en-US" sz="1500" dirty="0"/>
          </a:p>
        </p:txBody>
      </p:sp>
      <p:sp>
        <p:nvSpPr>
          <p:cNvPr id="17" name="txt-294"/>
          <p:cNvSpPr txBox="1"/>
          <p:nvPr/>
        </p:nvSpPr>
        <p:spPr>
          <a:xfrm>
            <a:off x="5394960" y="1325880"/>
            <a:ext cx="6217920" cy="365760"/>
          </a:xfrm>
          <a:prstGeom prst="rect">
            <a:avLst/>
          </a:prstGeom>
          <a:noFill/>
          <a:ln/>
        </p:spPr>
        <p:txBody>
          <a:bodyPr wrap="square" lIns="0" tIns="0" rIns="0" bIns="0" rtlCol="0" anchor="t"/>
          <a:lstStyle/>
          <a:p>
            <a:pPr indent="0" marL="0">
              <a:buNone/>
            </a:pPr>
            <a:r>
              <a:rPr lang="en-US" sz="1800" b="1" dirty="0">
                <a:solidFill>
                  <a:schemeClr val="tx1"/>
                </a:solidFill>
              </a:rPr>
              <a:t>Checklist Tugas Menjelang Sesi 02</a:t>
            </a:r>
            <a:endParaRPr lang="en-US" sz="1800" dirty="0"/>
          </a:p>
        </p:txBody>
      </p:sp>
      <p:sp>
        <p:nvSpPr>
          <p:cNvPr id="18" name="card-295"/>
          <p:cNvSpPr/>
          <p:nvPr/>
        </p:nvSpPr>
        <p:spPr>
          <a:xfrm>
            <a:off x="5394960" y="1828800"/>
            <a:ext cx="6217920" cy="777240"/>
          </a:xfrm>
          <a:prstGeom prst="roundRect">
            <a:avLst>
              <a:gd name="adj" fmla="val 14118"/>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pic>
        <p:nvPicPr>
          <p:cNvPr id="19" name="ic-296" descr="FaClipboardCheck">    </p:cNvPr>
          <p:cNvPicPr>
            <a:picLocks noChangeAspect="1"/>
          </p:cNvPicPr>
          <p:nvPr/>
        </p:nvPicPr>
        <p:blipFill>
          <a:blip r:embed="rId4"/>
          <a:stretch>
            <a:fillRect/>
          </a:stretch>
        </p:blipFill>
        <p:spPr>
          <a:xfrm>
            <a:off x="5577840" y="2075688"/>
            <a:ext cx="292608" cy="292608"/>
          </a:xfrm>
          <a:prstGeom prst="rect">
            <a:avLst/>
          </a:prstGeom>
        </p:spPr>
      </p:pic>
      <p:sp>
        <p:nvSpPr>
          <p:cNvPr id="20" name="txt-297"/>
          <p:cNvSpPr txBox="1"/>
          <p:nvPr/>
        </p:nvSpPr>
        <p:spPr>
          <a:xfrm>
            <a:off x="6035040" y="1874520"/>
            <a:ext cx="5440680" cy="685800"/>
          </a:xfrm>
          <a:prstGeom prst="rect">
            <a:avLst/>
          </a:prstGeom>
          <a:noFill/>
          <a:ln/>
        </p:spPr>
        <p:txBody>
          <a:bodyPr wrap="square" lIns="0" tIns="0" rIns="0" bIns="0" rtlCol="0" anchor="ctr"/>
          <a:lstStyle/>
          <a:p>
            <a:pPr indent="0" marL="0">
              <a:buNone/>
            </a:pPr>
            <a:r>
              <a:rPr lang="en-US" sz="1400" dirty="0">
                <a:solidFill>
                  <a:schemeClr val="tx1"/>
                </a:solidFill>
              </a:rPr>
              <a:t>Pastikan laptop telah terpasang Flutter SDK &amp; Android Studio / VS Code.</a:t>
            </a:r>
            <a:endParaRPr lang="en-US" sz="1400" dirty="0"/>
          </a:p>
        </p:txBody>
      </p:sp>
      <p:sp>
        <p:nvSpPr>
          <p:cNvPr id="21" name="card-298"/>
          <p:cNvSpPr/>
          <p:nvPr/>
        </p:nvSpPr>
        <p:spPr>
          <a:xfrm>
            <a:off x="5394960" y="2743200"/>
            <a:ext cx="6217920" cy="1600200"/>
          </a:xfrm>
          <a:prstGeom prst="roundRect">
            <a:avLst>
              <a:gd name="adj" fmla="val 6857"/>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pic>
        <p:nvPicPr>
          <p:cNvPr id="22" name="ic-299" descr="FaClipboardCheck">    </p:cNvPr>
          <p:cNvPicPr>
            <a:picLocks noChangeAspect="1"/>
          </p:cNvPicPr>
          <p:nvPr/>
        </p:nvPicPr>
        <p:blipFill>
          <a:blip r:embed="rId5"/>
          <a:stretch>
            <a:fillRect/>
          </a:stretch>
        </p:blipFill>
        <p:spPr>
          <a:xfrm>
            <a:off x="5577840" y="2926080"/>
            <a:ext cx="292608" cy="292608"/>
          </a:xfrm>
          <a:prstGeom prst="rect">
            <a:avLst/>
          </a:prstGeom>
        </p:spPr>
      </p:pic>
      <p:sp>
        <p:nvSpPr>
          <p:cNvPr id="23" name="txt-300"/>
          <p:cNvSpPr txBox="1"/>
          <p:nvPr/>
        </p:nvSpPr>
        <p:spPr>
          <a:xfrm>
            <a:off x="6035040" y="2880360"/>
            <a:ext cx="5394960" cy="365760"/>
          </a:xfrm>
          <a:prstGeom prst="rect">
            <a:avLst/>
          </a:prstGeom>
          <a:noFill/>
          <a:ln/>
        </p:spPr>
        <p:txBody>
          <a:bodyPr wrap="square" lIns="0" tIns="0" rIns="0" bIns="0" rtlCol="0" anchor="ctr"/>
          <a:lstStyle/>
          <a:p>
            <a:pPr indent="0" marL="0">
              <a:buNone/>
            </a:pPr>
            <a:r>
              <a:rPr lang="en-US" sz="1400" dirty="0">
                <a:solidFill>
                  <a:schemeClr val="tx1"/>
                </a:solidFill>
              </a:rPr>
              <a:t>Jalankan perintah Git:</a:t>
            </a:r>
            <a:endParaRPr lang="en-US" sz="1400" dirty="0"/>
          </a:p>
        </p:txBody>
      </p:sp>
      <p:sp>
        <p:nvSpPr>
          <p:cNvPr id="24" name="card-301"/>
          <p:cNvSpPr/>
          <p:nvPr/>
        </p:nvSpPr>
        <p:spPr>
          <a:xfrm>
            <a:off x="5577840" y="3337560"/>
            <a:ext cx="5852160" cy="868680"/>
          </a:xfrm>
          <a:prstGeom prst="roundRect">
            <a:avLst>
              <a:gd name="adj" fmla="val 12632"/>
            </a:avLst>
          </a:prstGeom>
          <a:solidFill>
            <a:schemeClr val="bg1"/>
          </a:solidFill>
          <a:ln w="9525">
            <a:solidFill>
              <a:srgbClr val="E2E8F0"/>
            </a:solidFill>
            <a:prstDash val="solid"/>
          </a:ln>
        </p:spPr>
      </p:sp>
      <p:sp>
        <p:nvSpPr>
          <p:cNvPr id="25" name="code-302"/>
          <p:cNvSpPr txBox="1"/>
          <p:nvPr/>
        </p:nvSpPr>
        <p:spPr>
          <a:xfrm>
            <a:off x="5577840" y="3337560"/>
            <a:ext cx="5852160" cy="868680"/>
          </a:xfrm>
          <a:prstGeom prst="rect">
            <a:avLst/>
          </a:prstGeom>
          <a:noFill/>
          <a:ln/>
        </p:spPr>
        <p:txBody>
          <a:bodyPr wrap="square" lIns="127000" tIns="127000" rIns="127000" bIns="1270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git clone https://github.com/rafiyandi/KicksStore-Starter-Kit.git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git checkout starter-kit</a:t>
            </a:r>
            <a:endParaRPr lang="en-US" sz="1100" dirty="0"/>
          </a:p>
        </p:txBody>
      </p:sp>
      <p:sp>
        <p:nvSpPr>
          <p:cNvPr id="26" name="card-303"/>
          <p:cNvSpPr/>
          <p:nvPr/>
        </p:nvSpPr>
        <p:spPr>
          <a:xfrm>
            <a:off x="5394960" y="4480560"/>
            <a:ext cx="6217920" cy="868680"/>
          </a:xfrm>
          <a:prstGeom prst="roundRect">
            <a:avLst>
              <a:gd name="adj" fmla="val 12632"/>
            </a:avLst>
          </a:prstGeom>
          <a:solidFill>
            <a:schemeClr val="bg2"/>
          </a:solidFill>
          <a:ln w="9525">
            <a:solidFill>
              <a:srgbClr val="E2E8F0"/>
            </a:solidFill>
            <a:prstDash val="solid"/>
          </a:ln>
          <a:effectLst>
            <a:outerShdw sx="100000" sy="100000" kx="0" ky="0" algn="bl" rotWithShape="0" blurRad="101600" dist="25400" dir="5400000">
              <a:srgbClr val="0F172A">
                <a:alpha val="10000"/>
              </a:srgbClr>
            </a:outerShdw>
          </a:effectLst>
        </p:spPr>
      </p:sp>
      <p:pic>
        <p:nvPicPr>
          <p:cNvPr id="27" name="ic-304" descr="FaClipboardCheck">    </p:cNvPr>
          <p:cNvPicPr>
            <a:picLocks noChangeAspect="1"/>
          </p:cNvPicPr>
          <p:nvPr/>
        </p:nvPicPr>
        <p:blipFill>
          <a:blip r:embed="rId6"/>
          <a:stretch>
            <a:fillRect/>
          </a:stretch>
        </p:blipFill>
        <p:spPr>
          <a:xfrm>
            <a:off x="5577840" y="4754880"/>
            <a:ext cx="292608" cy="292608"/>
          </a:xfrm>
          <a:prstGeom prst="rect">
            <a:avLst/>
          </a:prstGeom>
        </p:spPr>
      </p:pic>
      <p:sp>
        <p:nvSpPr>
          <p:cNvPr id="28" name="txt-305"/>
          <p:cNvSpPr txBox="1"/>
          <p:nvPr/>
        </p:nvSpPr>
        <p:spPr>
          <a:xfrm>
            <a:off x="6035040" y="4526280"/>
            <a:ext cx="5440680" cy="777240"/>
          </a:xfrm>
          <a:prstGeom prst="rect">
            <a:avLst/>
          </a:prstGeom>
          <a:noFill/>
          <a:ln/>
        </p:spPr>
        <p:txBody>
          <a:bodyPr wrap="square" lIns="0" tIns="0" rIns="0" bIns="0" rtlCol="0" anchor="ctr"/>
          <a:lstStyle/>
          <a:p>
            <a:pPr indent="0" marL="0">
              <a:buNone/>
            </a:pPr>
            <a:r>
              <a:rPr lang="en-US" sz="1400" dirty="0">
                <a:solidFill>
                  <a:schemeClr val="tx1"/>
                </a:solidFill>
              </a:rPr>
              <a:t>Jalankan flutter run untuk memastikan 8 layar UI KicksStore berjalan sempurna di emulator.</a:t>
            </a:r>
            <a:endParaRPr lang="en-US" sz="1400" dirty="0"/>
          </a:p>
        </p:txBody>
      </p:sp>
      <p:sp>
        <p:nvSpPr>
          <p:cNvPr id="29" name="closing-306"/>
          <p:cNvSpPr/>
          <p:nvPr/>
        </p:nvSpPr>
        <p:spPr>
          <a:xfrm>
            <a:off x="548640" y="5577840"/>
            <a:ext cx="11064240" cy="640080"/>
          </a:xfrm>
          <a:prstGeom prst="roundRect">
            <a:avLst>
              <a:gd name="adj" fmla="val 17143"/>
            </a:avLst>
          </a:prstGeom>
          <a:solidFill>
            <a:schemeClr val="accent1"/>
          </a:solidFill>
          <a:ln/>
        </p:spPr>
      </p:sp>
      <p:sp>
        <p:nvSpPr>
          <p:cNvPr id="30" name="txt-307"/>
          <p:cNvSpPr txBox="1"/>
          <p:nvPr/>
        </p:nvSpPr>
        <p:spPr>
          <a:xfrm>
            <a:off x="731520" y="5577840"/>
            <a:ext cx="10698480" cy="640080"/>
          </a:xfrm>
          <a:prstGeom prst="rect">
            <a:avLst/>
          </a:prstGeom>
          <a:noFill/>
          <a:ln/>
        </p:spPr>
        <p:txBody>
          <a:bodyPr wrap="square" lIns="0" tIns="0" rIns="0" bIns="0" rtlCol="0" anchor="ctr"/>
          <a:lstStyle/>
          <a:p>
            <a:pPr algn="ctr" indent="0" marL="0">
              <a:buNone/>
            </a:pPr>
            <a:r>
              <a:rPr lang="en-US" sz="1600" b="1" dirty="0">
                <a:solidFill>
                  <a:schemeClr val="bg1"/>
                </a:solidFill>
              </a:rPr>
              <a:t>Sampai jumpa di Sesi 02! Kita akan mulai menyuntikkan reaktivitas state dan menggerakkan aplikasi KicksStore!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KicksStore Light">
  <a:themeElements>
    <a:clrScheme name="KicksStore Light">
      <a:dk1>
        <a:srgbClr val="0F172A"/>
      </a:dk1>
      <a:lt1>
        <a:srgbClr val="FFFFFF"/>
      </a:lt1>
      <a:dk2>
        <a:srgbClr val="334155"/>
      </a:dk2>
      <a:lt2>
        <a:srgbClr val="F8FAFC"/>
      </a:lt2>
      <a:accent1>
        <a:srgbClr val="4F46E5"/>
      </a:accent1>
      <a:accent2>
        <a:srgbClr val="EA580C"/>
      </a:accent2>
      <a:accent3>
        <a:srgbClr val="16A34A"/>
      </a:accent3>
      <a:accent4>
        <a:srgbClr val="DC2626"/>
      </a:accent4>
      <a:accent5>
        <a:srgbClr val="E0E7FF"/>
      </a:accent5>
      <a:accent6>
        <a:srgbClr val="64748B"/>
      </a:accent6>
      <a:hlink>
        <a:srgbClr val="4F46E5"/>
      </a:hlink>
      <a:folHlink>
        <a:srgbClr val="7C3AED"/>
      </a:folHlink>
    </a:clrScheme>
    <a:fontScheme name="KicksStore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 01 - Fondasi GetX Framework &amp; GetX CLI</dc:title>
  <dc:subject>PptxGenJS Presentation</dc:subject>
  <dc:creator>Sanbercode Flutter SMK</dc:creator>
  <cp:lastModifiedBy>Sanbercode Flutter SMK</cp:lastModifiedBy>
  <cp:revision>1</cp:revision>
  <dcterms:created xsi:type="dcterms:W3CDTF">2026-10-20T06:56:00Z</dcterms:created>
  <dcterms:modified xsi:type="dcterms:W3CDTF">2026-10-20T06:56:00Z</dcterms:modified>
</cp:coreProperties>
</file>